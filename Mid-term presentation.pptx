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0.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4" r:id="rId1"/>
    <p:sldMasterId id="2147483877" r:id="rId2"/>
  </p:sldMasterIdLst>
  <p:notesMasterIdLst>
    <p:notesMasterId r:id="rId25"/>
  </p:notesMasterIdLst>
  <p:handoutMasterIdLst>
    <p:handoutMasterId r:id="rId26"/>
  </p:handoutMasterIdLst>
  <p:sldIdLst>
    <p:sldId id="285" r:id="rId3"/>
    <p:sldId id="330" r:id="rId4"/>
    <p:sldId id="313" r:id="rId5"/>
    <p:sldId id="325" r:id="rId6"/>
    <p:sldId id="311" r:id="rId7"/>
    <p:sldId id="331" r:id="rId8"/>
    <p:sldId id="314" r:id="rId9"/>
    <p:sldId id="332" r:id="rId10"/>
    <p:sldId id="328" r:id="rId11"/>
    <p:sldId id="334" r:id="rId12"/>
    <p:sldId id="326" r:id="rId13"/>
    <p:sldId id="329" r:id="rId14"/>
    <p:sldId id="320" r:id="rId15"/>
    <p:sldId id="336" r:id="rId16"/>
    <p:sldId id="337" r:id="rId17"/>
    <p:sldId id="316" r:id="rId18"/>
    <p:sldId id="333" r:id="rId19"/>
    <p:sldId id="338" r:id="rId20"/>
    <p:sldId id="317" r:id="rId21"/>
    <p:sldId id="339" r:id="rId22"/>
    <p:sldId id="304" r:id="rId23"/>
    <p:sldId id="310" r:id="rId24"/>
  </p:sldIdLst>
  <p:sldSz cx="12190413" cy="6858000"/>
  <p:notesSz cx="6797675" cy="9926638"/>
  <p:custDataLst>
    <p:tags r:id="rId27"/>
  </p:custDataLst>
  <p:defaultTextStyle>
    <a:defPPr>
      <a:defRPr lang="de-DE"/>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1">
          <p15:clr>
            <a:srgbClr val="A4A3A4"/>
          </p15:clr>
        </p15:guide>
        <p15:guide id="2" orient="horz" pos="727">
          <p15:clr>
            <a:srgbClr val="A4A3A4"/>
          </p15:clr>
        </p15:guide>
        <p15:guide id="3" orient="horz" pos="3706">
          <p15:clr>
            <a:srgbClr val="A4A3A4"/>
          </p15:clr>
        </p15:guide>
        <p15:guide id="4" pos="233" userDrawn="1">
          <p15:clr>
            <a:srgbClr val="A4A3A4"/>
          </p15:clr>
        </p15:guide>
        <p15:guide id="5" pos="3784">
          <p15:clr>
            <a:srgbClr val="A4A3A4"/>
          </p15:clr>
        </p15:guide>
        <p15:guide id="6" pos="7443">
          <p15:clr>
            <a:srgbClr val="A4A3A4"/>
          </p15:clr>
        </p15:guide>
        <p15:guide id="7" pos="427">
          <p15:clr>
            <a:srgbClr val="A4A3A4"/>
          </p15:clr>
        </p15:guide>
        <p15:guide id="8" pos="7263">
          <p15:clr>
            <a:srgbClr val="A4A3A4"/>
          </p15:clr>
        </p15:guide>
        <p15:guide id="9" pos="3901">
          <p15:clr>
            <a:srgbClr val="A4A3A4"/>
          </p15:clr>
        </p15:guide>
        <p15:guide id="10" pos="384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9F"/>
    <a:srgbClr val="8EBAE5"/>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0743" autoAdjust="0"/>
  </p:normalViewPr>
  <p:slideViewPr>
    <p:cSldViewPr snapToGrid="0">
      <p:cViewPr varScale="1">
        <p:scale>
          <a:sx n="128" d="100"/>
          <a:sy n="128" d="100"/>
        </p:scale>
        <p:origin x="1506" y="126"/>
      </p:cViewPr>
      <p:guideLst>
        <p:guide orient="horz" pos="2161"/>
        <p:guide orient="horz" pos="727"/>
        <p:guide orient="horz" pos="3706"/>
        <p:guide pos="233"/>
        <p:guide pos="3784"/>
        <p:guide pos="7443"/>
        <p:guide pos="427"/>
        <p:guide pos="7263"/>
        <p:guide pos="3901"/>
        <p:guide pos="3841"/>
      </p:guideLst>
    </p:cSldViewPr>
  </p:slideViewPr>
  <p:outlineViewPr>
    <p:cViewPr>
      <p:scale>
        <a:sx n="33" d="100"/>
        <a:sy n="33" d="100"/>
      </p:scale>
      <p:origin x="0" y="-258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2945862" cy="497333"/>
          </a:xfrm>
          <a:prstGeom prst="rect">
            <a:avLst/>
          </a:prstGeom>
        </p:spPr>
        <p:txBody>
          <a:bodyPr vert="horz" lIns="88221" tIns="44111" rIns="88221" bIns="44111" rtlCol="0"/>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3" name="Datumsplatzhalter 2"/>
          <p:cNvSpPr>
            <a:spLocks noGrp="1"/>
          </p:cNvSpPr>
          <p:nvPr>
            <p:ph type="dt" sz="quarter" idx="1"/>
          </p:nvPr>
        </p:nvSpPr>
        <p:spPr>
          <a:xfrm>
            <a:off x="3850294" y="1"/>
            <a:ext cx="2945862" cy="497333"/>
          </a:xfrm>
          <a:prstGeom prst="rect">
            <a:avLst/>
          </a:prstGeom>
        </p:spPr>
        <p:txBody>
          <a:bodyPr vert="horz" lIns="88221" tIns="44111" rIns="88221" bIns="44111" rtlCol="0"/>
          <a:lstStyle>
            <a:lvl1pPr algn="r" eaLnBrk="1" fontAlgn="auto" hangingPunct="1">
              <a:spcBef>
                <a:spcPts val="0"/>
              </a:spcBef>
              <a:spcAft>
                <a:spcPts val="0"/>
              </a:spcAft>
              <a:defRPr sz="1000">
                <a:latin typeface="Arial" pitchFamily="34" charset="0"/>
                <a:cs typeface="Arial" pitchFamily="34" charset="0"/>
              </a:defRPr>
            </a:lvl1pPr>
          </a:lstStyle>
          <a:p>
            <a:pPr>
              <a:defRPr/>
            </a:pPr>
            <a:fld id="{497B89D5-5017-4396-A2CE-F1C12124EE0F}" type="datetimeFigureOut">
              <a:rPr lang="de-DE"/>
              <a:pPr>
                <a:defRPr/>
              </a:pPr>
              <a:t>03.07.2026</a:t>
            </a:fld>
            <a:endParaRPr lang="de-DE" dirty="0"/>
          </a:p>
        </p:txBody>
      </p:sp>
      <p:sp>
        <p:nvSpPr>
          <p:cNvPr id="4" name="Fußzeilenplatzhalter 3"/>
          <p:cNvSpPr>
            <a:spLocks noGrp="1"/>
          </p:cNvSpPr>
          <p:nvPr>
            <p:ph type="ftr" sz="quarter" idx="2"/>
          </p:nvPr>
        </p:nvSpPr>
        <p:spPr>
          <a:xfrm>
            <a:off x="0" y="9429305"/>
            <a:ext cx="2945862" cy="497333"/>
          </a:xfrm>
          <a:prstGeom prst="rect">
            <a:avLst/>
          </a:prstGeom>
        </p:spPr>
        <p:txBody>
          <a:bodyPr vert="horz" lIns="88221" tIns="44111" rIns="88221" bIns="44111" rtlCol="0" anchor="b"/>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5" name="Foliennummernplatzhalter 4"/>
          <p:cNvSpPr>
            <a:spLocks noGrp="1"/>
          </p:cNvSpPr>
          <p:nvPr>
            <p:ph type="sldNum" sz="quarter" idx="3"/>
          </p:nvPr>
        </p:nvSpPr>
        <p:spPr>
          <a:xfrm>
            <a:off x="3850294" y="9429305"/>
            <a:ext cx="2945862" cy="497333"/>
          </a:xfrm>
          <a:prstGeom prst="rect">
            <a:avLst/>
          </a:prstGeom>
        </p:spPr>
        <p:txBody>
          <a:bodyPr vert="horz" wrap="square" lIns="88221" tIns="44111" rIns="88221" bIns="44111" numCol="1" anchor="b" anchorCtr="0" compatLnSpc="1">
            <a:prstTxWarp prst="textNoShape">
              <a:avLst/>
            </a:prstTxWarp>
          </a:bodyPr>
          <a:lstStyle>
            <a:lvl1pPr algn="r" eaLnBrk="1" hangingPunct="1">
              <a:defRPr sz="1000" smtClean="0">
                <a:latin typeface="Arial" pitchFamily="34" charset="0"/>
                <a:cs typeface="Arial" pitchFamily="34" charset="0"/>
              </a:defRPr>
            </a:lvl1pPr>
          </a:lstStyle>
          <a:p>
            <a:pPr>
              <a:defRPr/>
            </a:pPr>
            <a:fld id="{248FB1AA-A6AA-4E9E-8BA1-59AC7FC9D727}" type="slidenum">
              <a:rPr lang="de-DE" altLang="de-DE"/>
              <a:pPr>
                <a:defRPr/>
              </a:pPr>
              <a:t>‹#›</a:t>
            </a:fld>
            <a:endParaRPr lang="de-DE" altLang="de-DE"/>
          </a:p>
        </p:txBody>
      </p:sp>
    </p:spTree>
    <p:extLst>
      <p:ext uri="{BB962C8B-B14F-4D97-AF65-F5344CB8AC3E}">
        <p14:creationId xmlns:p14="http://schemas.microsoft.com/office/powerpoint/2010/main" val="61966642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2945862" cy="497333"/>
          </a:xfrm>
          <a:prstGeom prst="rect">
            <a:avLst/>
          </a:prstGeom>
        </p:spPr>
        <p:txBody>
          <a:bodyPr vert="horz" lIns="88221" tIns="44111" rIns="88221" bIns="44111" rtlCol="0"/>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3" name="Datumsplatzhalter 2"/>
          <p:cNvSpPr>
            <a:spLocks noGrp="1"/>
          </p:cNvSpPr>
          <p:nvPr>
            <p:ph type="dt" idx="1"/>
          </p:nvPr>
        </p:nvSpPr>
        <p:spPr>
          <a:xfrm>
            <a:off x="3850294" y="1"/>
            <a:ext cx="2945862" cy="497333"/>
          </a:xfrm>
          <a:prstGeom prst="rect">
            <a:avLst/>
          </a:prstGeom>
        </p:spPr>
        <p:txBody>
          <a:bodyPr vert="horz" lIns="88221" tIns="44111" rIns="88221" bIns="44111" rtlCol="0"/>
          <a:lstStyle>
            <a:lvl1pPr algn="r" eaLnBrk="1" fontAlgn="auto" hangingPunct="1">
              <a:spcBef>
                <a:spcPts val="0"/>
              </a:spcBef>
              <a:spcAft>
                <a:spcPts val="0"/>
              </a:spcAft>
              <a:defRPr sz="1000">
                <a:latin typeface="+mn-lt"/>
              </a:defRPr>
            </a:lvl1pPr>
          </a:lstStyle>
          <a:p>
            <a:pPr>
              <a:defRPr/>
            </a:pPr>
            <a:fld id="{4EEC745E-66A0-4F49-903C-36561B63B5F1}" type="datetimeFigureOut">
              <a:rPr lang="de-DE"/>
              <a:pPr>
                <a:defRPr/>
              </a:pPr>
              <a:t>03.07.2026</a:t>
            </a:fld>
            <a:endParaRPr lang="de-DE" dirty="0"/>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88221" tIns="44111" rIns="88221" bIns="44111" rtlCol="0" anchor="ctr"/>
          <a:lstStyle/>
          <a:p>
            <a:pPr lvl="0"/>
            <a:endParaRPr lang="de-DE" noProof="0"/>
          </a:p>
        </p:txBody>
      </p:sp>
      <p:sp>
        <p:nvSpPr>
          <p:cNvPr id="5" name="Notizenplatzhalter 4"/>
          <p:cNvSpPr>
            <a:spLocks noGrp="1"/>
          </p:cNvSpPr>
          <p:nvPr>
            <p:ph type="body" sz="quarter" idx="3"/>
          </p:nvPr>
        </p:nvSpPr>
        <p:spPr>
          <a:xfrm>
            <a:off x="679464" y="4777782"/>
            <a:ext cx="5438748" cy="3907834"/>
          </a:xfrm>
          <a:prstGeom prst="rect">
            <a:avLst/>
          </a:prstGeom>
        </p:spPr>
        <p:txBody>
          <a:bodyPr vert="horz" lIns="88221" tIns="44111" rIns="88221" bIns="44111" rtlCol="0"/>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6" name="Fußzeilenplatzhalter 5"/>
          <p:cNvSpPr>
            <a:spLocks noGrp="1"/>
          </p:cNvSpPr>
          <p:nvPr>
            <p:ph type="ftr" sz="quarter" idx="4"/>
          </p:nvPr>
        </p:nvSpPr>
        <p:spPr>
          <a:xfrm>
            <a:off x="0" y="9429305"/>
            <a:ext cx="2945862" cy="497333"/>
          </a:xfrm>
          <a:prstGeom prst="rect">
            <a:avLst/>
          </a:prstGeom>
        </p:spPr>
        <p:txBody>
          <a:bodyPr vert="horz" lIns="88221" tIns="44111" rIns="88221" bIns="44111" rtlCol="0" anchor="b"/>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850294" y="9429305"/>
            <a:ext cx="2945862" cy="497333"/>
          </a:xfrm>
          <a:prstGeom prst="rect">
            <a:avLst/>
          </a:prstGeom>
        </p:spPr>
        <p:txBody>
          <a:bodyPr vert="horz" wrap="square" lIns="88221" tIns="44111" rIns="88221" bIns="44111" numCol="1" anchor="b" anchorCtr="0" compatLnSpc="1">
            <a:prstTxWarp prst="textNoShape">
              <a:avLst/>
            </a:prstTxWarp>
          </a:bodyPr>
          <a:lstStyle>
            <a:lvl1pPr algn="r" eaLnBrk="1" hangingPunct="1">
              <a:defRPr sz="1000" smtClean="0">
                <a:latin typeface="Arial" pitchFamily="34" charset="0"/>
                <a:cs typeface="Arial" pitchFamily="34" charset="0"/>
              </a:defRPr>
            </a:lvl1pPr>
          </a:lstStyle>
          <a:p>
            <a:pPr>
              <a:defRPr/>
            </a:pPr>
            <a:fld id="{0DA392A4-A5B0-45A3-B126-38BB4DB33CBB}" type="slidenum">
              <a:rPr lang="de-DE" altLang="de-DE"/>
              <a:pPr>
                <a:defRPr/>
              </a:pPr>
              <a:t>‹#›</a:t>
            </a:fld>
            <a:endParaRPr lang="de-DE" altLang="de-DE"/>
          </a:p>
        </p:txBody>
      </p:sp>
    </p:spTree>
    <p:extLst>
      <p:ext uri="{BB962C8B-B14F-4D97-AF65-F5344CB8AC3E}">
        <p14:creationId xmlns:p14="http://schemas.microsoft.com/office/powerpoint/2010/main" val="116796440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55013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4606F-4097-3A0E-E040-B27958C20E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491970-A7F8-1626-9CF5-B4A8EEBD57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5D4655-CD0B-7630-9BCE-FF2369A5DCE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0744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83B77-D181-D8DA-5266-9D52DFD296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36E6BF-C692-9BB1-4141-55503B0D5A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9047C9-2C1E-ACF9-2768-364719480DF9}"/>
              </a:ext>
            </a:extLst>
          </p:cNvPr>
          <p:cNvSpPr>
            <a:spLocks noGrp="1"/>
          </p:cNvSpPr>
          <p:nvPr>
            <p:ph type="body" idx="1"/>
          </p:nvPr>
        </p:nvSpPr>
        <p:spPr/>
        <p:txBody>
          <a:bodyPr/>
          <a:lstStyle/>
          <a:p>
            <a:r>
              <a:rPr lang="en-US" altLang="zh-CN" dirty="0"/>
              <a:t>My thesis focuses on state-of-charge-resolved degradation analysis of lithium-ion batteries.</a:t>
            </a:r>
          </a:p>
          <a:p>
            <a:endParaRPr lang="en-US" altLang="zh-CN" dirty="0"/>
          </a:p>
          <a:p>
            <a:r>
              <a:rPr lang="en-US" altLang="zh-CN" dirty="0"/>
              <a:t>In battery aging, the degradation is not only reflected by capacity fade, but also by resistance growth. </a:t>
            </a:r>
          </a:p>
          <a:p>
            <a:r>
              <a:rPr lang="en-US" altLang="zh-CN" dirty="0"/>
              <a:t>Therefore, only using capacity or SOH may not be sufficient to describe the internal degradation behavior of the cell.</a:t>
            </a:r>
          </a:p>
          <a:p>
            <a:endParaRPr lang="en-US" altLang="zh-CN" dirty="0"/>
          </a:p>
          <a:p>
            <a:r>
              <a:rPr lang="en-US" altLang="zh-CN" dirty="0"/>
              <a:t>The figure on the right shows a typical pulse-relaxation voltage response. </a:t>
            </a:r>
          </a:p>
          <a:p>
            <a:r>
              <a:rPr lang="en-US" altLang="zh-CN" dirty="0"/>
              <a:t>From this curve, the instantaneous voltage drop can be used to estimate the ohmic resistance R0, while the following relaxation behavior can be further described by R1 and R2 in a second-order RC model.</a:t>
            </a:r>
          </a:p>
          <a:p>
            <a:endParaRPr lang="en-US" altLang="zh-CN" dirty="0"/>
          </a:p>
          <a:p>
            <a:r>
              <a:rPr lang="en-US" altLang="zh-CN" dirty="0"/>
              <a:t>The motivation of this work is to extract these resistance-related parameters at 10%, 50% and 90% SOC levels, and analyze how they evolve with aging.</a:t>
            </a:r>
          </a:p>
          <a:p>
            <a:endParaRPr lang="en-US" altLang="zh-CN" dirty="0"/>
          </a:p>
          <a:p>
            <a:r>
              <a:rPr lang="en-US" altLang="zh-CN" dirty="0"/>
              <a:t>In the next step, these extracted parameters will be used as input features for multi-task learning models, in order to predict battery health and compare degradation patterns across different battery chemistries.</a:t>
            </a:r>
            <a:endParaRPr lang="zh-CN" altLang="en-US" dirty="0"/>
          </a:p>
        </p:txBody>
      </p:sp>
    </p:spTree>
    <p:extLst>
      <p:ext uri="{BB962C8B-B14F-4D97-AF65-F5344CB8AC3E}">
        <p14:creationId xmlns:p14="http://schemas.microsoft.com/office/powerpoint/2010/main" val="4130363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17583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82968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15E8-8481-8165-AD04-AD93A97450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015DD9-F15B-56FB-F239-8A5BBC5F34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61B423-ECE6-7AF6-1BE3-8F1EBE07495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894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57B03-3F95-EE1F-55DF-CAF7069844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FD1B7C-B856-9A14-D323-127FAF39D3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E04F2B-69CD-5F8B-8FF9-BBEF2211FE84}"/>
              </a:ext>
            </a:extLst>
          </p:cNvPr>
          <p:cNvSpPr>
            <a:spLocks noGrp="1"/>
          </p:cNvSpPr>
          <p:nvPr>
            <p:ph type="body" idx="1"/>
          </p:nvPr>
        </p:nvSpPr>
        <p:spPr/>
        <p:txBody>
          <a:bodyPr/>
          <a:lstStyle/>
          <a:p>
            <a:r>
              <a:rPr lang="en-US" altLang="zh-CN" dirty="0"/>
              <a:t>This slide explains the connection between battery aging and 2RC model parameter extraction.</a:t>
            </a:r>
          </a:p>
          <a:p>
            <a:endParaRPr lang="en-US" altLang="zh-CN" dirty="0"/>
          </a:p>
          <a:p>
            <a:r>
              <a:rPr lang="en-US" altLang="zh-CN" dirty="0"/>
              <a:t>Battery aging is caused by several coupled degradation mechanisms, including SEI growth, lithium plating, active material loss. These internal mechanisms are difficult to measure directly, but their effects appear at the cell level as capacity fade, resistance growth, and slower voltage relaxation.</a:t>
            </a:r>
          </a:p>
          <a:p>
            <a:endParaRPr lang="en-US" altLang="zh-CN" dirty="0"/>
          </a:p>
          <a:p>
            <a:r>
              <a:rPr lang="en-US" altLang="zh-CN" dirty="0"/>
              <a:t>To describe these external voltage responses, this thesis uses a time-domain 2RC Thevenin model. R-zero represents the instantaneous ohmic resistance, while the two RC branches describe fast and slow polarization processes.</a:t>
            </a:r>
          </a:p>
          <a:p>
            <a:endParaRPr lang="en-US" altLang="zh-CN" dirty="0"/>
          </a:p>
          <a:p>
            <a:r>
              <a:rPr lang="en-US" altLang="zh-CN" dirty="0"/>
              <a:t>Therefore, by fitting pulse-pause voltage data, R-zero, R-one, and R-two can be extracted as indicators of the battery’s dynamic behavior under different SOC conditions. This provides the basis for the parameter identification work at 10%, 50%, and 90% SOC.</a:t>
            </a:r>
            <a:endParaRPr lang="zh-CN" altLang="en-US" dirty="0"/>
          </a:p>
        </p:txBody>
      </p:sp>
    </p:spTree>
    <p:extLst>
      <p:ext uri="{BB962C8B-B14F-4D97-AF65-F5344CB8AC3E}">
        <p14:creationId xmlns:p14="http://schemas.microsoft.com/office/powerpoint/2010/main" val="3818111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C3CE3-0B41-85E7-10F7-44EB203A02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FB94F0-B571-5B42-2988-98D13843C7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EE2EB2-BCEA-762E-1C92-321CDF31218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85726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6A794-D04E-8127-AC44-A6441FEBBA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F695CA-9B2F-702C-0D97-2F7D340121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E5B2EE-C1ED-240F-5B2C-B6592469D17D}"/>
              </a:ext>
            </a:extLst>
          </p:cNvPr>
          <p:cNvSpPr>
            <a:spLocks noGrp="1"/>
          </p:cNvSpPr>
          <p:nvPr>
            <p:ph type="body" idx="1"/>
          </p:nvPr>
        </p:nvSpPr>
        <p:spPr/>
        <p:txBody>
          <a:bodyPr/>
          <a:lstStyle/>
          <a:p>
            <a:r>
              <a:rPr lang="zh-CN" altLang="zh-CN" dirty="0"/>
              <a:t>In this step, I process the raw time-series data and convert it into valid pulse-pause pairs for resistance extraction.</a:t>
            </a:r>
            <a:endParaRPr lang="en-US" altLang="zh-CN" dirty="0"/>
          </a:p>
          <a:p>
            <a:endParaRPr lang="zh-CN" altLang="zh-CN" dirty="0"/>
          </a:p>
          <a:p>
            <a:r>
              <a:rPr lang="zh-CN" altLang="zh-CN" dirty="0"/>
              <a:t>First, I read the raw parquet files and extract the SOH information from the file name. Then, the data are sorted by time, and the major cycles are identified based on the time difference between neighboring data points.</a:t>
            </a:r>
            <a:endParaRPr lang="en-US" altLang="zh-CN" dirty="0"/>
          </a:p>
          <a:p>
            <a:endParaRPr lang="zh-CN" altLang="zh-CN" dirty="0"/>
          </a:p>
          <a:p>
            <a:r>
              <a:rPr lang="zh-CN" altLang="zh-CN" dirty="0"/>
              <a:t>According to the experimental sequence, these cycles are assigned to three SOC levels: 90%, 50%, and 10%.</a:t>
            </a:r>
            <a:endParaRPr lang="en-US" altLang="zh-CN" dirty="0"/>
          </a:p>
          <a:p>
            <a:endParaRPr lang="zh-CN" altLang="zh-CN" dirty="0"/>
          </a:p>
          <a:p>
            <a:r>
              <a:rPr lang="zh-CN" altLang="zh-CN" dirty="0"/>
              <a:t>After that, I filter the pulse segments. Only stable charging and discharging pulses are kept</a:t>
            </a:r>
            <a:r>
              <a:rPr lang="en-US" altLang="zh-CN" dirty="0"/>
              <a:t>.</a:t>
            </a:r>
          </a:p>
          <a:p>
            <a:endParaRPr lang="zh-CN" altLang="zh-CN" dirty="0"/>
          </a:p>
          <a:p>
            <a:r>
              <a:rPr lang="zh-CN" altLang="zh-CN" dirty="0"/>
              <a:t>Finally, for each valid pulse, I match the last PAUO point before the pulse with the first valid pulse point. This matched PAUO-pulse pair is the basis for the following R0 calculation and second-order RC fitting.</a:t>
            </a:r>
          </a:p>
          <a:p>
            <a:endParaRPr lang="zh-CN" altLang="en-US" dirty="0"/>
          </a:p>
        </p:txBody>
      </p:sp>
    </p:spTree>
    <p:extLst>
      <p:ext uri="{BB962C8B-B14F-4D97-AF65-F5344CB8AC3E}">
        <p14:creationId xmlns:p14="http://schemas.microsoft.com/office/powerpoint/2010/main" val="3183645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E50A6-37E7-072E-C5D9-E30A3E565A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51C550-E2BE-7A49-FBC2-3FA7D9EF4E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767D53-68E8-826B-6479-096BCD058776}"/>
              </a:ext>
            </a:extLst>
          </p:cNvPr>
          <p:cNvSpPr>
            <a:spLocks noGrp="1"/>
          </p:cNvSpPr>
          <p:nvPr>
            <p:ph type="body" idx="1"/>
          </p:nvPr>
        </p:nvSpPr>
        <p:spPr/>
        <p:txBody>
          <a:bodyPr/>
          <a:lstStyle/>
          <a:p>
            <a:r>
              <a:rPr lang="en-US" altLang="zh-CN" dirty="0"/>
              <a:t>After matching each pulse with the previous PAUO point, I calculate the ohmic resistance R0 from the instantaneous voltage and current change at the pulse start.</a:t>
            </a:r>
          </a:p>
          <a:p>
            <a:endParaRPr lang="en-US" altLang="zh-CN" dirty="0"/>
          </a:p>
          <a:p>
            <a:r>
              <a:rPr lang="en-US" altLang="zh-CN" dirty="0"/>
              <a:t>In this figure, the blue curve shows the current and the orange curve shows the voltage. Before the pulse, the current is approximately zero. When the pulse starts, the current jumps to the target level, and the voltage shows an immediate response.</a:t>
            </a:r>
          </a:p>
          <a:p>
            <a:endParaRPr lang="en-US" altLang="zh-CN" dirty="0"/>
          </a:p>
          <a:p>
            <a:r>
              <a:rPr lang="en-US" altLang="zh-CN" dirty="0"/>
              <a:t>I use the last PAUO point before the pulse and the first valid pulse point to calculate R0. The formula is R0 equals the absolute value of delta voltage divided by delta current. The result is multiplied by 1000 and reported in milliohm.</a:t>
            </a:r>
          </a:p>
          <a:p>
            <a:endParaRPr lang="en-US" altLang="zh-CN" dirty="0"/>
          </a:p>
          <a:p>
            <a:r>
              <a:rPr lang="en-US" altLang="zh-CN" dirty="0"/>
              <a:t>This R0 value is then used as the fixed ohmic resistance input for the following second-order RC fitting.</a:t>
            </a:r>
            <a:endParaRPr lang="zh-CN" altLang="en-US" dirty="0"/>
          </a:p>
        </p:txBody>
      </p:sp>
    </p:spTree>
    <p:extLst>
      <p:ext uri="{BB962C8B-B14F-4D97-AF65-F5344CB8AC3E}">
        <p14:creationId xmlns:p14="http://schemas.microsoft.com/office/powerpoint/2010/main" val="404623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slide shows the second-order </a:t>
            </a:r>
            <a:r>
              <a:rPr lang="en-US" altLang="zh-CN" dirty="0" err="1"/>
              <a:t>Thévenin</a:t>
            </a:r>
            <a:r>
              <a:rPr lang="en-US" altLang="zh-CN" dirty="0"/>
              <a:t> equivalent circuit model used for resistance extraction.</a:t>
            </a:r>
          </a:p>
          <a:p>
            <a:endParaRPr lang="en-US" altLang="zh-CN" dirty="0"/>
          </a:p>
          <a:p>
            <a:r>
              <a:rPr lang="en-US" altLang="zh-CN" dirty="0"/>
              <a:t>R0 describes the instantaneous ohmic response and is fixed from the previous R0 calculation. The two RC branches describe the dynamic relaxation behavior after the pulse. R1C1 captures the faster relaxation component, while R2C2 captures the slower relaxation component.</a:t>
            </a:r>
          </a:p>
          <a:p>
            <a:endParaRPr lang="en-US" altLang="zh-CN" dirty="0"/>
          </a:p>
          <a:p>
            <a:r>
              <a:rPr lang="en-US" altLang="zh-CN" dirty="0"/>
              <a:t>The equations on the right are written for the discharge-positive current convention. Therefore, during discharge, the terminal voltage is the open-circuit voltage minus the ohmic drop and the two polarization voltages.</a:t>
            </a:r>
          </a:p>
          <a:p>
            <a:endParaRPr lang="en-US" altLang="zh-CN" dirty="0"/>
          </a:p>
          <a:p>
            <a:r>
              <a:rPr lang="en-US" altLang="zh-CN" dirty="0"/>
              <a:t>In the fitting step, R1, R2, tau1 and tau2 are identified from the pulse-pause voltage curve and later used as SOC-resolved degradation features.</a:t>
            </a:r>
            <a:endParaRPr lang="zh-CN" altLang="en-US" dirty="0"/>
          </a:p>
        </p:txBody>
      </p:sp>
    </p:spTree>
    <p:extLst>
      <p:ext uri="{BB962C8B-B14F-4D97-AF65-F5344CB8AC3E}">
        <p14:creationId xmlns:p14="http://schemas.microsoft.com/office/powerpoint/2010/main" val="2352051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D1090-6CA2-E752-0258-6DB2BC4358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FA32B3-2286-F64D-015C-BF030062B3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49D9E1-76B2-6646-73DB-8A5E78F9724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81231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1F68-088B-9FD2-F45F-7CD1A1612E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E58894-CEC5-9345-D7F3-F5D358D227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8BDCBD-A991-A7E9-66DE-E87C259F8ADD}"/>
              </a:ext>
            </a:extLst>
          </p:cNvPr>
          <p:cNvSpPr>
            <a:spLocks noGrp="1"/>
          </p:cNvSpPr>
          <p:nvPr>
            <p:ph type="body" idx="1"/>
          </p:nvPr>
        </p:nvSpPr>
        <p:spPr/>
        <p:txBody>
          <a:bodyPr/>
          <a:lstStyle/>
          <a:p>
            <a:r>
              <a:rPr lang="en-US" altLang="zh-CN" dirty="0"/>
              <a:t>These three figures show the identified resistance parameters R-zero, R-one, and R-two as a function of SOH under different SOC levels and pulse conditions.</a:t>
            </a:r>
          </a:p>
          <a:p>
            <a:endParaRPr lang="en-US" altLang="zh-CN" dirty="0"/>
          </a:p>
          <a:p>
            <a:r>
              <a:rPr lang="en-US" altLang="zh-CN" dirty="0"/>
              <a:t>The x-axis represents SOH. Since SOH decreases from left to right, the right side of each plot corresponds to a more aged battery condition. The three subplots in each figure correspond to 10%, 50%, and 90% SOC, respectively. Within each SOC group, different curves represent different pulse directions and current magnitudes.</a:t>
            </a:r>
          </a:p>
          <a:p>
            <a:endParaRPr lang="en-US" altLang="zh-CN" dirty="0"/>
          </a:p>
          <a:p>
            <a:endParaRPr lang="en-US" altLang="zh-CN" dirty="0"/>
          </a:p>
          <a:p>
            <a:r>
              <a:rPr lang="en-US" altLang="zh-CN" dirty="0"/>
              <a:t>First, for R-zero, which represents the instantaneous ohmic resistance, a clear increasing trend can be observed as SOH decreases.</a:t>
            </a:r>
          </a:p>
          <a:p>
            <a:endParaRPr lang="en-US" altLang="zh-CN" dirty="0"/>
          </a:p>
          <a:p>
            <a:r>
              <a:rPr lang="en-US" altLang="zh-CN" dirty="0"/>
              <a:t>This trend appears at all three SOC levels, indicating that battery aging leads to an increase in ohmic resistance. At 10% and 50% SOC, the curves are relatively consistent between different pulse conditions, which suggests that R-zero can be identified quite robustly.</a:t>
            </a:r>
          </a:p>
          <a:p>
            <a:endParaRPr lang="en-US" altLang="zh-CN" dirty="0"/>
          </a:p>
          <a:p>
            <a:r>
              <a:rPr lang="en-US" altLang="zh-CN" dirty="0"/>
              <a:t>However, at 90% SOC, the R-zero values are generally higher and show stronger fluctuations, especially in the lower SOH range. This means that the ohmic resistance is not only affected by aging, but also becomes more sensitive to SOC and excitation conditions at high SOC.</a:t>
            </a:r>
            <a:endParaRPr lang="zh-CN" altLang="en-US" dirty="0"/>
          </a:p>
        </p:txBody>
      </p:sp>
    </p:spTree>
    <p:extLst>
      <p:ext uri="{BB962C8B-B14F-4D97-AF65-F5344CB8AC3E}">
        <p14:creationId xmlns:p14="http://schemas.microsoft.com/office/powerpoint/2010/main" val="1371626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1E1D-8A05-B781-F397-B0536CDFEF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1B9F70-47CF-6371-00E7-3456813E27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91C948-E6DE-08E2-F5C8-8D10C07D4D96}"/>
              </a:ext>
            </a:extLst>
          </p:cNvPr>
          <p:cNvSpPr>
            <a:spLocks noGrp="1"/>
          </p:cNvSpPr>
          <p:nvPr>
            <p:ph type="body" idx="1"/>
          </p:nvPr>
        </p:nvSpPr>
        <p:spPr/>
        <p:txBody>
          <a:bodyPr/>
          <a:lstStyle/>
          <a:p>
            <a:r>
              <a:rPr lang="zh-CN" altLang="zh-CN" dirty="0"/>
              <a:t>This figure shows R-one, which represents the fast polarization resistance in the 2RC model.</a:t>
            </a:r>
            <a:endParaRPr lang="en-US" altLang="zh-CN" dirty="0"/>
          </a:p>
          <a:p>
            <a:endParaRPr lang="zh-CN" altLang="zh-CN" dirty="0"/>
          </a:p>
          <a:p>
            <a:r>
              <a:rPr lang="zh-CN" altLang="zh-CN" dirty="0"/>
              <a:t>Compared with R-zero, R-one is more sensitive to SOC and pulse direction. At 10% SOC, the 3.0 A discharge pulses give consistently higher R-one values than the charge pulses. At 50% SOC, the values are generally lower, but the discharge case still shows larger fluctuations.</a:t>
            </a:r>
            <a:endParaRPr lang="en-US" altLang="zh-CN" dirty="0"/>
          </a:p>
          <a:p>
            <a:endParaRPr lang="zh-CN" altLang="zh-CN" dirty="0"/>
          </a:p>
          <a:p>
            <a:r>
              <a:rPr lang="zh-CN" altLang="zh-CN" dirty="0"/>
              <a:t>At 90% SOC, R-one increases clearly as SOH decreases, especially below about 86% SOH. This suggests stronger fast polarization effects in aged cells under high-SOC conditions.</a:t>
            </a:r>
          </a:p>
          <a:p>
            <a:endParaRPr lang="zh-CN" altLang="zh-CN" dirty="0"/>
          </a:p>
          <a:p>
            <a:endParaRPr lang="zh-CN" altLang="en-US" dirty="0"/>
          </a:p>
        </p:txBody>
      </p:sp>
    </p:spTree>
    <p:extLst>
      <p:ext uri="{BB962C8B-B14F-4D97-AF65-F5344CB8AC3E}">
        <p14:creationId xmlns:p14="http://schemas.microsoft.com/office/powerpoint/2010/main" val="1041738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2030-F848-A1EB-4E2D-9A5B1FEDC0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77B682-B1FA-371D-8CD2-62AFB361DF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E645D2-D030-0167-A661-08770E61E3D3}"/>
              </a:ext>
            </a:extLst>
          </p:cNvPr>
          <p:cNvSpPr>
            <a:spLocks noGrp="1"/>
          </p:cNvSpPr>
          <p:nvPr>
            <p:ph type="body" idx="1"/>
          </p:nvPr>
        </p:nvSpPr>
        <p:spPr/>
        <p:txBody>
          <a:bodyPr/>
          <a:lstStyle/>
          <a:p>
            <a:r>
              <a:rPr lang="zh-CN" altLang="zh-CN" dirty="0"/>
              <a:t>This figure shows R-two, which represents the slow polarization resistance in the 2RC model.</a:t>
            </a:r>
            <a:endParaRPr lang="en-US" altLang="zh-CN" dirty="0"/>
          </a:p>
          <a:p>
            <a:endParaRPr lang="zh-CN" altLang="zh-CN" dirty="0"/>
          </a:p>
          <a:p>
            <a:r>
              <a:rPr lang="zh-CN" altLang="zh-CN" dirty="0"/>
              <a:t>R-two shows stronger condition dependence than R-one. At 10% SOC, the 3.0 A discharge case gives exceptionally high values, while the charge cases remain much lower. At 50% SOC, R-two generally increases with aging, but the discharge results are still higher and more variable.</a:t>
            </a:r>
            <a:endParaRPr lang="en-US" altLang="zh-CN" dirty="0"/>
          </a:p>
          <a:p>
            <a:endParaRPr lang="zh-CN" altLang="zh-CN" dirty="0"/>
          </a:p>
          <a:p>
            <a:r>
              <a:rPr lang="zh-CN" altLang="zh-CN" dirty="0"/>
              <a:t>At 90% SOC, the curves show a clearer increasing trend as SOH decreases. Overall, R-two contains useful slow-polarization information, but it is more sensitive to pulse conditions and fitting robustness.</a:t>
            </a:r>
          </a:p>
        </p:txBody>
      </p:sp>
    </p:spTree>
    <p:extLst>
      <p:ext uri="{BB962C8B-B14F-4D97-AF65-F5344CB8AC3E}">
        <p14:creationId xmlns:p14="http://schemas.microsoft.com/office/powerpoint/2010/main" val="628843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9B6CE-5CE8-8B90-9A57-4BD7D1CD59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BDBE7D-B334-75C5-CA39-FDF51F3836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6F1398-88C6-A8F3-EADE-E3AFED48D793}"/>
              </a:ext>
            </a:extLst>
          </p:cNvPr>
          <p:cNvSpPr>
            <a:spLocks noGrp="1"/>
          </p:cNvSpPr>
          <p:nvPr>
            <p:ph type="body" idx="1"/>
          </p:nvPr>
        </p:nvSpPr>
        <p:spPr/>
        <p:txBody>
          <a:bodyPr/>
          <a:lstStyle/>
          <a:p>
            <a:r>
              <a:rPr lang="en-US" altLang="zh-CN" dirty="0"/>
              <a:t>On this slide, I would like summarize the main issues observed in the current fitting results. First, the estimated R₀ may still include part of the polarization response, because it is calculated from the voltage jump over a finite time difference. Therefore, R₀ should be interpreted as an apparent ohmic resistance rather than a purely instantaneous resistance.</a:t>
            </a:r>
          </a:p>
          <a:p>
            <a:endParaRPr lang="en-US" altLang="zh-CN" dirty="0"/>
          </a:p>
          <a:p>
            <a:r>
              <a:rPr lang="en-US" altLang="zh-CN" dirty="0"/>
              <a:t>Second, SOC-dependent bounds were applied to τ₂ in the second-order RC model. The purpose was to stabilize the nonlinear fitting and maintain a clear separation between the fast and slow relaxation branches.</a:t>
            </a:r>
          </a:p>
          <a:p>
            <a:endParaRPr lang="en-US" altLang="zh-CN" dirty="0"/>
          </a:p>
          <a:p>
            <a:r>
              <a:rPr lang="en-US" altLang="zh-CN" dirty="0"/>
              <a:t>However, one important observation is that, during discharge at 10% SOC, τ₂ frequently reaches the 600-second upper bound. This does not necessarily mean that the real time constant is exactly 600 seconds. Instead, it suggests that the slow relaxation process is not fully identifiable within the available PAUO window.</a:t>
            </a:r>
            <a:endParaRPr lang="zh-CN" altLang="en-US" dirty="0"/>
          </a:p>
        </p:txBody>
      </p:sp>
    </p:spTree>
    <p:extLst>
      <p:ext uri="{BB962C8B-B14F-4D97-AF65-F5344CB8AC3E}">
        <p14:creationId xmlns:p14="http://schemas.microsoft.com/office/powerpoint/2010/main" val="1534244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01B9-AF71-75D6-5B37-8EC661A734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62DA3B-65CF-5976-D015-0A2DF94C39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E8A057-936D-C5AE-4073-CE350D02F40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642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1F5BD-7FB3-8F69-958F-3DAD04931B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7976DE-3327-E8AE-1535-C8D6E5F3F2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100CB0-8E38-7DE8-9676-968D067F07C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6518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E4B8E-7D36-529C-C697-66306A3F3C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0F3B3C-A3C0-4849-8531-76EED5C0A0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2BC36E-9FE9-23EE-0364-DE5778326DF8}"/>
              </a:ext>
            </a:extLst>
          </p:cNvPr>
          <p:cNvSpPr>
            <a:spLocks noGrp="1"/>
          </p:cNvSpPr>
          <p:nvPr>
            <p:ph type="body" idx="1"/>
          </p:nvPr>
        </p:nvSpPr>
        <p:spPr/>
        <p:txBody>
          <a:bodyPr/>
          <a:lstStyle/>
          <a:p>
            <a:r>
              <a:rPr lang="en-US" altLang="zh-CN" dirty="0"/>
              <a:t>This slide introduces two conventional multi-task learning formulations.</a:t>
            </a:r>
          </a:p>
          <a:p>
            <a:endParaRPr lang="en-US" altLang="zh-CN" dirty="0"/>
          </a:p>
          <a:p>
            <a:r>
              <a:rPr lang="en-US" altLang="zh-CN" dirty="0"/>
              <a:t>In shared-bottom MTL, all tasks use one common encoder and separate output heads. It is a simple and efficient baseline, but it assumes that the relationships among SOH, R-zero, R-one, and R-two are consistent across all operating conditions.</a:t>
            </a:r>
          </a:p>
          <a:p>
            <a:endParaRPr lang="en-US" altLang="zh-CN" dirty="0"/>
          </a:p>
          <a:p>
            <a:r>
              <a:rPr lang="en-US" altLang="zh-CN" dirty="0"/>
              <a:t>Auxiliary MTL assigns unequal roles to the tasks: SOH is the primary prediction target, while the resistance parameters provide additional degradation-related supervision.</a:t>
            </a:r>
          </a:p>
          <a:p>
            <a:endParaRPr lang="en-US" altLang="zh-CN" dirty="0"/>
          </a:p>
          <a:p>
            <a:r>
              <a:rPr lang="en-US" altLang="zh-CN" dirty="0"/>
              <a:t>However, neither approach can adapt the sharing pattern to different SOC or pulse conditions. This motivates the </a:t>
            </a:r>
            <a:r>
              <a:rPr lang="en-US" altLang="zh-CN" dirty="0" err="1"/>
              <a:t>MMoE</a:t>
            </a:r>
            <a:r>
              <a:rPr lang="en-US" altLang="zh-CN" dirty="0"/>
              <a:t> method introduced next.</a:t>
            </a:r>
            <a:endParaRPr lang="zh-CN" altLang="en-US" dirty="0"/>
          </a:p>
        </p:txBody>
      </p:sp>
    </p:spTree>
    <p:extLst>
      <p:ext uri="{BB962C8B-B14F-4D97-AF65-F5344CB8AC3E}">
        <p14:creationId xmlns:p14="http://schemas.microsoft.com/office/powerpoint/2010/main" val="1724753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3DDFC-E580-D0A5-12B9-815F7ED001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0F36F5-1408-652C-07C1-4307350BBD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2054AD-94CF-7925-B821-0E59AB04EE51}"/>
              </a:ext>
            </a:extLst>
          </p:cNvPr>
          <p:cNvSpPr>
            <a:spLocks noGrp="1"/>
          </p:cNvSpPr>
          <p:nvPr>
            <p:ph type="body" idx="1"/>
          </p:nvPr>
        </p:nvSpPr>
        <p:spPr/>
        <p:txBody>
          <a:bodyPr/>
          <a:lstStyle/>
          <a:p>
            <a:r>
              <a:rPr lang="en-US" altLang="zh-CN" dirty="0"/>
              <a:t>The previous two approaches use either fixed feature sharing or a fixed primary–auxiliary task structure. However, in this study, the relationship between SOH and the resistance parameters may change with SOC and pulse conditions.</a:t>
            </a:r>
          </a:p>
          <a:p>
            <a:endParaRPr lang="en-US" altLang="zh-CN" dirty="0"/>
          </a:p>
          <a:p>
            <a:r>
              <a:rPr lang="en-US" altLang="zh-CN" dirty="0" err="1"/>
              <a:t>MMoE</a:t>
            </a:r>
            <a:r>
              <a:rPr lang="en-US" altLang="zh-CN" dirty="0"/>
              <a:t> addresses this issue through multiple shared experts and task-specific gates. Each expert can learn a different representation from the pulse-pause response, while each task dynamically assigns different weights to these experts.</a:t>
            </a:r>
          </a:p>
          <a:p>
            <a:endParaRPr lang="en-US" altLang="zh-CN" dirty="0"/>
          </a:p>
          <a:p>
            <a:r>
              <a:rPr lang="en-US" altLang="zh-CN" dirty="0"/>
              <a:t>Therefore, the model can adapt the sharing pattern across SOC, current magnitude, and charge or discharge conditions. </a:t>
            </a:r>
          </a:p>
          <a:p>
            <a:endParaRPr lang="en-US" altLang="zh-CN" dirty="0"/>
          </a:p>
          <a:p>
            <a:r>
              <a:rPr lang="en-US" altLang="zh-CN" dirty="0"/>
              <a:t>This is my preliminary concept for the model to be adopted in the next stage.</a:t>
            </a:r>
            <a:endParaRPr lang="zh-CN" altLang="en-US" dirty="0"/>
          </a:p>
        </p:txBody>
      </p:sp>
    </p:spTree>
    <p:extLst>
      <p:ext uri="{BB962C8B-B14F-4D97-AF65-F5344CB8AC3E}">
        <p14:creationId xmlns:p14="http://schemas.microsoft.com/office/powerpoint/2010/main" val="1953767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11C2-092C-DD1D-4209-3145325A08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6CEFC6-8AEA-569D-086F-136015FEA3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C3C5F6-7730-BED6-36F3-3BC76ABCC65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3313954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emf"/><Relationship Id="rId9"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2.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oleObject" Target="../embeddings/oleObject5.bin"/><Relationship Id="rId7"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image" Target="../media/image2.emf"/><Relationship Id="rId10" Type="http://schemas.openxmlformats.org/officeDocument/2006/relationships/image" Target="../media/image7.jpeg"/><Relationship Id="rId4" Type="http://schemas.openxmlformats.org/officeDocument/2006/relationships/image" Target="../media/image1.emf"/><Relationship Id="rId9"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7.xml"/><Relationship Id="rId6" Type="http://schemas.openxmlformats.org/officeDocument/2006/relationships/image" Target="../media/image10.jpg"/><Relationship Id="rId5" Type="http://schemas.openxmlformats.org/officeDocument/2006/relationships/image" Target="../media/image2.emf"/><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8.xml"/><Relationship Id="rId6" Type="http://schemas.openxmlformats.org/officeDocument/2006/relationships/image" Target="../media/image2.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elfolie">
    <p:spTree>
      <p:nvGrpSpPr>
        <p:cNvPr id="1" name=""/>
        <p:cNvGrpSpPr/>
        <p:nvPr/>
      </p:nvGrpSpPr>
      <p:grpSpPr>
        <a:xfrm>
          <a:off x="0" y="0"/>
          <a:ext cx="0" cy="0"/>
          <a:chOff x="0" y="0"/>
          <a:chExt cx="0" cy="0"/>
        </a:xfrm>
      </p:grpSpPr>
      <p:graphicFrame>
        <p:nvGraphicFramePr>
          <p:cNvPr id="16" name="Objekt 15" hidden="1">
            <a:extLst>
              <a:ext uri="{FF2B5EF4-FFF2-40B4-BE49-F238E27FC236}">
                <a16:creationId xmlns:a16="http://schemas.microsoft.com/office/drawing/2014/main" id="{AD307316-3F94-D67F-D973-5AE32D14347C}"/>
              </a:ext>
            </a:extLst>
          </p:cNvPr>
          <p:cNvGraphicFramePr>
            <a:graphicFrameLocks noChangeAspect="1"/>
          </p:cNvGraphicFramePr>
          <p:nvPr userDrawn="1">
            <p:custDataLst>
              <p:tags r:id="rId1"/>
            </p:custDataLst>
            <p:extLst>
              <p:ext uri="{D42A27DB-BD31-4B8C-83A1-F6EECF244321}">
                <p14:modId xmlns:p14="http://schemas.microsoft.com/office/powerpoint/2010/main" val="4222282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7" imgH="348" progId="TCLayout.ActiveDocument.1">
                  <p:embed/>
                </p:oleObj>
              </mc:Choice>
              <mc:Fallback>
                <p:oleObj name="think-cell Foli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0" name="Grafik 19">
            <a:extLst>
              <a:ext uri="{FF2B5EF4-FFF2-40B4-BE49-F238E27FC236}">
                <a16:creationId xmlns:a16="http://schemas.microsoft.com/office/drawing/2014/main" id="{88708C0B-D6AC-9BED-61E7-9A367025B73C}"/>
              </a:ext>
            </a:extLst>
          </p:cNvPr>
          <p:cNvPicPr>
            <a:picLocks noChangeAspect="1"/>
          </p:cNvPicPr>
          <p:nvPr userDrawn="1"/>
        </p:nvPicPr>
        <p:blipFill rotWithShape="1">
          <a:blip r:embed="rId5" cstate="hqprint">
            <a:extLst>
              <a:ext uri="{28A0092B-C50C-407E-A947-70E740481C1C}">
                <a14:useLocalDpi xmlns:a14="http://schemas.microsoft.com/office/drawing/2010/main"/>
              </a:ext>
            </a:extLst>
          </a:blip>
          <a:srcRect/>
          <a:stretch/>
        </p:blipFill>
        <p:spPr>
          <a:xfrm>
            <a:off x="9971531" y="-6889"/>
            <a:ext cx="2239901" cy="1902117"/>
          </a:xfrm>
          <a:prstGeom prst="rect">
            <a:avLst/>
          </a:prstGeom>
        </p:spPr>
      </p:pic>
      <p:sp>
        <p:nvSpPr>
          <p:cNvPr id="13" name="Untertitel 2"/>
          <p:cNvSpPr txBox="1">
            <a:spLocks/>
          </p:cNvSpPr>
          <p:nvPr/>
        </p:nvSpPr>
        <p:spPr>
          <a:xfrm>
            <a:off x="383950" y="6076425"/>
            <a:ext cx="6650934" cy="648524"/>
          </a:xfrm>
          <a:prstGeom prst="rect">
            <a:avLst/>
          </a:prstGeom>
        </p:spPr>
        <p:txBody>
          <a:bodyPr lIns="0" tIns="0" rIns="0" bIns="0"/>
          <a:lstStyle>
            <a:lvl1pPr marL="0" indent="0" algn="l" defTabSz="215900" rtl="0" eaLnBrk="1" fontAlgn="base" hangingPunct="1">
              <a:lnSpc>
                <a:spcPct val="100000"/>
              </a:lnSpc>
              <a:spcBef>
                <a:spcPct val="0"/>
              </a:spcBef>
              <a:spcAft>
                <a:spcPct val="0"/>
              </a:spcAft>
              <a:buClr>
                <a:schemeClr val="tx2"/>
              </a:buClr>
              <a:buFont typeface="Arial" charset="0"/>
              <a:buNone/>
              <a:tabLst>
                <a:tab pos="215900" algn="l"/>
              </a:tabLst>
              <a:defRPr sz="2000" kern="1200">
                <a:solidFill>
                  <a:schemeClr val="tx1"/>
                </a:solidFill>
                <a:latin typeface="Arial" panose="020B0604020202020204" pitchFamily="34" charset="0"/>
                <a:ea typeface="+mn-ea"/>
                <a:cs typeface="Arial" panose="020B0604020202020204" pitchFamily="34" charset="0"/>
              </a:defRPr>
            </a:lvl1pPr>
            <a:lvl2pPr marL="457200" indent="0" algn="ctr" rtl="0" eaLnBrk="1" fontAlgn="base" hangingPunct="1">
              <a:spcBef>
                <a:spcPct val="0"/>
              </a:spcBef>
              <a:spcAft>
                <a:spcPct val="0"/>
              </a:spcAft>
              <a:buClr>
                <a:schemeClr val="tx2"/>
              </a:buClr>
              <a:buFont typeface="Symbol"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eaLnBrk="1" fontAlgn="base" hangingPunct="1">
              <a:spcBef>
                <a:spcPct val="0"/>
              </a:spcBef>
              <a:spcAft>
                <a:spcPct val="0"/>
              </a:spcAft>
              <a:buClr>
                <a:schemeClr val="tx2"/>
              </a:buClr>
              <a:buSzPct val="80000"/>
              <a:buFont typeface="Wingdings"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eaLnBrk="1" fontAlgn="base" hangingPunct="1">
              <a:spcBef>
                <a:spcPct val="0"/>
              </a:spcBef>
              <a:spcAft>
                <a:spcPct val="0"/>
              </a:spcAft>
              <a:buClr>
                <a:schemeClr val="tx2"/>
              </a:buClr>
              <a:buSzPct val="100000"/>
              <a:buFont typeface="Arial"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eaLnBrk="1" fontAlgn="base" hangingPunct="1">
              <a:lnSpc>
                <a:spcPct val="90000"/>
              </a:lnSpc>
              <a:spcBef>
                <a:spcPct val="0"/>
              </a:spcBef>
              <a:spcAft>
                <a:spcPct val="0"/>
              </a:spcAft>
              <a:buClr>
                <a:schemeClr val="tx2"/>
              </a:buClr>
              <a:buFont typeface="Arial"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pPr>
            <a:r>
              <a:rPr lang="en-US" sz="1400" b="1" noProof="0" dirty="0">
                <a:solidFill>
                  <a:srgbClr val="00549F"/>
                </a:solidFill>
                <a:latin typeface="+mn-lt"/>
              </a:rPr>
              <a:t>Center for Ageing, Reliability and Lifetime Prediction of Electrochemical and Power Electronic Systems (CARL)</a:t>
            </a:r>
            <a:endParaRPr lang="de-DE" sz="1400" b="1" noProof="0" dirty="0">
              <a:solidFill>
                <a:srgbClr val="00549F"/>
              </a:solidFill>
              <a:latin typeface="+mn-lt"/>
            </a:endParaRPr>
          </a:p>
        </p:txBody>
      </p:sp>
      <p:sp>
        <p:nvSpPr>
          <p:cNvPr id="26" name="Title 1"/>
          <p:cNvSpPr>
            <a:spLocks noGrp="1"/>
          </p:cNvSpPr>
          <p:nvPr>
            <p:ph type="ctrTitle"/>
          </p:nvPr>
        </p:nvSpPr>
        <p:spPr>
          <a:xfrm>
            <a:off x="383950" y="2487599"/>
            <a:ext cx="11422513" cy="1274776"/>
          </a:xfrm>
          <a:prstGeom prst="rect">
            <a:avLst/>
          </a:prstGeom>
        </p:spPr>
        <p:txBody>
          <a:bodyPr vert="horz" lIns="0" tIns="0" rIns="0" bIns="0" anchor="ctr" anchorCtr="0">
            <a:noAutofit/>
          </a:bodyPr>
          <a:lstStyle>
            <a:lvl1pPr algn="l">
              <a:defRPr sz="3200" b="1" baseline="0">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27" name="Subtitle 2"/>
          <p:cNvSpPr>
            <a:spLocks noGrp="1"/>
          </p:cNvSpPr>
          <p:nvPr>
            <p:ph type="subTitle" idx="1"/>
          </p:nvPr>
        </p:nvSpPr>
        <p:spPr>
          <a:xfrm>
            <a:off x="383950" y="3857624"/>
            <a:ext cx="11422513" cy="609601"/>
          </a:xfrm>
          <a:prstGeom prst="rect">
            <a:avLst/>
          </a:prstGeom>
        </p:spPr>
        <p:txBody>
          <a:bodyPr lIns="0" tIns="0" rIns="0" bIns="0"/>
          <a:lstStyle>
            <a:lvl1pPr marL="0" indent="0" algn="l">
              <a:lnSpc>
                <a:spcPct val="100000"/>
              </a:lnSpc>
              <a:buNone/>
              <a:defRPr sz="20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28" name="Fußzeilenplatzhalter 2"/>
          <p:cNvSpPr>
            <a:spLocks noGrp="1"/>
          </p:cNvSpPr>
          <p:nvPr>
            <p:ph type="ftr" sz="quarter" idx="11"/>
          </p:nvPr>
        </p:nvSpPr>
        <p:spPr>
          <a:xfrm>
            <a:off x="383950" y="4980225"/>
            <a:ext cx="11425513" cy="524824"/>
          </a:xfrm>
        </p:spPr>
        <p:txBody>
          <a:bodyPr/>
          <a:lstStyle>
            <a:lvl1pPr>
              <a:defRPr sz="2000">
                <a:solidFill>
                  <a:schemeClr val="tx1"/>
                </a:solidFill>
              </a:defRPr>
            </a:lvl1pPr>
          </a:lstStyle>
          <a:p>
            <a:r>
              <a:rPr lang="en-US"/>
              <a:t>Dirk Uwe Sauer</a:t>
            </a:r>
            <a:endParaRPr lang="en-US" dirty="0"/>
          </a:p>
        </p:txBody>
      </p:sp>
      <p:sp>
        <p:nvSpPr>
          <p:cNvPr id="29" name="Datumsplatzhalter 1"/>
          <p:cNvSpPr>
            <a:spLocks noGrp="1"/>
          </p:cNvSpPr>
          <p:nvPr>
            <p:ph type="dt" sz="half" idx="12"/>
          </p:nvPr>
        </p:nvSpPr>
        <p:spPr>
          <a:xfrm>
            <a:off x="383950" y="4675425"/>
            <a:ext cx="11425513" cy="306150"/>
          </a:xfrm>
        </p:spPr>
        <p:txBody>
          <a:bodyPr/>
          <a:lstStyle>
            <a:lvl1pPr algn="l">
              <a:defRPr sz="2000">
                <a:solidFill>
                  <a:schemeClr val="tx1"/>
                </a:solidFill>
              </a:defRPr>
            </a:lvl1pPr>
          </a:lstStyle>
          <a:p>
            <a:pPr algn="l"/>
            <a:fld id="{D7F12259-4066-44C3-AC08-F5ADAE7E0447}" type="datetime1">
              <a:rPr lang="de-DE" smtClean="0"/>
              <a:t>03.07.2026</a:t>
            </a:fld>
            <a:endParaRPr lang="de-DE" dirty="0"/>
          </a:p>
        </p:txBody>
      </p:sp>
      <p:pic>
        <p:nvPicPr>
          <p:cNvPr id="17" name="Grafik 16">
            <a:extLst>
              <a:ext uri="{FF2B5EF4-FFF2-40B4-BE49-F238E27FC236}">
                <a16:creationId xmlns:a16="http://schemas.microsoft.com/office/drawing/2014/main" id="{4DC99CFB-2F20-4630-E9C6-F44AEDF32AFC}"/>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780427" y="5882400"/>
            <a:ext cx="4136919" cy="975600"/>
          </a:xfrm>
          <a:prstGeom prst="rect">
            <a:avLst/>
          </a:prstGeom>
        </p:spPr>
      </p:pic>
      <p:pic>
        <p:nvPicPr>
          <p:cNvPr id="23" name="Grafik 22">
            <a:extLst>
              <a:ext uri="{FF2B5EF4-FFF2-40B4-BE49-F238E27FC236}">
                <a16:creationId xmlns:a16="http://schemas.microsoft.com/office/drawing/2014/main" id="{28FA4D97-39DA-9A01-61AF-D9262A53F369}"/>
              </a:ext>
            </a:extLst>
          </p:cNvPr>
          <p:cNvPicPr>
            <a:picLocks noChangeAspect="1"/>
          </p:cNvPicPr>
          <p:nvPr userDrawn="1"/>
        </p:nvPicPr>
        <p:blipFill>
          <a:blip r:embed="rId7"/>
          <a:stretch>
            <a:fillRect/>
          </a:stretch>
        </p:blipFill>
        <p:spPr>
          <a:xfrm>
            <a:off x="-21020" y="-6889"/>
            <a:ext cx="2798307" cy="1908213"/>
          </a:xfrm>
          <a:prstGeom prst="rect">
            <a:avLst/>
          </a:prstGeom>
        </p:spPr>
      </p:pic>
      <p:pic>
        <p:nvPicPr>
          <p:cNvPr id="24" name="Grafik 23">
            <a:extLst>
              <a:ext uri="{FF2B5EF4-FFF2-40B4-BE49-F238E27FC236}">
                <a16:creationId xmlns:a16="http://schemas.microsoft.com/office/drawing/2014/main" id="{F3CFB95F-A89D-3843-8CBA-C23BB654A6CC}"/>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2777287" y="-6889"/>
            <a:ext cx="1436612" cy="1908000"/>
          </a:xfrm>
          <a:prstGeom prst="rect">
            <a:avLst/>
          </a:prstGeom>
        </p:spPr>
      </p:pic>
      <p:pic>
        <p:nvPicPr>
          <p:cNvPr id="30" name="Grafik 29">
            <a:extLst>
              <a:ext uri="{FF2B5EF4-FFF2-40B4-BE49-F238E27FC236}">
                <a16:creationId xmlns:a16="http://schemas.microsoft.com/office/drawing/2014/main" id="{6E1F503F-FD34-9C0E-42EE-5D2F7B3E8EB5}"/>
              </a:ext>
            </a:extLst>
          </p:cNvPr>
          <p:cNvPicPr>
            <a:picLocks noChangeAspect="1"/>
          </p:cNvPicPr>
          <p:nvPr userDrawn="1"/>
        </p:nvPicPr>
        <p:blipFill rotWithShape="1">
          <a:blip r:embed="rId9" cstate="hqprint">
            <a:extLst>
              <a:ext uri="{28A0092B-C50C-407E-A947-70E740481C1C}">
                <a14:useLocalDpi xmlns:a14="http://schemas.microsoft.com/office/drawing/2010/main"/>
              </a:ext>
            </a:extLst>
          </a:blip>
          <a:srcRect/>
          <a:stretch/>
        </p:blipFill>
        <p:spPr>
          <a:xfrm>
            <a:off x="4213899" y="-6889"/>
            <a:ext cx="2491702" cy="1908000"/>
          </a:xfrm>
          <a:prstGeom prst="rect">
            <a:avLst/>
          </a:prstGeom>
        </p:spPr>
      </p:pic>
      <p:pic>
        <p:nvPicPr>
          <p:cNvPr id="32" name="Grafik 31">
            <a:extLst>
              <a:ext uri="{FF2B5EF4-FFF2-40B4-BE49-F238E27FC236}">
                <a16:creationId xmlns:a16="http://schemas.microsoft.com/office/drawing/2014/main" id="{0F1944B5-522B-EF1D-7AB7-135ECE4E8433}"/>
              </a:ext>
            </a:extLst>
          </p:cNvPr>
          <p:cNvPicPr>
            <a:picLocks noChangeAspect="1"/>
          </p:cNvPicPr>
          <p:nvPr userDrawn="1"/>
        </p:nvPicPr>
        <p:blipFill rotWithShape="1">
          <a:blip r:embed="rId10" cstate="hqprint">
            <a:extLst>
              <a:ext uri="{28A0092B-C50C-407E-A947-70E740481C1C}">
                <a14:useLocalDpi xmlns:a14="http://schemas.microsoft.com/office/drawing/2010/main"/>
              </a:ext>
            </a:extLst>
          </a:blip>
          <a:srcRect/>
          <a:stretch/>
        </p:blipFill>
        <p:spPr>
          <a:xfrm>
            <a:off x="6660046" y="-6889"/>
            <a:ext cx="3321996" cy="1908000"/>
          </a:xfrm>
          <a:prstGeom prst="rect">
            <a:avLst/>
          </a:prstGeom>
        </p:spPr>
      </p:pic>
      <p:sp>
        <p:nvSpPr>
          <p:cNvPr id="11" name="Textfeld 10"/>
          <p:cNvSpPr txBox="1"/>
          <p:nvPr userDrawn="1"/>
        </p:nvSpPr>
        <p:spPr>
          <a:xfrm>
            <a:off x="0" y="1845525"/>
            <a:ext cx="12196800" cy="246221"/>
          </a:xfrm>
          <a:prstGeom prst="rect">
            <a:avLst/>
          </a:prstGeom>
          <a:solidFill>
            <a:srgbClr val="00549F"/>
          </a:solidFill>
        </p:spPr>
        <p:txBody>
          <a:bodyPr wrap="square" rtlCol="0" anchor="ctr">
            <a:spAutoFit/>
          </a:bodyPr>
          <a:lstStyle/>
          <a:p>
            <a:pPr algn="ctr"/>
            <a:r>
              <a:rPr lang="de-DE" sz="1000" dirty="0">
                <a:solidFill>
                  <a:schemeClr val="bg1"/>
                </a:solidFill>
              </a:rPr>
              <a:t>Alterung     •     Modelle     •     Diagnostik     •     Packdesign     •     Elektromobilität     •     Stationäre Energiespeicher     •     Energiesystemanalyse</a:t>
            </a:r>
          </a:p>
        </p:txBody>
      </p:sp>
    </p:spTree>
    <p:extLst>
      <p:ext uri="{BB962C8B-B14F-4D97-AF65-F5344CB8AC3E}">
        <p14:creationId xmlns:p14="http://schemas.microsoft.com/office/powerpoint/2010/main" val="4618464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elfolie Variante">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8AA73D90-A9F3-5BD3-A09A-BE1E720DE8A3}"/>
              </a:ext>
            </a:extLst>
          </p:cNvPr>
          <p:cNvGraphicFramePr>
            <a:graphicFrameLocks noChangeAspect="1"/>
          </p:cNvGraphicFramePr>
          <p:nvPr userDrawn="1">
            <p:custDataLst>
              <p:tags r:id="rId1"/>
            </p:custDataLst>
            <p:extLst>
              <p:ext uri="{D42A27DB-BD31-4B8C-83A1-F6EECF244321}">
                <p14:modId xmlns:p14="http://schemas.microsoft.com/office/powerpoint/2010/main" val="4241608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7" imgH="348" progId="TCLayout.ActiveDocument.1">
                  <p:embed/>
                </p:oleObj>
              </mc:Choice>
              <mc:Fallback>
                <p:oleObj name="think-cell Foli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Grafik 1">
            <a:extLst>
              <a:ext uri="{FF2B5EF4-FFF2-40B4-BE49-F238E27FC236}">
                <a16:creationId xmlns:a16="http://schemas.microsoft.com/office/drawing/2014/main" id="{DC871C23-EF71-3D7F-1DAC-7460442F1BB7}"/>
              </a:ext>
            </a:extLst>
          </p:cNvPr>
          <p:cNvPicPr>
            <a:picLocks noChangeAspect="1"/>
          </p:cNvPicPr>
          <p:nvPr userDrawn="1"/>
        </p:nvPicPr>
        <p:blipFill rotWithShape="1">
          <a:blip r:embed="rId5" cstate="hqprint">
            <a:extLst>
              <a:ext uri="{28A0092B-C50C-407E-A947-70E740481C1C}">
                <a14:useLocalDpi xmlns:a14="http://schemas.microsoft.com/office/drawing/2010/main"/>
              </a:ext>
            </a:extLst>
          </a:blip>
          <a:srcRect/>
          <a:stretch/>
        </p:blipFill>
        <p:spPr>
          <a:xfrm>
            <a:off x="-1588" y="0"/>
            <a:ext cx="12192000" cy="2724150"/>
          </a:xfrm>
          <a:prstGeom prst="rect">
            <a:avLst/>
          </a:prstGeom>
        </p:spPr>
      </p:pic>
      <p:sp>
        <p:nvSpPr>
          <p:cNvPr id="5" name="Title 1"/>
          <p:cNvSpPr>
            <a:spLocks noGrp="1"/>
          </p:cNvSpPr>
          <p:nvPr>
            <p:ph type="ctrTitle"/>
          </p:nvPr>
        </p:nvSpPr>
        <p:spPr>
          <a:xfrm>
            <a:off x="383950" y="2725724"/>
            <a:ext cx="11422513" cy="1274776"/>
          </a:xfrm>
          <a:prstGeom prst="rect">
            <a:avLst/>
          </a:prstGeom>
        </p:spPr>
        <p:txBody>
          <a:bodyPr vert="horz" lIns="0" tIns="0" rIns="0" bIns="0" anchor="ctr" anchorCtr="0">
            <a:noAutofit/>
          </a:bodyPr>
          <a:lstStyle>
            <a:lvl1pPr algn="l">
              <a:defRPr sz="3200" b="1" baseline="0">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3950" y="4095749"/>
            <a:ext cx="11422513" cy="609601"/>
          </a:xfrm>
          <a:prstGeom prst="rect">
            <a:avLst/>
          </a:prstGeom>
        </p:spPr>
        <p:txBody>
          <a:bodyPr lIns="0" tIns="0" rIns="0" bIns="0"/>
          <a:lstStyle>
            <a:lvl1pPr marL="0" indent="0" algn="l">
              <a:lnSpc>
                <a:spcPct val="100000"/>
              </a:lnSpc>
              <a:buNone/>
              <a:defRPr sz="20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11" name="Fußzeilenplatzhalter 2"/>
          <p:cNvSpPr>
            <a:spLocks noGrp="1"/>
          </p:cNvSpPr>
          <p:nvPr>
            <p:ph type="ftr" sz="quarter" idx="11"/>
          </p:nvPr>
        </p:nvSpPr>
        <p:spPr>
          <a:xfrm>
            <a:off x="383950" y="5218350"/>
            <a:ext cx="11425513" cy="524824"/>
          </a:xfrm>
        </p:spPr>
        <p:txBody>
          <a:bodyPr/>
          <a:lstStyle>
            <a:lvl1pPr>
              <a:defRPr sz="2000">
                <a:solidFill>
                  <a:schemeClr val="tx1"/>
                </a:solidFill>
              </a:defRPr>
            </a:lvl1pPr>
          </a:lstStyle>
          <a:p>
            <a:r>
              <a:rPr lang="en-US" dirty="0"/>
              <a:t>Dirk Uwe Sauer</a:t>
            </a:r>
          </a:p>
        </p:txBody>
      </p:sp>
      <p:sp>
        <p:nvSpPr>
          <p:cNvPr id="12" name="Datumsplatzhalter 1"/>
          <p:cNvSpPr>
            <a:spLocks noGrp="1"/>
          </p:cNvSpPr>
          <p:nvPr>
            <p:ph type="dt" sz="half" idx="12"/>
          </p:nvPr>
        </p:nvSpPr>
        <p:spPr>
          <a:xfrm>
            <a:off x="383950" y="4913550"/>
            <a:ext cx="11425513" cy="306150"/>
          </a:xfrm>
        </p:spPr>
        <p:txBody>
          <a:bodyPr/>
          <a:lstStyle>
            <a:lvl1pPr algn="l">
              <a:defRPr sz="2000">
                <a:solidFill>
                  <a:schemeClr val="tx1"/>
                </a:solidFill>
              </a:defRPr>
            </a:lvl1pPr>
          </a:lstStyle>
          <a:p>
            <a:pPr algn="l"/>
            <a:fld id="{6D3069C6-0311-4A39-8CC1-DA405FE38D0C}" type="datetime1">
              <a:rPr lang="de-DE" smtClean="0"/>
              <a:t>03.07.2026</a:t>
            </a:fld>
            <a:endParaRPr lang="de-DE" dirty="0"/>
          </a:p>
        </p:txBody>
      </p:sp>
      <p:sp>
        <p:nvSpPr>
          <p:cNvPr id="14" name="Untertitel 2"/>
          <p:cNvSpPr txBox="1">
            <a:spLocks/>
          </p:cNvSpPr>
          <p:nvPr userDrawn="1"/>
        </p:nvSpPr>
        <p:spPr>
          <a:xfrm>
            <a:off x="383950" y="6076425"/>
            <a:ext cx="6650934" cy="648524"/>
          </a:xfrm>
          <a:prstGeom prst="rect">
            <a:avLst/>
          </a:prstGeom>
        </p:spPr>
        <p:txBody>
          <a:bodyPr lIns="0" tIns="0" rIns="0" bIns="0"/>
          <a:lstStyle>
            <a:lvl1pPr marL="0" indent="0" algn="l" defTabSz="215900" rtl="0" eaLnBrk="1" fontAlgn="base" hangingPunct="1">
              <a:lnSpc>
                <a:spcPct val="100000"/>
              </a:lnSpc>
              <a:spcBef>
                <a:spcPct val="0"/>
              </a:spcBef>
              <a:spcAft>
                <a:spcPct val="0"/>
              </a:spcAft>
              <a:buClr>
                <a:schemeClr val="tx2"/>
              </a:buClr>
              <a:buFont typeface="Arial" charset="0"/>
              <a:buNone/>
              <a:tabLst>
                <a:tab pos="215900" algn="l"/>
              </a:tabLst>
              <a:defRPr sz="2000" kern="1200">
                <a:solidFill>
                  <a:schemeClr val="tx1"/>
                </a:solidFill>
                <a:latin typeface="Arial" panose="020B0604020202020204" pitchFamily="34" charset="0"/>
                <a:ea typeface="+mn-ea"/>
                <a:cs typeface="Arial" panose="020B0604020202020204" pitchFamily="34" charset="0"/>
              </a:defRPr>
            </a:lvl1pPr>
            <a:lvl2pPr marL="457200" indent="0" algn="ctr" rtl="0" eaLnBrk="1" fontAlgn="base" hangingPunct="1">
              <a:spcBef>
                <a:spcPct val="0"/>
              </a:spcBef>
              <a:spcAft>
                <a:spcPct val="0"/>
              </a:spcAft>
              <a:buClr>
                <a:schemeClr val="tx2"/>
              </a:buClr>
              <a:buFont typeface="Symbol"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eaLnBrk="1" fontAlgn="base" hangingPunct="1">
              <a:spcBef>
                <a:spcPct val="0"/>
              </a:spcBef>
              <a:spcAft>
                <a:spcPct val="0"/>
              </a:spcAft>
              <a:buClr>
                <a:schemeClr val="tx2"/>
              </a:buClr>
              <a:buSzPct val="80000"/>
              <a:buFont typeface="Wingdings"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eaLnBrk="1" fontAlgn="base" hangingPunct="1">
              <a:spcBef>
                <a:spcPct val="0"/>
              </a:spcBef>
              <a:spcAft>
                <a:spcPct val="0"/>
              </a:spcAft>
              <a:buClr>
                <a:schemeClr val="tx2"/>
              </a:buClr>
              <a:buSzPct val="100000"/>
              <a:buFont typeface="Arial"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eaLnBrk="1" fontAlgn="base" hangingPunct="1">
              <a:lnSpc>
                <a:spcPct val="90000"/>
              </a:lnSpc>
              <a:spcBef>
                <a:spcPct val="0"/>
              </a:spcBef>
              <a:spcAft>
                <a:spcPct val="0"/>
              </a:spcAft>
              <a:buClr>
                <a:schemeClr val="tx2"/>
              </a:buClr>
              <a:buFont typeface="Arial"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pPr>
            <a:r>
              <a:rPr lang="en-US" sz="1400" b="1" noProof="0" dirty="0">
                <a:solidFill>
                  <a:srgbClr val="00549F"/>
                </a:solidFill>
                <a:latin typeface="+mn-lt"/>
              </a:rPr>
              <a:t>Center for Ageing, Reliability and Lifetime Prediction of Electrochemical and Power Electronic Systems (CARL)</a:t>
            </a:r>
            <a:endParaRPr lang="de-DE" sz="1400" b="1" noProof="0" dirty="0">
              <a:solidFill>
                <a:srgbClr val="00549F"/>
              </a:solidFill>
              <a:latin typeface="+mn-lt"/>
            </a:endParaRPr>
          </a:p>
        </p:txBody>
      </p:sp>
      <p:pic>
        <p:nvPicPr>
          <p:cNvPr id="8" name="Grafik 7">
            <a:extLst>
              <a:ext uri="{FF2B5EF4-FFF2-40B4-BE49-F238E27FC236}">
                <a16:creationId xmlns:a16="http://schemas.microsoft.com/office/drawing/2014/main" id="{0FB60AFB-66AE-C17C-7AD7-ACE7A216C0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780427" y="5882400"/>
            <a:ext cx="4136919" cy="975600"/>
          </a:xfrm>
          <a:prstGeom prst="rect">
            <a:avLst/>
          </a:prstGeom>
        </p:spPr>
      </p:pic>
    </p:spTree>
    <p:extLst>
      <p:ext uri="{BB962C8B-B14F-4D97-AF65-F5344CB8AC3E}">
        <p14:creationId xmlns:p14="http://schemas.microsoft.com/office/powerpoint/2010/main" val="14826777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Abschlussfolie">
    <p:spTree>
      <p:nvGrpSpPr>
        <p:cNvPr id="1" name=""/>
        <p:cNvGrpSpPr/>
        <p:nvPr/>
      </p:nvGrpSpPr>
      <p:grpSpPr>
        <a:xfrm>
          <a:off x="0" y="0"/>
          <a:ext cx="0" cy="0"/>
          <a:chOff x="0" y="0"/>
          <a:chExt cx="0" cy="0"/>
        </a:xfrm>
      </p:grpSpPr>
      <p:cxnSp>
        <p:nvCxnSpPr>
          <p:cNvPr id="13" name="Gerader Verbinder 11"/>
          <p:cNvCxnSpPr/>
          <p:nvPr/>
        </p:nvCxnSpPr>
        <p:spPr>
          <a:xfrm>
            <a:off x="383068" y="6202363"/>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hteck 3"/>
          <p:cNvSpPr/>
          <p:nvPr/>
        </p:nvSpPr>
        <p:spPr>
          <a:xfrm>
            <a:off x="6249086" y="2124077"/>
            <a:ext cx="5561876" cy="37548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392649" y="2124076"/>
            <a:ext cx="5561876" cy="375666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Title 1"/>
          <p:cNvSpPr txBox="1">
            <a:spLocks/>
          </p:cNvSpPr>
          <p:nvPr/>
        </p:nvSpPr>
        <p:spPr>
          <a:xfrm>
            <a:off x="383068" y="801688"/>
            <a:ext cx="11424279" cy="1004154"/>
          </a:xfrm>
          <a:prstGeom prst="rect">
            <a:avLst/>
          </a:prstGeom>
        </p:spPr>
        <p:txBody>
          <a:bodyPr lIns="0" tIns="0" rIns="0" bIns="0"/>
          <a:lstStyle>
            <a:lvl1pPr algn="l" defTabSz="914400" rtl="0" eaLnBrk="1" latinLnBrk="0" hangingPunct="1">
              <a:lnSpc>
                <a:spcPct val="90000"/>
              </a:lnSpc>
              <a:spcBef>
                <a:spcPct val="0"/>
              </a:spcBef>
              <a:buNone/>
              <a:defRPr sz="3200" b="1" kern="1200" baseline="0">
                <a:solidFill>
                  <a:schemeClr val="tx2"/>
                </a:solidFill>
                <a:latin typeface="Arial" panose="020B0604020202020204" pitchFamily="34" charset="0"/>
                <a:ea typeface="+mj-ea"/>
                <a:cs typeface="Arial" panose="020B0604020202020204" pitchFamily="34" charset="0"/>
              </a:defRPr>
            </a:lvl1pPr>
          </a:lstStyle>
          <a:p>
            <a:pPr fontAlgn="auto">
              <a:spcAft>
                <a:spcPts val="0"/>
              </a:spcAft>
              <a:defRPr/>
            </a:pPr>
            <a:r>
              <a:rPr lang="de-DE" dirty="0">
                <a:solidFill>
                  <a:srgbClr val="00549F"/>
                </a:solidFill>
              </a:rPr>
              <a:t>Vielen Dank</a:t>
            </a:r>
            <a:br>
              <a:rPr lang="de-DE" dirty="0">
                <a:solidFill>
                  <a:srgbClr val="00549F"/>
                </a:solidFill>
              </a:rPr>
            </a:br>
            <a:r>
              <a:rPr lang="de-DE" dirty="0">
                <a:solidFill>
                  <a:srgbClr val="00549F"/>
                </a:solidFill>
              </a:rPr>
              <a:t>für Ihre Aufmerksamkeit</a:t>
            </a:r>
            <a:endParaRPr lang="en-US" dirty="0">
              <a:solidFill>
                <a:srgbClr val="00549F"/>
              </a:solidFill>
            </a:endParaRPr>
          </a:p>
        </p:txBody>
      </p:sp>
      <p:pic>
        <p:nvPicPr>
          <p:cNvPr id="10" name="Grafik 9"/>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55573" y="4878751"/>
            <a:ext cx="952500" cy="952500"/>
          </a:xfrm>
          <a:prstGeom prst="rect">
            <a:avLst/>
          </a:prstGeom>
        </p:spPr>
      </p:pic>
      <p:sp>
        <p:nvSpPr>
          <p:cNvPr id="17" name="Textplatzhalter 3"/>
          <p:cNvSpPr txBox="1">
            <a:spLocks/>
          </p:cNvSpPr>
          <p:nvPr/>
        </p:nvSpPr>
        <p:spPr>
          <a:xfrm>
            <a:off x="392649" y="2133599"/>
            <a:ext cx="5561876" cy="3745278"/>
          </a:xfrm>
          <a:prstGeom prst="rect">
            <a:avLst/>
          </a:prstGeom>
        </p:spPr>
        <p:txBody>
          <a:bodyPr lIns="90000" tIns="36000" rIns="90000" bIns="36000"/>
          <a:lstStyle>
            <a:lvl1pPr marL="0" indent="0" algn="l" defTabSz="216000" rtl="0" eaLnBrk="1" fontAlgn="base" hangingPunct="1">
              <a:lnSpc>
                <a:spcPct val="100000"/>
              </a:lnSpc>
              <a:spcBef>
                <a:spcPts val="0"/>
              </a:spcBef>
              <a:spcAft>
                <a:spcPct val="0"/>
              </a:spcAft>
              <a:buClr>
                <a:schemeClr val="tx2"/>
              </a:buClr>
              <a:buFont typeface="Arial" panose="020B0604020202020204" pitchFamily="34" charset="0"/>
              <a:buNone/>
              <a:tabLst>
                <a:tab pos="216000" algn="l"/>
              </a:tabLst>
              <a:defRPr sz="1600" b="1"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8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Kontakt</a:t>
            </a:r>
            <a:endParaRPr kumimoji="0" lang="de-DE" sz="1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Lehrstuhl für Elektrochemische Energiewandlung</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und Speichersystemtechnik</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Univ.-Prof. Dr. </a:t>
            </a:r>
            <a:r>
              <a:rPr kumimoji="0" lang="de-DE" sz="1400" b="0" i="0" u="none" strike="noStrike" kern="1200" cap="none" spc="0" normalizeH="0" baseline="0" noProof="0" dirty="0" err="1">
                <a:ln>
                  <a:noFill/>
                </a:ln>
                <a:solidFill>
                  <a:sysClr val="windowText" lastClr="000000"/>
                </a:solidFill>
                <a:effectLst/>
                <a:uLnTx/>
                <a:uFillTx/>
                <a:latin typeface="Arial" panose="020B0604020202020204" pitchFamily="34" charset="0"/>
                <a:ea typeface="+mn-ea"/>
                <a:cs typeface="Arial" panose="020B0604020202020204" pitchFamily="34" charset="0"/>
              </a:rPr>
              <a:t>rer</a:t>
            </a: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nat. Dirk Uwe Sauer</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RWTH Aachen University</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Campus-Boulevard 89</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52074 Aachen</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GERMANY</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www.isea.rwth-aachen.de</a:t>
            </a:r>
            <a:endParaRPr kumimoji="0" lang="de-DE" sz="12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20" name="Textplatzhalter 3"/>
          <p:cNvSpPr txBox="1">
            <a:spLocks/>
          </p:cNvSpPr>
          <p:nvPr/>
        </p:nvSpPr>
        <p:spPr>
          <a:xfrm>
            <a:off x="6245471" y="2133599"/>
            <a:ext cx="5561876" cy="3745278"/>
          </a:xfrm>
          <a:prstGeom prst="rect">
            <a:avLst/>
          </a:prstGeom>
        </p:spPr>
        <p:txBody>
          <a:bodyPr lIns="90000" tIns="36000" rIns="90000" bIns="36000"/>
          <a:lstStyle>
            <a:lvl1pPr marL="0" indent="0" algn="l" defTabSz="216000" rtl="0" eaLnBrk="1" fontAlgn="base" hangingPunct="1">
              <a:lnSpc>
                <a:spcPct val="100000"/>
              </a:lnSpc>
              <a:spcBef>
                <a:spcPts val="0"/>
              </a:spcBef>
              <a:spcAft>
                <a:spcPct val="0"/>
              </a:spcAft>
              <a:buClr>
                <a:schemeClr val="tx2"/>
              </a:buClr>
              <a:buFont typeface="Arial" panose="020B0604020202020204" pitchFamily="34" charset="0"/>
              <a:buNone/>
              <a:tabLst>
                <a:tab pos="216000" algn="l"/>
              </a:tabLst>
              <a:defRPr sz="1600" b="1"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de-DE" sz="18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Wir danken</a:t>
            </a:r>
            <a:endParaRPr kumimoji="0" lang="de-DE" sz="1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24" name="Textplatzhalter 23"/>
          <p:cNvSpPr>
            <a:spLocks noGrp="1"/>
          </p:cNvSpPr>
          <p:nvPr>
            <p:ph type="body" sz="quarter" idx="10" hasCustomPrompt="1"/>
          </p:nvPr>
        </p:nvSpPr>
        <p:spPr>
          <a:xfrm>
            <a:off x="392649" y="2828926"/>
            <a:ext cx="3886694" cy="733425"/>
          </a:xfrm>
          <a:prstGeom prst="rect">
            <a:avLst/>
          </a:prstGeom>
        </p:spPr>
        <p:txBody>
          <a:bodyPr/>
          <a:lstStyle>
            <a:lvl1pPr marL="0" indent="0">
              <a:buNone/>
              <a:defRPr sz="1400" b="0" baseline="0"/>
            </a:lvl1pPr>
          </a:lstStyle>
          <a:p>
            <a:pPr lvl="0"/>
            <a:r>
              <a:rPr lang="en-US" dirty="0"/>
              <a:t>Tel.: +49 241 80-XXXXX</a:t>
            </a:r>
            <a:br>
              <a:rPr lang="en-US" dirty="0"/>
            </a:br>
            <a:r>
              <a:rPr lang="en-US" dirty="0"/>
              <a:t>xxx@isea.rwth-aachen.de</a:t>
            </a:r>
            <a:br>
              <a:rPr lang="en-US" dirty="0"/>
            </a:br>
            <a:r>
              <a:rPr lang="en-US" dirty="0"/>
              <a:t>batteries@isea.rwth-aachen.de</a:t>
            </a:r>
          </a:p>
        </p:txBody>
      </p:sp>
      <p:sp>
        <p:nvSpPr>
          <p:cNvPr id="26" name="Bildplatzhalter 25"/>
          <p:cNvSpPr>
            <a:spLocks noGrp="1"/>
          </p:cNvSpPr>
          <p:nvPr>
            <p:ph type="pic" sz="quarter" idx="11" hasCustomPrompt="1"/>
          </p:nvPr>
        </p:nvSpPr>
        <p:spPr>
          <a:xfrm>
            <a:off x="4811297" y="2124075"/>
            <a:ext cx="1137452" cy="1462628"/>
          </a:xfrm>
          <a:prstGeom prst="rect">
            <a:avLst/>
          </a:prstGeom>
        </p:spPr>
        <p:txBody>
          <a:bodyPr/>
          <a:lstStyle>
            <a:lvl1pPr marL="0" indent="0">
              <a:buNone/>
              <a:defRPr sz="1400" baseline="0"/>
            </a:lvl1pPr>
          </a:lstStyle>
          <a:p>
            <a:r>
              <a:rPr lang="de-DE" dirty="0"/>
              <a:t>Eigenes Foto durch Klicken hinzufügen</a:t>
            </a:r>
            <a:endParaRPr lang="en-US" dirty="0"/>
          </a:p>
        </p:txBody>
      </p:sp>
      <p:sp>
        <p:nvSpPr>
          <p:cNvPr id="28" name="Fußzeilenplatzhalter 27"/>
          <p:cNvSpPr>
            <a:spLocks noGrp="1"/>
          </p:cNvSpPr>
          <p:nvPr>
            <p:ph type="ftr" sz="quarter" idx="13"/>
          </p:nvPr>
        </p:nvSpPr>
        <p:spPr>
          <a:xfrm>
            <a:off x="392649" y="2570401"/>
            <a:ext cx="3886694" cy="334725"/>
          </a:xfrm>
        </p:spPr>
        <p:txBody>
          <a:bodyPr lIns="90000" tIns="90000" rIns="90000" bIns="90000"/>
          <a:lstStyle>
            <a:lvl1pPr>
              <a:defRPr sz="1400" b="1">
                <a:solidFill>
                  <a:schemeClr val="tx1"/>
                </a:solidFill>
              </a:defRPr>
            </a:lvl1pPr>
          </a:lstStyle>
          <a:p>
            <a:r>
              <a:rPr lang="en-US"/>
              <a:t>Dirk Uwe Sauer</a:t>
            </a:r>
            <a:endParaRPr lang="en-US" dirty="0"/>
          </a:p>
        </p:txBody>
      </p:sp>
      <p:sp>
        <p:nvSpPr>
          <p:cNvPr id="31" name="Bildplatzhalter 30"/>
          <p:cNvSpPr>
            <a:spLocks noGrp="1"/>
          </p:cNvSpPr>
          <p:nvPr>
            <p:ph type="pic" sz="quarter" idx="14" hasCustomPrompt="1"/>
          </p:nvPr>
        </p:nvSpPr>
        <p:spPr>
          <a:xfrm>
            <a:off x="6361869" y="2571750"/>
            <a:ext cx="2591663" cy="1548000"/>
          </a:xfrm>
          <a:prstGeom prst="rect">
            <a:avLst/>
          </a:prstGeom>
        </p:spPr>
        <p:txBody>
          <a:bodyPr/>
          <a:lstStyle>
            <a:lvl1pPr>
              <a:defRPr/>
            </a:lvl1pPr>
          </a:lstStyle>
          <a:p>
            <a:r>
              <a:rPr lang="de-DE" dirty="0"/>
              <a:t>Partnerlogo durch Klicken hinzufügen</a:t>
            </a:r>
            <a:endParaRPr lang="en-US" dirty="0"/>
          </a:p>
        </p:txBody>
      </p:sp>
      <p:sp>
        <p:nvSpPr>
          <p:cNvPr id="18" name="Bildplatzhalter 30"/>
          <p:cNvSpPr>
            <a:spLocks noGrp="1"/>
          </p:cNvSpPr>
          <p:nvPr>
            <p:ph type="pic" sz="quarter" idx="15" hasCustomPrompt="1"/>
          </p:nvPr>
        </p:nvSpPr>
        <p:spPr>
          <a:xfrm>
            <a:off x="9092013" y="2571750"/>
            <a:ext cx="2591663" cy="1548000"/>
          </a:xfrm>
          <a:prstGeom prst="rect">
            <a:avLst/>
          </a:prstGeom>
        </p:spPr>
        <p:txBody>
          <a:bodyPr/>
          <a:lstStyle>
            <a:lvl1pPr>
              <a:defRPr/>
            </a:lvl1pPr>
          </a:lstStyle>
          <a:p>
            <a:r>
              <a:rPr lang="de-DE" dirty="0"/>
              <a:t>Partnerlogo durch Klicken hinzufügen</a:t>
            </a:r>
            <a:endParaRPr lang="en-US" dirty="0"/>
          </a:p>
        </p:txBody>
      </p:sp>
      <p:sp>
        <p:nvSpPr>
          <p:cNvPr id="19" name="Bildplatzhalter 30"/>
          <p:cNvSpPr>
            <a:spLocks noGrp="1"/>
          </p:cNvSpPr>
          <p:nvPr>
            <p:ph type="pic" sz="quarter" idx="16" hasCustomPrompt="1"/>
          </p:nvPr>
        </p:nvSpPr>
        <p:spPr>
          <a:xfrm>
            <a:off x="6361869" y="4229100"/>
            <a:ext cx="2591663" cy="1548000"/>
          </a:xfrm>
          <a:prstGeom prst="rect">
            <a:avLst/>
          </a:prstGeom>
        </p:spPr>
        <p:txBody>
          <a:bodyPr/>
          <a:lstStyle>
            <a:lvl1pPr>
              <a:defRPr/>
            </a:lvl1pPr>
          </a:lstStyle>
          <a:p>
            <a:r>
              <a:rPr lang="de-DE" dirty="0"/>
              <a:t>Partnerlogo durch Klicken hinzufügen</a:t>
            </a:r>
            <a:endParaRPr lang="en-US" dirty="0"/>
          </a:p>
        </p:txBody>
      </p:sp>
      <p:sp>
        <p:nvSpPr>
          <p:cNvPr id="21" name="Bildplatzhalter 30"/>
          <p:cNvSpPr>
            <a:spLocks noGrp="1"/>
          </p:cNvSpPr>
          <p:nvPr>
            <p:ph type="pic" sz="quarter" idx="17" hasCustomPrompt="1"/>
          </p:nvPr>
        </p:nvSpPr>
        <p:spPr>
          <a:xfrm>
            <a:off x="9092013" y="4229100"/>
            <a:ext cx="2591663" cy="1548000"/>
          </a:xfrm>
          <a:prstGeom prst="rect">
            <a:avLst/>
          </a:prstGeom>
        </p:spPr>
        <p:txBody>
          <a:bodyPr/>
          <a:lstStyle>
            <a:lvl1pPr>
              <a:defRPr/>
            </a:lvl1pPr>
          </a:lstStyle>
          <a:p>
            <a:r>
              <a:rPr lang="de-DE" dirty="0"/>
              <a:t>Partnerlogo durch Klicken hinzufügen</a:t>
            </a:r>
            <a:endParaRPr lang="en-US" dirty="0"/>
          </a:p>
        </p:txBody>
      </p:sp>
      <p:cxnSp>
        <p:nvCxnSpPr>
          <p:cNvPr id="22" name="Gerader Verbinder 11"/>
          <p:cNvCxnSpPr/>
          <p:nvPr userDrawn="1"/>
        </p:nvCxnSpPr>
        <p:spPr>
          <a:xfrm>
            <a:off x="383068" y="6202363"/>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Grafik 1">
            <a:extLst>
              <a:ext uri="{FF2B5EF4-FFF2-40B4-BE49-F238E27FC236}">
                <a16:creationId xmlns:a16="http://schemas.microsoft.com/office/drawing/2014/main" id="{B7A9C78E-FFB6-EF79-741D-9244DD08E8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137882" y="6205415"/>
            <a:ext cx="2778300" cy="655200"/>
          </a:xfrm>
          <a:prstGeom prst="rect">
            <a:avLst/>
          </a:prstGeom>
        </p:spPr>
      </p:pic>
    </p:spTree>
    <p:extLst>
      <p:ext uri="{BB962C8B-B14F-4D97-AF65-F5344CB8AC3E}">
        <p14:creationId xmlns:p14="http://schemas.microsoft.com/office/powerpoint/2010/main" val="1345779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6" name="Title 1"/>
          <p:cNvSpPr>
            <a:spLocks noGrp="1"/>
          </p:cNvSpPr>
          <p:nvPr>
            <p:ph type="title"/>
          </p:nvPr>
        </p:nvSpPr>
        <p:spPr>
          <a:xfrm>
            <a:off x="383950" y="201600"/>
            <a:ext cx="11422513" cy="543600"/>
          </a:xfrm>
          <a:prstGeom prst="rect">
            <a:avLst/>
          </a:prstGeom>
        </p:spPr>
        <p:txBody>
          <a:bodyPr lIns="0" tIns="0" rIns="0" bIns="0" anchor="b" anchorCtr="0"/>
          <a:lstStyle>
            <a:lvl1pPr algn="l">
              <a:defRPr sz="2400" b="1">
                <a:solidFill>
                  <a:schemeClr val="tx2"/>
                </a:solidFill>
              </a:defRPr>
            </a:lvl1pPr>
          </a:lstStyle>
          <a:p>
            <a:r>
              <a:rPr lang="de-DE"/>
              <a:t>Mastertitelformat bearbeiten</a:t>
            </a:r>
            <a:endParaRPr lang="en-US" dirty="0"/>
          </a:p>
        </p:txBody>
      </p:sp>
      <p:sp>
        <p:nvSpPr>
          <p:cNvPr id="7" name="Inhaltsplatzhalter 2"/>
          <p:cNvSpPr>
            <a:spLocks noGrp="1"/>
          </p:cNvSpPr>
          <p:nvPr>
            <p:ph idx="1"/>
          </p:nvPr>
        </p:nvSpPr>
        <p:spPr>
          <a:xfrm>
            <a:off x="383950" y="1151999"/>
            <a:ext cx="11422513" cy="4731276"/>
          </a:xfrm>
          <a:prstGeom prst="rect">
            <a:avLst/>
          </a:prstGeom>
        </p:spPr>
        <p:txBody>
          <a:bodyPr lIns="0" tIns="0" rIns="0" bIns="0"/>
          <a:lstStyle>
            <a:lvl1pPr marL="215900" indent="-215900">
              <a:spcBef>
                <a:spcPts val="0"/>
              </a:spcBef>
              <a:spcAft>
                <a:spcPts val="450"/>
              </a:spcAft>
              <a:buFont typeface="Arial" panose="020B0604020202020204" pitchFamily="34" charset="0"/>
              <a:buChar char="■"/>
              <a:defRPr sz="2000"/>
            </a:lvl1pPr>
            <a:lvl2pPr marL="431800" indent="-215900">
              <a:spcBef>
                <a:spcPts val="0"/>
              </a:spcBef>
              <a:spcAft>
                <a:spcPts val="400"/>
              </a:spcAft>
              <a:buFont typeface="Arial" panose="020B0604020202020204" pitchFamily="34" charset="0"/>
              <a:buChar char="□"/>
              <a:defRPr sz="1800"/>
            </a:lvl2pPr>
            <a:lvl3pPr marL="647700" indent="-215900">
              <a:spcBef>
                <a:spcPts val="0"/>
              </a:spcBef>
              <a:spcAft>
                <a:spcPts val="350"/>
              </a:spcAft>
              <a:buFont typeface="Arial" panose="020B0604020202020204" pitchFamily="34" charset="0"/>
              <a:buChar char="■"/>
              <a:defRPr sz="1800"/>
            </a:lvl3pPr>
            <a:lvl4pPr marL="863600" indent="-215900">
              <a:spcBef>
                <a:spcPts val="0"/>
              </a:spcBef>
              <a:spcAft>
                <a:spcPts val="300"/>
              </a:spcAft>
              <a:buFont typeface="Symbol" panose="05050102010706020507" pitchFamily="18" charset="2"/>
              <a:buChar char="-"/>
              <a:defRPr/>
            </a:lvl4pPr>
            <a:lvl5pPr marL="1080000" indent="-215900">
              <a:spcBef>
                <a:spcPts val="0"/>
              </a:spcBef>
              <a:spcAft>
                <a:spcPts val="250"/>
              </a:spcAft>
              <a:buFont typeface="Arial" panose="020B0604020202020204" pitchFamily="34"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Datumsplatzhalter 10"/>
          <p:cNvSpPr>
            <a:spLocks noGrp="1"/>
          </p:cNvSpPr>
          <p:nvPr>
            <p:ph type="dt" sz="half" idx="10"/>
          </p:nvPr>
        </p:nvSpPr>
        <p:spPr/>
        <p:txBody>
          <a:bodyPr/>
          <a:lstStyle/>
          <a:p>
            <a:pPr algn="l"/>
            <a:fld id="{F887C18F-21B2-48B8-9586-9343C0AE58EE}" type="datetime1">
              <a:rPr lang="de-DE" smtClean="0"/>
              <a:t>03.07.2026</a:t>
            </a:fld>
            <a:endParaRPr lang="de-DE" dirty="0"/>
          </a:p>
        </p:txBody>
      </p:sp>
      <p:sp>
        <p:nvSpPr>
          <p:cNvPr id="12" name="Fußzeilenplatzhalter 11"/>
          <p:cNvSpPr>
            <a:spLocks noGrp="1"/>
          </p:cNvSpPr>
          <p:nvPr>
            <p:ph type="ftr" sz="quarter" idx="11"/>
          </p:nvPr>
        </p:nvSpPr>
        <p:spPr/>
        <p:txBody>
          <a:bodyPr/>
          <a:lstStyle/>
          <a:p>
            <a:r>
              <a:rPr lang="en-US"/>
              <a:t>Dirk Uwe Sauer</a:t>
            </a:r>
            <a:endParaRPr lang="en-US" dirty="0"/>
          </a:p>
        </p:txBody>
      </p:sp>
      <p:sp>
        <p:nvSpPr>
          <p:cNvPr id="13" name="Foliennummernplatzhalter 12"/>
          <p:cNvSpPr>
            <a:spLocks noGrp="1"/>
          </p:cNvSpPr>
          <p:nvPr>
            <p:ph type="sldNum" sz="quarter" idx="12"/>
          </p:nvPr>
        </p:nvSpPr>
        <p:spPr/>
        <p:txBody>
          <a:bodyPr/>
          <a:lstStyle/>
          <a:p>
            <a:fld id="{4D01E63C-D794-4429-8564-635E6253AC5C}" type="slidenum">
              <a:rPr lang="en-US" smtClean="0"/>
              <a:pPr/>
              <a:t>‹#›</a:t>
            </a:fld>
            <a:endParaRPr lang="en-US" dirty="0"/>
          </a:p>
        </p:txBody>
      </p:sp>
    </p:spTree>
    <p:extLst>
      <p:ext uri="{BB962C8B-B14F-4D97-AF65-F5344CB8AC3E}">
        <p14:creationId xmlns:p14="http://schemas.microsoft.com/office/powerpoint/2010/main" val="409652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6" name="Title 1"/>
          <p:cNvSpPr>
            <a:spLocks noGrp="1"/>
          </p:cNvSpPr>
          <p:nvPr>
            <p:ph type="title"/>
          </p:nvPr>
        </p:nvSpPr>
        <p:spPr>
          <a:xfrm>
            <a:off x="383950" y="201600"/>
            <a:ext cx="11422513" cy="543600"/>
          </a:xfrm>
          <a:prstGeom prst="rect">
            <a:avLst/>
          </a:prstGeom>
        </p:spPr>
        <p:txBody>
          <a:bodyPr lIns="0" tIns="0" rIns="0" bIns="0" anchor="b" anchorCtr="0"/>
          <a:lstStyle>
            <a:lvl1pPr algn="l">
              <a:defRPr sz="2400" b="1">
                <a:solidFill>
                  <a:schemeClr val="tx2"/>
                </a:solidFill>
              </a:defRPr>
            </a:lvl1pPr>
          </a:lstStyle>
          <a:p>
            <a:r>
              <a:rPr lang="de-DE"/>
              <a:t>Mastertitelformat bearbeiten</a:t>
            </a:r>
            <a:endParaRPr lang="en-US" dirty="0"/>
          </a:p>
        </p:txBody>
      </p:sp>
      <p:sp>
        <p:nvSpPr>
          <p:cNvPr id="10" name="Inhaltsplatzhalter 2"/>
          <p:cNvSpPr>
            <a:spLocks noGrp="1"/>
          </p:cNvSpPr>
          <p:nvPr>
            <p:ph idx="1"/>
          </p:nvPr>
        </p:nvSpPr>
        <p:spPr>
          <a:xfrm>
            <a:off x="383950" y="1151999"/>
            <a:ext cx="5620068" cy="4731275"/>
          </a:xfrm>
          <a:prstGeom prst="rect">
            <a:avLst/>
          </a:prstGeom>
        </p:spPr>
        <p:txBody>
          <a:bodyPr lIns="0" tIns="0" rIns="0" bIns="0"/>
          <a:lstStyle>
            <a:lvl1pPr marL="215900" indent="-215900">
              <a:spcBef>
                <a:spcPts val="0"/>
              </a:spcBef>
              <a:spcAft>
                <a:spcPts val="450"/>
              </a:spcAft>
              <a:buFont typeface="Arial" panose="020B0604020202020204" pitchFamily="34" charset="0"/>
              <a:buChar char="■"/>
              <a:defRPr sz="2000"/>
            </a:lvl1pPr>
            <a:lvl2pPr marL="431800" indent="-215900">
              <a:spcBef>
                <a:spcPts val="0"/>
              </a:spcBef>
              <a:spcAft>
                <a:spcPts val="400"/>
              </a:spcAft>
              <a:buFont typeface="Arial" panose="020B0604020202020204" pitchFamily="34" charset="0"/>
              <a:buChar char="□"/>
              <a:defRPr sz="1800"/>
            </a:lvl2pPr>
            <a:lvl3pPr marL="647700" indent="-215900">
              <a:spcBef>
                <a:spcPts val="0"/>
              </a:spcBef>
              <a:spcAft>
                <a:spcPts val="350"/>
              </a:spcAft>
              <a:buFont typeface="Arial" panose="020B0604020202020204" pitchFamily="34" charset="0"/>
              <a:buChar char="■"/>
              <a:defRPr sz="1800"/>
            </a:lvl3pPr>
            <a:lvl4pPr marL="863600" indent="-215900">
              <a:spcBef>
                <a:spcPts val="0"/>
              </a:spcBef>
              <a:spcAft>
                <a:spcPts val="300"/>
              </a:spcAft>
              <a:buFont typeface="Symbol" panose="05050102010706020507" pitchFamily="18" charset="2"/>
              <a:buChar char="-"/>
              <a:defRPr/>
            </a:lvl4pPr>
            <a:lvl5pPr marL="1080000" indent="-215900">
              <a:spcBef>
                <a:spcPts val="0"/>
              </a:spcBef>
              <a:spcAft>
                <a:spcPts val="250"/>
              </a:spcAft>
              <a:buFont typeface="Arial" panose="020B0604020202020204" pitchFamily="34"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Inhaltsplatzhalter 2"/>
          <p:cNvSpPr>
            <a:spLocks noGrp="1"/>
          </p:cNvSpPr>
          <p:nvPr>
            <p:ph idx="13"/>
          </p:nvPr>
        </p:nvSpPr>
        <p:spPr>
          <a:xfrm>
            <a:off x="6191194" y="1151999"/>
            <a:ext cx="5620068" cy="4731275"/>
          </a:xfrm>
          <a:prstGeom prst="rect">
            <a:avLst/>
          </a:prstGeom>
        </p:spPr>
        <p:txBody>
          <a:bodyPr lIns="0" tIns="0" rIns="0" bIns="0"/>
          <a:lstStyle>
            <a:lvl1pPr marL="215900" indent="-215900">
              <a:spcBef>
                <a:spcPts val="0"/>
              </a:spcBef>
              <a:spcAft>
                <a:spcPts val="450"/>
              </a:spcAft>
              <a:buFont typeface="Arial" panose="020B0604020202020204" pitchFamily="34" charset="0"/>
              <a:buChar char="■"/>
              <a:defRPr sz="2000"/>
            </a:lvl1pPr>
            <a:lvl2pPr marL="431800" indent="-215900">
              <a:spcBef>
                <a:spcPts val="0"/>
              </a:spcBef>
              <a:spcAft>
                <a:spcPts val="400"/>
              </a:spcAft>
              <a:buFont typeface="Arial" panose="020B0604020202020204" pitchFamily="34" charset="0"/>
              <a:buChar char="□"/>
              <a:defRPr sz="1800"/>
            </a:lvl2pPr>
            <a:lvl3pPr marL="647700" indent="-215900">
              <a:spcBef>
                <a:spcPts val="0"/>
              </a:spcBef>
              <a:spcAft>
                <a:spcPts val="350"/>
              </a:spcAft>
              <a:buFont typeface="Arial" panose="020B0604020202020204" pitchFamily="34" charset="0"/>
              <a:buChar char="■"/>
              <a:defRPr sz="1800"/>
            </a:lvl3pPr>
            <a:lvl4pPr marL="863600" indent="-215900">
              <a:spcBef>
                <a:spcPts val="0"/>
              </a:spcBef>
              <a:spcAft>
                <a:spcPts val="300"/>
              </a:spcAft>
              <a:buFont typeface="Symbol" panose="05050102010706020507" pitchFamily="18" charset="2"/>
              <a:buChar char="-"/>
              <a:defRPr/>
            </a:lvl4pPr>
            <a:lvl5pPr marL="1080000" indent="-215900">
              <a:spcBef>
                <a:spcPts val="0"/>
              </a:spcBef>
              <a:spcAft>
                <a:spcPts val="250"/>
              </a:spcAft>
              <a:buFont typeface="Arial" panose="020B0604020202020204" pitchFamily="34"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Datumsplatzhalter 1"/>
          <p:cNvSpPr>
            <a:spLocks noGrp="1"/>
          </p:cNvSpPr>
          <p:nvPr>
            <p:ph type="dt" sz="half" idx="14"/>
          </p:nvPr>
        </p:nvSpPr>
        <p:spPr/>
        <p:txBody>
          <a:bodyPr/>
          <a:lstStyle/>
          <a:p>
            <a:pPr algn="l"/>
            <a:fld id="{E5AF013B-EAD8-4321-9A97-347E14C68B05}" type="datetime1">
              <a:rPr lang="de-DE" smtClean="0"/>
              <a:t>03.07.2026</a:t>
            </a:fld>
            <a:endParaRPr lang="de-DE" dirty="0"/>
          </a:p>
        </p:txBody>
      </p:sp>
      <p:sp>
        <p:nvSpPr>
          <p:cNvPr id="7" name="Fußzeilenplatzhalter 6"/>
          <p:cNvSpPr>
            <a:spLocks noGrp="1"/>
          </p:cNvSpPr>
          <p:nvPr>
            <p:ph type="ftr" sz="quarter" idx="15"/>
          </p:nvPr>
        </p:nvSpPr>
        <p:spPr/>
        <p:txBody>
          <a:bodyPr/>
          <a:lstStyle/>
          <a:p>
            <a:r>
              <a:rPr lang="en-US"/>
              <a:t>Dirk Uwe Sauer</a:t>
            </a:r>
            <a:endParaRPr lang="en-US" dirty="0"/>
          </a:p>
        </p:txBody>
      </p:sp>
      <p:sp>
        <p:nvSpPr>
          <p:cNvPr id="12" name="Foliennummernplatzhalter 11"/>
          <p:cNvSpPr>
            <a:spLocks noGrp="1"/>
          </p:cNvSpPr>
          <p:nvPr>
            <p:ph type="sldNum" sz="quarter" idx="16"/>
          </p:nvPr>
        </p:nvSpPr>
        <p:spPr/>
        <p:txBody>
          <a:bodyPr/>
          <a:lstStyle/>
          <a:p>
            <a:fld id="{4D01E63C-D794-4429-8564-635E6253AC5C}" type="slidenum">
              <a:rPr lang="en-US" smtClean="0"/>
              <a:pPr/>
              <a:t>‹#›</a:t>
            </a:fld>
            <a:endParaRPr lang="en-US" dirty="0"/>
          </a:p>
        </p:txBody>
      </p:sp>
    </p:spTree>
    <p:extLst>
      <p:ext uri="{BB962C8B-B14F-4D97-AF65-F5344CB8AC3E}">
        <p14:creationId xmlns:p14="http://schemas.microsoft.com/office/powerpoint/2010/main" val="4138456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6" name="Title 1"/>
          <p:cNvSpPr>
            <a:spLocks noGrp="1"/>
          </p:cNvSpPr>
          <p:nvPr>
            <p:ph type="title"/>
          </p:nvPr>
        </p:nvSpPr>
        <p:spPr>
          <a:xfrm>
            <a:off x="383950" y="201600"/>
            <a:ext cx="11422513" cy="543600"/>
          </a:xfrm>
          <a:prstGeom prst="rect">
            <a:avLst/>
          </a:prstGeom>
        </p:spPr>
        <p:txBody>
          <a:bodyPr lIns="0" tIns="0" rIns="0" bIns="0" anchor="b" anchorCtr="0"/>
          <a:lstStyle>
            <a:lvl1pPr algn="l">
              <a:defRPr sz="2400" b="1">
                <a:solidFill>
                  <a:schemeClr val="tx2"/>
                </a:solidFill>
              </a:defRPr>
            </a:lvl1pPr>
          </a:lstStyle>
          <a:p>
            <a:r>
              <a:rPr lang="de-DE"/>
              <a:t>Mastertitelformat bearbeiten</a:t>
            </a:r>
            <a:endParaRPr lang="en-US" dirty="0"/>
          </a:p>
        </p:txBody>
      </p:sp>
      <p:sp>
        <p:nvSpPr>
          <p:cNvPr id="11" name="Datumsplatzhalter 10"/>
          <p:cNvSpPr>
            <a:spLocks noGrp="1"/>
          </p:cNvSpPr>
          <p:nvPr>
            <p:ph type="dt" sz="half" idx="10"/>
          </p:nvPr>
        </p:nvSpPr>
        <p:spPr/>
        <p:txBody>
          <a:bodyPr/>
          <a:lstStyle/>
          <a:p>
            <a:pPr algn="l"/>
            <a:fld id="{D3F884E6-7726-4AAA-A0CE-C180A27151DE}" type="datetime1">
              <a:rPr lang="de-DE" smtClean="0"/>
              <a:t>03.07.2026</a:t>
            </a:fld>
            <a:endParaRPr lang="de-DE" dirty="0"/>
          </a:p>
        </p:txBody>
      </p:sp>
      <p:sp>
        <p:nvSpPr>
          <p:cNvPr id="12" name="Fußzeilenplatzhalter 11"/>
          <p:cNvSpPr>
            <a:spLocks noGrp="1"/>
          </p:cNvSpPr>
          <p:nvPr>
            <p:ph type="ftr" sz="quarter" idx="11"/>
          </p:nvPr>
        </p:nvSpPr>
        <p:spPr/>
        <p:txBody>
          <a:bodyPr/>
          <a:lstStyle/>
          <a:p>
            <a:r>
              <a:rPr lang="en-US"/>
              <a:t>Dirk Uwe Sauer</a:t>
            </a:r>
            <a:endParaRPr lang="en-US" dirty="0"/>
          </a:p>
        </p:txBody>
      </p:sp>
      <p:sp>
        <p:nvSpPr>
          <p:cNvPr id="13" name="Foliennummernplatzhalter 12"/>
          <p:cNvSpPr>
            <a:spLocks noGrp="1"/>
          </p:cNvSpPr>
          <p:nvPr>
            <p:ph type="sldNum" sz="quarter" idx="12"/>
          </p:nvPr>
        </p:nvSpPr>
        <p:spPr/>
        <p:txBody>
          <a:bodyPr/>
          <a:lstStyle/>
          <a:p>
            <a:fld id="{4D01E63C-D794-4429-8564-635E6253AC5C}" type="slidenum">
              <a:rPr lang="en-US" smtClean="0"/>
              <a:pPr/>
              <a:t>‹#›</a:t>
            </a:fld>
            <a:endParaRPr lang="en-US" dirty="0"/>
          </a:p>
        </p:txBody>
      </p:sp>
    </p:spTree>
    <p:extLst>
      <p:ext uri="{BB962C8B-B14F-4D97-AF65-F5344CB8AC3E}">
        <p14:creationId xmlns:p14="http://schemas.microsoft.com/office/powerpoint/2010/main" val="140242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graphicFrame>
        <p:nvGraphicFramePr>
          <p:cNvPr id="23" name="Objekt 22" hidden="1">
            <a:extLst>
              <a:ext uri="{FF2B5EF4-FFF2-40B4-BE49-F238E27FC236}">
                <a16:creationId xmlns:a16="http://schemas.microsoft.com/office/drawing/2014/main" id="{82E43DA6-6AC1-9462-BF8C-A82E0366A897}"/>
              </a:ext>
            </a:extLst>
          </p:cNvPr>
          <p:cNvGraphicFramePr>
            <a:graphicFrameLocks noChangeAspect="1"/>
          </p:cNvGraphicFramePr>
          <p:nvPr userDrawn="1">
            <p:custDataLst>
              <p:tags r:id="rId1"/>
            </p:custDataLst>
            <p:extLst>
              <p:ext uri="{D42A27DB-BD31-4B8C-83A1-F6EECF244321}">
                <p14:modId xmlns:p14="http://schemas.microsoft.com/office/powerpoint/2010/main" val="2075609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7" imgH="348" progId="TCLayout.ActiveDocument.1">
                  <p:embed/>
                </p:oleObj>
              </mc:Choice>
              <mc:Fallback>
                <p:oleObj name="think-cell Foli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fik 23">
            <a:extLst>
              <a:ext uri="{FF2B5EF4-FFF2-40B4-BE49-F238E27FC236}">
                <a16:creationId xmlns:a16="http://schemas.microsoft.com/office/drawing/2014/main" id="{B32DBE17-1FC0-AB4B-95B0-6EFA7C1E699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780427" y="5882400"/>
            <a:ext cx="4136919" cy="975600"/>
          </a:xfrm>
          <a:prstGeom prst="rect">
            <a:avLst/>
          </a:prstGeom>
        </p:spPr>
      </p:pic>
      <p:sp>
        <p:nvSpPr>
          <p:cNvPr id="19" name="Untertitel 2"/>
          <p:cNvSpPr txBox="1">
            <a:spLocks/>
          </p:cNvSpPr>
          <p:nvPr userDrawn="1"/>
        </p:nvSpPr>
        <p:spPr>
          <a:xfrm>
            <a:off x="383950" y="6076425"/>
            <a:ext cx="6650934" cy="648524"/>
          </a:xfrm>
          <a:prstGeom prst="rect">
            <a:avLst/>
          </a:prstGeom>
        </p:spPr>
        <p:txBody>
          <a:bodyPr lIns="0" tIns="0" rIns="0" bIns="0"/>
          <a:lstStyle>
            <a:lvl1pPr marL="0" indent="0" algn="l" defTabSz="215900" rtl="0" eaLnBrk="1" fontAlgn="base" hangingPunct="1">
              <a:lnSpc>
                <a:spcPct val="100000"/>
              </a:lnSpc>
              <a:spcBef>
                <a:spcPct val="0"/>
              </a:spcBef>
              <a:spcAft>
                <a:spcPct val="0"/>
              </a:spcAft>
              <a:buClr>
                <a:schemeClr val="tx2"/>
              </a:buClr>
              <a:buFont typeface="Arial" charset="0"/>
              <a:buNone/>
              <a:tabLst>
                <a:tab pos="215900" algn="l"/>
              </a:tabLst>
              <a:defRPr sz="2000" kern="1200">
                <a:solidFill>
                  <a:schemeClr val="tx1"/>
                </a:solidFill>
                <a:latin typeface="Arial" panose="020B0604020202020204" pitchFamily="34" charset="0"/>
                <a:ea typeface="+mn-ea"/>
                <a:cs typeface="Arial" panose="020B0604020202020204" pitchFamily="34" charset="0"/>
              </a:defRPr>
            </a:lvl1pPr>
            <a:lvl2pPr marL="457200" indent="0" algn="ctr" rtl="0" eaLnBrk="1" fontAlgn="base" hangingPunct="1">
              <a:spcBef>
                <a:spcPct val="0"/>
              </a:spcBef>
              <a:spcAft>
                <a:spcPct val="0"/>
              </a:spcAft>
              <a:buClr>
                <a:schemeClr val="tx2"/>
              </a:buClr>
              <a:buFont typeface="Symbol"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eaLnBrk="1" fontAlgn="base" hangingPunct="1">
              <a:spcBef>
                <a:spcPct val="0"/>
              </a:spcBef>
              <a:spcAft>
                <a:spcPct val="0"/>
              </a:spcAft>
              <a:buClr>
                <a:schemeClr val="tx2"/>
              </a:buClr>
              <a:buSzPct val="80000"/>
              <a:buFont typeface="Wingdings"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eaLnBrk="1" fontAlgn="base" hangingPunct="1">
              <a:spcBef>
                <a:spcPct val="0"/>
              </a:spcBef>
              <a:spcAft>
                <a:spcPct val="0"/>
              </a:spcAft>
              <a:buClr>
                <a:schemeClr val="tx2"/>
              </a:buClr>
              <a:buSzPct val="100000"/>
              <a:buFont typeface="Arial"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eaLnBrk="1" fontAlgn="base" hangingPunct="1">
              <a:lnSpc>
                <a:spcPct val="90000"/>
              </a:lnSpc>
              <a:spcBef>
                <a:spcPct val="0"/>
              </a:spcBef>
              <a:spcAft>
                <a:spcPct val="0"/>
              </a:spcAft>
              <a:buClr>
                <a:schemeClr val="tx2"/>
              </a:buClr>
              <a:buFont typeface="Arial"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b="1" baseline="0" noProof="0" dirty="0">
                <a:solidFill>
                  <a:schemeClr val="tx2"/>
                </a:solidFill>
              </a:rPr>
              <a:t>Center for Ageing, Reliability and Lifetime Prediction of Electrochemical and Power Electronic Systems (CARL)</a:t>
            </a:r>
            <a:endParaRPr lang="de-DE" sz="1400" b="1" noProof="0" dirty="0">
              <a:solidFill>
                <a:schemeClr val="tx2"/>
              </a:solidFill>
            </a:endParaRPr>
          </a:p>
        </p:txBody>
      </p:sp>
      <p:sp>
        <p:nvSpPr>
          <p:cNvPr id="14" name="Title 1"/>
          <p:cNvSpPr>
            <a:spLocks noGrp="1"/>
          </p:cNvSpPr>
          <p:nvPr>
            <p:ph type="ctrTitle" hasCustomPrompt="1"/>
          </p:nvPr>
        </p:nvSpPr>
        <p:spPr>
          <a:xfrm>
            <a:off x="383950" y="2487599"/>
            <a:ext cx="11422513" cy="1274776"/>
          </a:xfrm>
          <a:prstGeom prst="rect">
            <a:avLst/>
          </a:prstGeom>
        </p:spPr>
        <p:txBody>
          <a:bodyPr vert="horz" lIns="0" tIns="0" rIns="0" bIns="0" anchor="ctr" anchorCtr="0">
            <a:noAutofit/>
          </a:bodyPr>
          <a:lstStyle>
            <a:lvl1pPr algn="l">
              <a:defRPr sz="3200" b="1" baseline="0">
                <a:solidFill>
                  <a:schemeClr val="tx2"/>
                </a:solidFill>
                <a:latin typeface="Arial" panose="020B0604020202020204" pitchFamily="34" charset="0"/>
                <a:cs typeface="Arial" panose="020B0604020202020204" pitchFamily="34" charset="0"/>
              </a:defRPr>
            </a:lvl1pPr>
          </a:lstStyle>
          <a:p>
            <a:r>
              <a:rPr lang="de-DE" dirty="0"/>
              <a:t>Titelmasterformat durch Klicken bearbeiten</a:t>
            </a:r>
            <a:endParaRPr lang="en-US" dirty="0"/>
          </a:p>
        </p:txBody>
      </p:sp>
      <p:sp>
        <p:nvSpPr>
          <p:cNvPr id="15" name="Subtitle 2"/>
          <p:cNvSpPr>
            <a:spLocks noGrp="1"/>
          </p:cNvSpPr>
          <p:nvPr>
            <p:ph type="subTitle" idx="1"/>
          </p:nvPr>
        </p:nvSpPr>
        <p:spPr>
          <a:xfrm>
            <a:off x="383950" y="3857624"/>
            <a:ext cx="11422513" cy="609601"/>
          </a:xfrm>
          <a:prstGeom prst="rect">
            <a:avLst/>
          </a:prstGeom>
        </p:spPr>
        <p:txBody>
          <a:bodyPr lIns="0" tIns="0" rIns="0" bIns="0"/>
          <a:lstStyle>
            <a:lvl1pPr marL="0" indent="0" algn="l">
              <a:lnSpc>
                <a:spcPct val="100000"/>
              </a:lnSpc>
              <a:buNone/>
              <a:defRPr sz="20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sp>
        <p:nvSpPr>
          <p:cNvPr id="20" name="Fußzeilenplatzhalter 2"/>
          <p:cNvSpPr>
            <a:spLocks noGrp="1"/>
          </p:cNvSpPr>
          <p:nvPr>
            <p:ph type="ftr" sz="quarter" idx="11"/>
          </p:nvPr>
        </p:nvSpPr>
        <p:spPr>
          <a:xfrm>
            <a:off x="383950" y="4980225"/>
            <a:ext cx="11425513" cy="524824"/>
          </a:xfrm>
          <a:prstGeom prst="rect">
            <a:avLst/>
          </a:prstGeom>
        </p:spPr>
        <p:txBody>
          <a:bodyPr/>
          <a:lstStyle>
            <a:lvl1pPr>
              <a:defRPr sz="2000">
                <a:solidFill>
                  <a:schemeClr val="tx1"/>
                </a:solidFill>
              </a:defRPr>
            </a:lvl1pPr>
          </a:lstStyle>
          <a:p>
            <a:r>
              <a:rPr lang="en-US"/>
              <a:t>Dirk Uwe Sauer</a:t>
            </a:r>
            <a:endParaRPr lang="en-US" dirty="0"/>
          </a:p>
        </p:txBody>
      </p:sp>
      <p:sp>
        <p:nvSpPr>
          <p:cNvPr id="21" name="Datumsplatzhalter 1"/>
          <p:cNvSpPr>
            <a:spLocks noGrp="1"/>
          </p:cNvSpPr>
          <p:nvPr>
            <p:ph type="dt" sz="half" idx="12"/>
          </p:nvPr>
        </p:nvSpPr>
        <p:spPr>
          <a:xfrm>
            <a:off x="383950" y="4675425"/>
            <a:ext cx="11425513" cy="306150"/>
          </a:xfrm>
          <a:prstGeom prst="rect">
            <a:avLst/>
          </a:prstGeom>
        </p:spPr>
        <p:txBody>
          <a:bodyPr/>
          <a:lstStyle>
            <a:lvl1pPr algn="l">
              <a:defRPr sz="2000">
                <a:solidFill>
                  <a:schemeClr val="tx1"/>
                </a:solidFill>
              </a:defRPr>
            </a:lvl1pPr>
          </a:lstStyle>
          <a:p>
            <a:pPr algn="l"/>
            <a:fld id="{11769DE8-88E0-424A-87BD-6924D1146258}" type="datetime1">
              <a:rPr lang="de-DE" smtClean="0"/>
              <a:t>03.07.2026</a:t>
            </a:fld>
            <a:endParaRPr lang="de-DE" dirty="0"/>
          </a:p>
        </p:txBody>
      </p:sp>
      <p:pic>
        <p:nvPicPr>
          <p:cNvPr id="25" name="Grafik 24">
            <a:extLst>
              <a:ext uri="{FF2B5EF4-FFF2-40B4-BE49-F238E27FC236}">
                <a16:creationId xmlns:a16="http://schemas.microsoft.com/office/drawing/2014/main" id="{AA2B8F85-1C2F-429B-357B-4FB67D027CB3}"/>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9971531" y="-6889"/>
            <a:ext cx="2239901" cy="1902117"/>
          </a:xfrm>
          <a:prstGeom prst="rect">
            <a:avLst/>
          </a:prstGeom>
        </p:spPr>
      </p:pic>
      <p:pic>
        <p:nvPicPr>
          <p:cNvPr id="26" name="Grafik 25">
            <a:extLst>
              <a:ext uri="{FF2B5EF4-FFF2-40B4-BE49-F238E27FC236}">
                <a16:creationId xmlns:a16="http://schemas.microsoft.com/office/drawing/2014/main" id="{24525F83-9971-BA94-7D3F-744B5F30ACFF}"/>
              </a:ext>
            </a:extLst>
          </p:cNvPr>
          <p:cNvPicPr>
            <a:picLocks noChangeAspect="1"/>
          </p:cNvPicPr>
          <p:nvPr userDrawn="1"/>
        </p:nvPicPr>
        <p:blipFill>
          <a:blip r:embed="rId7"/>
          <a:stretch>
            <a:fillRect/>
          </a:stretch>
        </p:blipFill>
        <p:spPr>
          <a:xfrm>
            <a:off x="-21020" y="-6889"/>
            <a:ext cx="2798307" cy="1908213"/>
          </a:xfrm>
          <a:prstGeom prst="rect">
            <a:avLst/>
          </a:prstGeom>
        </p:spPr>
      </p:pic>
      <p:pic>
        <p:nvPicPr>
          <p:cNvPr id="29" name="Grafik 28">
            <a:extLst>
              <a:ext uri="{FF2B5EF4-FFF2-40B4-BE49-F238E27FC236}">
                <a16:creationId xmlns:a16="http://schemas.microsoft.com/office/drawing/2014/main" id="{7294AE92-0AE3-89CA-C2AE-97D6097E745C}"/>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2777287" y="-6889"/>
            <a:ext cx="1436612" cy="1908000"/>
          </a:xfrm>
          <a:prstGeom prst="rect">
            <a:avLst/>
          </a:prstGeom>
        </p:spPr>
      </p:pic>
      <p:pic>
        <p:nvPicPr>
          <p:cNvPr id="30" name="Grafik 29">
            <a:extLst>
              <a:ext uri="{FF2B5EF4-FFF2-40B4-BE49-F238E27FC236}">
                <a16:creationId xmlns:a16="http://schemas.microsoft.com/office/drawing/2014/main" id="{598C049B-1EB8-D191-76F1-BA20D60F4BCA}"/>
              </a:ext>
            </a:extLst>
          </p:cNvPr>
          <p:cNvPicPr>
            <a:picLocks noChangeAspect="1"/>
          </p:cNvPicPr>
          <p:nvPr userDrawn="1"/>
        </p:nvPicPr>
        <p:blipFill rotWithShape="1">
          <a:blip r:embed="rId9" cstate="hqprint">
            <a:extLst>
              <a:ext uri="{28A0092B-C50C-407E-A947-70E740481C1C}">
                <a14:useLocalDpi xmlns:a14="http://schemas.microsoft.com/office/drawing/2010/main"/>
              </a:ext>
            </a:extLst>
          </a:blip>
          <a:srcRect/>
          <a:stretch/>
        </p:blipFill>
        <p:spPr>
          <a:xfrm>
            <a:off x="4213899" y="-6889"/>
            <a:ext cx="2491702" cy="1908000"/>
          </a:xfrm>
          <a:prstGeom prst="rect">
            <a:avLst/>
          </a:prstGeom>
        </p:spPr>
      </p:pic>
      <p:pic>
        <p:nvPicPr>
          <p:cNvPr id="31" name="Grafik 30">
            <a:extLst>
              <a:ext uri="{FF2B5EF4-FFF2-40B4-BE49-F238E27FC236}">
                <a16:creationId xmlns:a16="http://schemas.microsoft.com/office/drawing/2014/main" id="{A427F757-A5F0-F6D8-392D-FFDE4FDBF3F6}"/>
              </a:ext>
            </a:extLst>
          </p:cNvPr>
          <p:cNvPicPr>
            <a:picLocks noChangeAspect="1"/>
          </p:cNvPicPr>
          <p:nvPr userDrawn="1"/>
        </p:nvPicPr>
        <p:blipFill rotWithShape="1">
          <a:blip r:embed="rId10" cstate="hqprint">
            <a:extLst>
              <a:ext uri="{28A0092B-C50C-407E-A947-70E740481C1C}">
                <a14:useLocalDpi xmlns:a14="http://schemas.microsoft.com/office/drawing/2010/main"/>
              </a:ext>
            </a:extLst>
          </a:blip>
          <a:srcRect/>
          <a:stretch/>
        </p:blipFill>
        <p:spPr>
          <a:xfrm>
            <a:off x="6660046" y="-6889"/>
            <a:ext cx="3321996" cy="1908000"/>
          </a:xfrm>
          <a:prstGeom prst="rect">
            <a:avLst/>
          </a:prstGeom>
        </p:spPr>
      </p:pic>
      <p:sp>
        <p:nvSpPr>
          <p:cNvPr id="28" name="Textfeld 27"/>
          <p:cNvSpPr txBox="1"/>
          <p:nvPr userDrawn="1"/>
        </p:nvSpPr>
        <p:spPr>
          <a:xfrm>
            <a:off x="0" y="1845525"/>
            <a:ext cx="12196800" cy="246221"/>
          </a:xfrm>
          <a:prstGeom prst="rect">
            <a:avLst/>
          </a:prstGeom>
          <a:solidFill>
            <a:srgbClr val="00549F"/>
          </a:solidFill>
        </p:spPr>
        <p:txBody>
          <a:bodyPr wrap="square" rtlCol="0" anchor="ctr">
            <a:spAutoFit/>
          </a:bodyPr>
          <a:lstStyle/>
          <a:p>
            <a:pPr algn="ctr"/>
            <a:r>
              <a:rPr lang="en-US" sz="1000" noProof="0" dirty="0">
                <a:solidFill>
                  <a:schemeClr val="bg1"/>
                </a:solidFill>
              </a:rPr>
              <a:t>Ageing     •     Models     •     Diagnostics     •     Pack Design     •     </a:t>
            </a:r>
            <a:r>
              <a:rPr lang="en-US" sz="1000" noProof="0" dirty="0" err="1">
                <a:solidFill>
                  <a:schemeClr val="bg1"/>
                </a:solidFill>
              </a:rPr>
              <a:t>Electromobility</a:t>
            </a:r>
            <a:r>
              <a:rPr lang="en-US" sz="1000" noProof="0" dirty="0">
                <a:solidFill>
                  <a:schemeClr val="bg1"/>
                </a:solidFill>
              </a:rPr>
              <a:t>     •     Stationary Energy Storage     •     Energy System Analysis</a:t>
            </a:r>
          </a:p>
        </p:txBody>
      </p:sp>
    </p:spTree>
    <p:extLst>
      <p:ext uri="{BB962C8B-B14F-4D97-AF65-F5344CB8AC3E}">
        <p14:creationId xmlns:p14="http://schemas.microsoft.com/office/powerpoint/2010/main" val="38585325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aphicFrame>
        <p:nvGraphicFramePr>
          <p:cNvPr id="23" name="Objekt 22" hidden="1">
            <a:extLst>
              <a:ext uri="{FF2B5EF4-FFF2-40B4-BE49-F238E27FC236}">
                <a16:creationId xmlns:a16="http://schemas.microsoft.com/office/drawing/2014/main" id="{82E43DA6-6AC1-9462-BF8C-A82E0366A897}"/>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7" imgH="348" progId="TCLayout.ActiveDocument.1">
                  <p:embed/>
                </p:oleObj>
              </mc:Choice>
              <mc:Fallback>
                <p:oleObj name="think-cell Folie" r:id="rId3" imgW="347" imgH="348" progId="TCLayout.ActiveDocument.1">
                  <p:embed/>
                  <p:pic>
                    <p:nvPicPr>
                      <p:cNvPr id="23" name="Objekt 22" hidden="1">
                        <a:extLst>
                          <a:ext uri="{FF2B5EF4-FFF2-40B4-BE49-F238E27FC236}">
                            <a16:creationId xmlns:a16="http://schemas.microsoft.com/office/drawing/2014/main" id="{82E43DA6-6AC1-9462-BF8C-A82E0366A8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fik 23">
            <a:extLst>
              <a:ext uri="{FF2B5EF4-FFF2-40B4-BE49-F238E27FC236}">
                <a16:creationId xmlns:a16="http://schemas.microsoft.com/office/drawing/2014/main" id="{B32DBE17-1FC0-AB4B-95B0-6EFA7C1E699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780427" y="5882400"/>
            <a:ext cx="4136919" cy="975600"/>
          </a:xfrm>
          <a:prstGeom prst="rect">
            <a:avLst/>
          </a:prstGeom>
        </p:spPr>
      </p:pic>
      <p:sp>
        <p:nvSpPr>
          <p:cNvPr id="19" name="Untertitel 2"/>
          <p:cNvSpPr txBox="1">
            <a:spLocks/>
          </p:cNvSpPr>
          <p:nvPr userDrawn="1"/>
        </p:nvSpPr>
        <p:spPr>
          <a:xfrm>
            <a:off x="383950" y="6076425"/>
            <a:ext cx="6650934" cy="648524"/>
          </a:xfrm>
          <a:prstGeom prst="rect">
            <a:avLst/>
          </a:prstGeom>
        </p:spPr>
        <p:txBody>
          <a:bodyPr lIns="0" tIns="0" rIns="0" bIns="0"/>
          <a:lstStyle>
            <a:lvl1pPr marL="0" indent="0" algn="l" defTabSz="215900" rtl="0" eaLnBrk="1" fontAlgn="base" hangingPunct="1">
              <a:lnSpc>
                <a:spcPct val="100000"/>
              </a:lnSpc>
              <a:spcBef>
                <a:spcPct val="0"/>
              </a:spcBef>
              <a:spcAft>
                <a:spcPct val="0"/>
              </a:spcAft>
              <a:buClr>
                <a:schemeClr val="tx2"/>
              </a:buClr>
              <a:buFont typeface="Arial" charset="0"/>
              <a:buNone/>
              <a:tabLst>
                <a:tab pos="215900" algn="l"/>
              </a:tabLst>
              <a:defRPr sz="2000" kern="1200">
                <a:solidFill>
                  <a:schemeClr val="tx1"/>
                </a:solidFill>
                <a:latin typeface="Arial" panose="020B0604020202020204" pitchFamily="34" charset="0"/>
                <a:ea typeface="+mn-ea"/>
                <a:cs typeface="Arial" panose="020B0604020202020204" pitchFamily="34" charset="0"/>
              </a:defRPr>
            </a:lvl1pPr>
            <a:lvl2pPr marL="457200" indent="0" algn="ctr" rtl="0" eaLnBrk="1" fontAlgn="base" hangingPunct="1">
              <a:spcBef>
                <a:spcPct val="0"/>
              </a:spcBef>
              <a:spcAft>
                <a:spcPct val="0"/>
              </a:spcAft>
              <a:buClr>
                <a:schemeClr val="tx2"/>
              </a:buClr>
              <a:buFont typeface="Symbol"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eaLnBrk="1" fontAlgn="base" hangingPunct="1">
              <a:spcBef>
                <a:spcPct val="0"/>
              </a:spcBef>
              <a:spcAft>
                <a:spcPct val="0"/>
              </a:spcAft>
              <a:buClr>
                <a:schemeClr val="tx2"/>
              </a:buClr>
              <a:buSzPct val="80000"/>
              <a:buFont typeface="Wingdings"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eaLnBrk="1" fontAlgn="base" hangingPunct="1">
              <a:spcBef>
                <a:spcPct val="0"/>
              </a:spcBef>
              <a:spcAft>
                <a:spcPct val="0"/>
              </a:spcAft>
              <a:buClr>
                <a:schemeClr val="tx2"/>
              </a:buClr>
              <a:buSzPct val="100000"/>
              <a:buFont typeface="Arial"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eaLnBrk="1" fontAlgn="base" hangingPunct="1">
              <a:lnSpc>
                <a:spcPct val="90000"/>
              </a:lnSpc>
              <a:spcBef>
                <a:spcPct val="0"/>
              </a:spcBef>
              <a:spcAft>
                <a:spcPct val="0"/>
              </a:spcAft>
              <a:buClr>
                <a:schemeClr val="tx2"/>
              </a:buClr>
              <a:buFont typeface="Arial"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b="1" baseline="0" noProof="0" dirty="0">
                <a:solidFill>
                  <a:schemeClr val="tx2"/>
                </a:solidFill>
              </a:rPr>
              <a:t>Center for Ageing, Reliability and Lifetime Prediction of Electrochemical and Power Electronic Systems (CARL)</a:t>
            </a:r>
            <a:endParaRPr lang="de-DE" sz="1400" b="1" noProof="0" dirty="0">
              <a:solidFill>
                <a:schemeClr val="tx2"/>
              </a:solidFill>
            </a:endParaRPr>
          </a:p>
        </p:txBody>
      </p:sp>
      <p:sp>
        <p:nvSpPr>
          <p:cNvPr id="14" name="Title 1"/>
          <p:cNvSpPr>
            <a:spLocks noGrp="1"/>
          </p:cNvSpPr>
          <p:nvPr>
            <p:ph type="ctrTitle" hasCustomPrompt="1"/>
          </p:nvPr>
        </p:nvSpPr>
        <p:spPr>
          <a:xfrm>
            <a:off x="383950" y="2487599"/>
            <a:ext cx="11422513" cy="1274776"/>
          </a:xfrm>
          <a:prstGeom prst="rect">
            <a:avLst/>
          </a:prstGeom>
        </p:spPr>
        <p:txBody>
          <a:bodyPr vert="horz" lIns="0" tIns="0" rIns="0" bIns="0" anchor="ctr" anchorCtr="0">
            <a:noAutofit/>
          </a:bodyPr>
          <a:lstStyle>
            <a:lvl1pPr algn="l">
              <a:defRPr sz="3200" b="1" baseline="0">
                <a:solidFill>
                  <a:schemeClr val="tx2"/>
                </a:solidFill>
                <a:latin typeface="Arial" panose="020B0604020202020204" pitchFamily="34" charset="0"/>
                <a:cs typeface="Arial" panose="020B0604020202020204" pitchFamily="34" charset="0"/>
              </a:defRPr>
            </a:lvl1pPr>
          </a:lstStyle>
          <a:p>
            <a:r>
              <a:rPr lang="de-DE" dirty="0"/>
              <a:t>Titelmasterformat durch Klicken bearbeiten</a:t>
            </a:r>
            <a:endParaRPr lang="en-US" dirty="0"/>
          </a:p>
        </p:txBody>
      </p:sp>
      <p:sp>
        <p:nvSpPr>
          <p:cNvPr id="15" name="Subtitle 2"/>
          <p:cNvSpPr>
            <a:spLocks noGrp="1"/>
          </p:cNvSpPr>
          <p:nvPr>
            <p:ph type="subTitle" idx="1"/>
          </p:nvPr>
        </p:nvSpPr>
        <p:spPr>
          <a:xfrm>
            <a:off x="383950" y="3857624"/>
            <a:ext cx="11422513" cy="609601"/>
          </a:xfrm>
          <a:prstGeom prst="rect">
            <a:avLst/>
          </a:prstGeom>
        </p:spPr>
        <p:txBody>
          <a:bodyPr lIns="0" tIns="0" rIns="0" bIns="0"/>
          <a:lstStyle>
            <a:lvl1pPr marL="0" indent="0" algn="l">
              <a:lnSpc>
                <a:spcPct val="100000"/>
              </a:lnSpc>
              <a:buNone/>
              <a:defRPr sz="20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dirty="0"/>
          </a:p>
        </p:txBody>
      </p:sp>
      <p:sp>
        <p:nvSpPr>
          <p:cNvPr id="20" name="Fußzeilenplatzhalter 2"/>
          <p:cNvSpPr>
            <a:spLocks noGrp="1"/>
          </p:cNvSpPr>
          <p:nvPr>
            <p:ph type="ftr" sz="quarter" idx="11"/>
          </p:nvPr>
        </p:nvSpPr>
        <p:spPr>
          <a:xfrm>
            <a:off x="383950" y="4980225"/>
            <a:ext cx="11425513" cy="524824"/>
          </a:xfrm>
          <a:prstGeom prst="rect">
            <a:avLst/>
          </a:prstGeom>
        </p:spPr>
        <p:txBody>
          <a:bodyPr/>
          <a:lstStyle>
            <a:lvl1pPr>
              <a:defRPr sz="2000">
                <a:solidFill>
                  <a:schemeClr val="tx1"/>
                </a:solidFill>
              </a:defRPr>
            </a:lvl1pPr>
          </a:lstStyle>
          <a:p>
            <a:r>
              <a:rPr lang="en-US"/>
              <a:t>Dirk Uwe Sauer</a:t>
            </a:r>
            <a:endParaRPr lang="en-US" dirty="0"/>
          </a:p>
        </p:txBody>
      </p:sp>
      <p:sp>
        <p:nvSpPr>
          <p:cNvPr id="21" name="Datumsplatzhalter 1"/>
          <p:cNvSpPr>
            <a:spLocks noGrp="1"/>
          </p:cNvSpPr>
          <p:nvPr>
            <p:ph type="dt" sz="half" idx="12"/>
          </p:nvPr>
        </p:nvSpPr>
        <p:spPr>
          <a:xfrm>
            <a:off x="383950" y="4675425"/>
            <a:ext cx="11425513" cy="306150"/>
          </a:xfrm>
          <a:prstGeom prst="rect">
            <a:avLst/>
          </a:prstGeom>
        </p:spPr>
        <p:txBody>
          <a:bodyPr/>
          <a:lstStyle>
            <a:lvl1pPr algn="l">
              <a:defRPr sz="2000">
                <a:solidFill>
                  <a:schemeClr val="tx1"/>
                </a:solidFill>
              </a:defRPr>
            </a:lvl1pPr>
          </a:lstStyle>
          <a:p>
            <a:pPr algn="l"/>
            <a:fld id="{11769DE8-88E0-424A-87BD-6924D1146258}" type="datetime1">
              <a:rPr lang="de-DE" smtClean="0"/>
              <a:t>03.07.2026</a:t>
            </a:fld>
            <a:endParaRPr lang="de-DE" dirty="0"/>
          </a:p>
        </p:txBody>
      </p:sp>
      <p:pic>
        <p:nvPicPr>
          <p:cNvPr id="16" name="Grafik 15"/>
          <p:cNvPicPr>
            <a:picLocks noChangeAspect="1"/>
          </p:cNvPicPr>
          <p:nvPr userDrawn="1"/>
        </p:nvPicPr>
        <p:blipFill rotWithShape="1">
          <a:blip r:embed="rId6">
            <a:extLst>
              <a:ext uri="{28A0092B-C50C-407E-A947-70E740481C1C}">
                <a14:useLocalDpi xmlns:a14="http://schemas.microsoft.com/office/drawing/2010/main" val="0"/>
              </a:ext>
            </a:extLst>
          </a:blip>
          <a:srcRect t="28184" b="31438"/>
          <a:stretch/>
        </p:blipFill>
        <p:spPr>
          <a:xfrm>
            <a:off x="0" y="0"/>
            <a:ext cx="12190413" cy="2768838"/>
          </a:xfrm>
          <a:prstGeom prst="rect">
            <a:avLst/>
          </a:prstGeom>
        </p:spPr>
      </p:pic>
    </p:spTree>
    <p:extLst>
      <p:ext uri="{BB962C8B-B14F-4D97-AF65-F5344CB8AC3E}">
        <p14:creationId xmlns:p14="http://schemas.microsoft.com/office/powerpoint/2010/main" val="20579938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Variation">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3EDB484-2CE3-6C17-125C-BA42A2A3B841}"/>
              </a:ext>
            </a:extLst>
          </p:cNvPr>
          <p:cNvGraphicFramePr>
            <a:graphicFrameLocks noChangeAspect="1"/>
          </p:cNvGraphicFramePr>
          <p:nvPr userDrawn="1">
            <p:custDataLst>
              <p:tags r:id="rId1"/>
            </p:custDataLst>
            <p:extLst>
              <p:ext uri="{D42A27DB-BD31-4B8C-83A1-F6EECF244321}">
                <p14:modId xmlns:p14="http://schemas.microsoft.com/office/powerpoint/2010/main" val="213118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7" imgH="348" progId="TCLayout.ActiveDocument.1">
                  <p:embed/>
                </p:oleObj>
              </mc:Choice>
              <mc:Fallback>
                <p:oleObj name="think-cell Folie" r:id="rId3" imgW="347" imgH="34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Untertitel 2"/>
          <p:cNvSpPr txBox="1">
            <a:spLocks/>
          </p:cNvSpPr>
          <p:nvPr/>
        </p:nvSpPr>
        <p:spPr>
          <a:xfrm>
            <a:off x="383950" y="6076425"/>
            <a:ext cx="6650934" cy="648524"/>
          </a:xfrm>
          <a:prstGeom prst="rect">
            <a:avLst/>
          </a:prstGeom>
        </p:spPr>
        <p:txBody>
          <a:bodyPr lIns="0" tIns="0" rIns="0" bIns="0"/>
          <a:lstStyle>
            <a:lvl1pPr marL="0" indent="0" algn="l" defTabSz="215900" rtl="0" eaLnBrk="1" fontAlgn="base" hangingPunct="1">
              <a:lnSpc>
                <a:spcPct val="100000"/>
              </a:lnSpc>
              <a:spcBef>
                <a:spcPct val="0"/>
              </a:spcBef>
              <a:spcAft>
                <a:spcPct val="0"/>
              </a:spcAft>
              <a:buClr>
                <a:schemeClr val="tx2"/>
              </a:buClr>
              <a:buFont typeface="Arial" charset="0"/>
              <a:buNone/>
              <a:tabLst>
                <a:tab pos="215900" algn="l"/>
              </a:tabLst>
              <a:defRPr sz="2000" kern="1200">
                <a:solidFill>
                  <a:schemeClr val="tx1"/>
                </a:solidFill>
                <a:latin typeface="Arial" panose="020B0604020202020204" pitchFamily="34" charset="0"/>
                <a:ea typeface="+mn-ea"/>
                <a:cs typeface="Arial" panose="020B0604020202020204" pitchFamily="34" charset="0"/>
              </a:defRPr>
            </a:lvl1pPr>
            <a:lvl2pPr marL="457200" indent="0" algn="ctr" rtl="0" eaLnBrk="1" fontAlgn="base" hangingPunct="1">
              <a:spcBef>
                <a:spcPct val="0"/>
              </a:spcBef>
              <a:spcAft>
                <a:spcPct val="0"/>
              </a:spcAft>
              <a:buClr>
                <a:schemeClr val="tx2"/>
              </a:buClr>
              <a:buFont typeface="Symbol" pitchFamily="18" charset="2"/>
              <a:buNone/>
              <a:tabLst>
                <a:tab pos="431800" algn="l"/>
              </a:tabLst>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215900" rtl="0" eaLnBrk="1" fontAlgn="base" hangingPunct="1">
              <a:spcBef>
                <a:spcPct val="0"/>
              </a:spcBef>
              <a:spcAft>
                <a:spcPct val="0"/>
              </a:spcAft>
              <a:buClr>
                <a:schemeClr val="tx2"/>
              </a:buClr>
              <a:buSzPct val="80000"/>
              <a:buFont typeface="Wingdings" pitchFamily="2" charset="2"/>
              <a:buNone/>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215900" rtl="0" eaLnBrk="1" fontAlgn="base" hangingPunct="1">
              <a:spcBef>
                <a:spcPct val="0"/>
              </a:spcBef>
              <a:spcAft>
                <a:spcPct val="0"/>
              </a:spcAft>
              <a:buClr>
                <a:schemeClr val="tx2"/>
              </a:buClr>
              <a:buSzPct val="100000"/>
              <a:buFont typeface="Arial" charset="0"/>
              <a:buNone/>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828800" indent="0" algn="ctr" rtl="0" eaLnBrk="1" fontAlgn="base" hangingPunct="1">
              <a:lnSpc>
                <a:spcPct val="90000"/>
              </a:lnSpc>
              <a:spcBef>
                <a:spcPct val="0"/>
              </a:spcBef>
              <a:spcAft>
                <a:spcPct val="0"/>
              </a:spcAft>
              <a:buClr>
                <a:schemeClr val="tx2"/>
              </a:buClr>
              <a:buFont typeface="Arial" charset="0"/>
              <a:buNone/>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b="1" baseline="0" noProof="0" dirty="0">
                <a:solidFill>
                  <a:schemeClr val="tx2"/>
                </a:solidFill>
              </a:rPr>
              <a:t>Center for Ageing, Reliability and Lifetime Prediction of Electrochemical and Power Electronic Systems (CARL)</a:t>
            </a:r>
            <a:endParaRPr lang="de-DE" sz="1400" b="1" noProof="0" dirty="0">
              <a:solidFill>
                <a:schemeClr val="tx2"/>
              </a:solidFill>
            </a:endParaRPr>
          </a:p>
        </p:txBody>
      </p:sp>
      <p:pic>
        <p:nvPicPr>
          <p:cNvPr id="3" name="Grafik 2">
            <a:extLst>
              <a:ext uri="{FF2B5EF4-FFF2-40B4-BE49-F238E27FC236}">
                <a16:creationId xmlns:a16="http://schemas.microsoft.com/office/drawing/2014/main" id="{8BE732BF-45DE-7D5A-44D7-817BE9259449}"/>
              </a:ext>
            </a:extLst>
          </p:cNvPr>
          <p:cNvPicPr>
            <a:picLocks noChangeAspect="1"/>
          </p:cNvPicPr>
          <p:nvPr userDrawn="1"/>
        </p:nvPicPr>
        <p:blipFill rotWithShape="1">
          <a:blip r:embed="rId5" cstate="hqprint">
            <a:extLst>
              <a:ext uri="{28A0092B-C50C-407E-A947-70E740481C1C}">
                <a14:useLocalDpi xmlns:a14="http://schemas.microsoft.com/office/drawing/2010/main"/>
              </a:ext>
            </a:extLst>
          </a:blip>
          <a:srcRect/>
          <a:stretch/>
        </p:blipFill>
        <p:spPr>
          <a:xfrm>
            <a:off x="-1588" y="0"/>
            <a:ext cx="12192000" cy="2724150"/>
          </a:xfrm>
          <a:prstGeom prst="rect">
            <a:avLst/>
          </a:prstGeom>
        </p:spPr>
      </p:pic>
      <p:sp>
        <p:nvSpPr>
          <p:cNvPr id="4" name="Title 1">
            <a:extLst>
              <a:ext uri="{FF2B5EF4-FFF2-40B4-BE49-F238E27FC236}">
                <a16:creationId xmlns:a16="http://schemas.microsoft.com/office/drawing/2014/main" id="{D5D779DE-3A3C-0111-74C8-682A0D82849A}"/>
              </a:ext>
            </a:extLst>
          </p:cNvPr>
          <p:cNvSpPr>
            <a:spLocks noGrp="1"/>
          </p:cNvSpPr>
          <p:nvPr>
            <p:ph type="ctrTitle"/>
          </p:nvPr>
        </p:nvSpPr>
        <p:spPr>
          <a:xfrm>
            <a:off x="383950" y="2725724"/>
            <a:ext cx="11422513" cy="1274776"/>
          </a:xfrm>
          <a:prstGeom prst="rect">
            <a:avLst/>
          </a:prstGeom>
        </p:spPr>
        <p:txBody>
          <a:bodyPr vert="horz" lIns="0" tIns="0" rIns="0" bIns="0" anchor="ctr" anchorCtr="0">
            <a:noAutofit/>
          </a:bodyPr>
          <a:lstStyle>
            <a:lvl1pPr algn="l">
              <a:defRPr sz="3200" b="1" baseline="0">
                <a:solidFill>
                  <a:schemeClr val="tx2"/>
                </a:solidFill>
                <a:latin typeface="Arial" panose="020B0604020202020204" pitchFamily="34" charset="0"/>
                <a:cs typeface="Arial" panose="020B0604020202020204" pitchFamily="34" charset="0"/>
              </a:defRPr>
            </a:lvl1pPr>
          </a:lstStyle>
          <a:p>
            <a:r>
              <a:rPr lang="de-DE" dirty="0"/>
              <a:t>Mastertitelformat bearbeiten</a:t>
            </a:r>
            <a:endParaRPr lang="en-US" dirty="0"/>
          </a:p>
        </p:txBody>
      </p:sp>
      <p:sp>
        <p:nvSpPr>
          <p:cNvPr id="5" name="Subtitle 2">
            <a:extLst>
              <a:ext uri="{FF2B5EF4-FFF2-40B4-BE49-F238E27FC236}">
                <a16:creationId xmlns:a16="http://schemas.microsoft.com/office/drawing/2014/main" id="{04D60B6E-B296-5ECC-8210-452542903AF3}"/>
              </a:ext>
            </a:extLst>
          </p:cNvPr>
          <p:cNvSpPr>
            <a:spLocks noGrp="1"/>
          </p:cNvSpPr>
          <p:nvPr>
            <p:ph type="subTitle" idx="1"/>
          </p:nvPr>
        </p:nvSpPr>
        <p:spPr>
          <a:xfrm>
            <a:off x="383950" y="4095749"/>
            <a:ext cx="11422513" cy="609601"/>
          </a:xfrm>
          <a:prstGeom prst="rect">
            <a:avLst/>
          </a:prstGeom>
        </p:spPr>
        <p:txBody>
          <a:bodyPr lIns="0" tIns="0" rIns="0" bIns="0"/>
          <a:lstStyle>
            <a:lvl1pPr marL="0" indent="0" algn="l">
              <a:lnSpc>
                <a:spcPct val="100000"/>
              </a:lnSpc>
              <a:buNone/>
              <a:defRPr sz="20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Fußzeilenplatzhalter 2">
            <a:extLst>
              <a:ext uri="{FF2B5EF4-FFF2-40B4-BE49-F238E27FC236}">
                <a16:creationId xmlns:a16="http://schemas.microsoft.com/office/drawing/2014/main" id="{A11F7A1D-4159-1199-CB01-7609847A8965}"/>
              </a:ext>
            </a:extLst>
          </p:cNvPr>
          <p:cNvSpPr>
            <a:spLocks noGrp="1"/>
          </p:cNvSpPr>
          <p:nvPr>
            <p:ph type="ftr" sz="quarter" idx="11"/>
          </p:nvPr>
        </p:nvSpPr>
        <p:spPr>
          <a:xfrm>
            <a:off x="383950" y="5218350"/>
            <a:ext cx="11425513" cy="524824"/>
          </a:xfrm>
        </p:spPr>
        <p:txBody>
          <a:bodyPr/>
          <a:lstStyle>
            <a:lvl1pPr>
              <a:defRPr sz="2000">
                <a:solidFill>
                  <a:schemeClr val="tx1"/>
                </a:solidFill>
              </a:defRPr>
            </a:lvl1pPr>
          </a:lstStyle>
          <a:p>
            <a:r>
              <a:rPr lang="en-US" dirty="0"/>
              <a:t>Dirk Uwe Sauer</a:t>
            </a:r>
          </a:p>
        </p:txBody>
      </p:sp>
      <p:sp>
        <p:nvSpPr>
          <p:cNvPr id="8" name="Datumsplatzhalter 1">
            <a:extLst>
              <a:ext uri="{FF2B5EF4-FFF2-40B4-BE49-F238E27FC236}">
                <a16:creationId xmlns:a16="http://schemas.microsoft.com/office/drawing/2014/main" id="{A90B5ED5-559A-FC0F-F718-676A02DA7743}"/>
              </a:ext>
            </a:extLst>
          </p:cNvPr>
          <p:cNvSpPr>
            <a:spLocks noGrp="1"/>
          </p:cNvSpPr>
          <p:nvPr>
            <p:ph type="dt" sz="half" idx="12"/>
          </p:nvPr>
        </p:nvSpPr>
        <p:spPr>
          <a:xfrm>
            <a:off x="383950" y="4913550"/>
            <a:ext cx="11425513" cy="306150"/>
          </a:xfrm>
        </p:spPr>
        <p:txBody>
          <a:bodyPr/>
          <a:lstStyle>
            <a:lvl1pPr algn="l">
              <a:defRPr sz="2000">
                <a:solidFill>
                  <a:schemeClr val="tx1"/>
                </a:solidFill>
              </a:defRPr>
            </a:lvl1pPr>
          </a:lstStyle>
          <a:p>
            <a:pPr algn="l"/>
            <a:fld id="{6D3069C6-0311-4A39-8CC1-DA405FE38D0C}" type="datetime1">
              <a:rPr lang="de-DE" smtClean="0"/>
              <a:t>03.07.2026</a:t>
            </a:fld>
            <a:endParaRPr lang="de-DE" dirty="0"/>
          </a:p>
        </p:txBody>
      </p:sp>
      <p:pic>
        <p:nvPicPr>
          <p:cNvPr id="12" name="Grafik 11">
            <a:extLst>
              <a:ext uri="{FF2B5EF4-FFF2-40B4-BE49-F238E27FC236}">
                <a16:creationId xmlns:a16="http://schemas.microsoft.com/office/drawing/2014/main" id="{D686527B-99CF-A07F-F7C2-A9F2E7502B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780427" y="5882400"/>
            <a:ext cx="4136919" cy="975600"/>
          </a:xfrm>
          <a:prstGeom prst="rect">
            <a:avLst/>
          </a:prstGeom>
        </p:spPr>
      </p:pic>
    </p:spTree>
    <p:extLst>
      <p:ext uri="{BB962C8B-B14F-4D97-AF65-F5344CB8AC3E}">
        <p14:creationId xmlns:p14="http://schemas.microsoft.com/office/powerpoint/2010/main" val="41145211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Final Slide">
    <p:spTree>
      <p:nvGrpSpPr>
        <p:cNvPr id="1" name=""/>
        <p:cNvGrpSpPr/>
        <p:nvPr/>
      </p:nvGrpSpPr>
      <p:grpSpPr>
        <a:xfrm>
          <a:off x="0" y="0"/>
          <a:ext cx="0" cy="0"/>
          <a:chOff x="0" y="0"/>
          <a:chExt cx="0" cy="0"/>
        </a:xfrm>
      </p:grpSpPr>
      <p:sp>
        <p:nvSpPr>
          <p:cNvPr id="13" name="Title 1"/>
          <p:cNvSpPr txBox="1">
            <a:spLocks/>
          </p:cNvSpPr>
          <p:nvPr/>
        </p:nvSpPr>
        <p:spPr>
          <a:xfrm>
            <a:off x="383068" y="801688"/>
            <a:ext cx="11424279" cy="1079500"/>
          </a:xfrm>
          <a:prstGeom prst="rect">
            <a:avLst/>
          </a:prstGeom>
        </p:spPr>
        <p:txBody>
          <a:bodyPr lIns="0" tIns="0" rIns="0" bIns="0"/>
          <a:lstStyle>
            <a:lvl1pPr algn="l" defTabSz="914400" rtl="0" eaLnBrk="1" latinLnBrk="0" hangingPunct="1">
              <a:lnSpc>
                <a:spcPct val="90000"/>
              </a:lnSpc>
              <a:spcBef>
                <a:spcPct val="0"/>
              </a:spcBef>
              <a:buNone/>
              <a:defRPr sz="3200" b="1" kern="1200" baseline="0">
                <a:solidFill>
                  <a:schemeClr val="tx2"/>
                </a:solidFill>
                <a:latin typeface="Arial" panose="020B0604020202020204" pitchFamily="34" charset="0"/>
                <a:ea typeface="+mj-ea"/>
                <a:cs typeface="Arial" panose="020B0604020202020204" pitchFamily="34" charset="0"/>
              </a:defRPr>
            </a:lvl1pPr>
          </a:lstStyle>
          <a:p>
            <a:pPr fontAlgn="auto">
              <a:spcAft>
                <a:spcPts val="0"/>
              </a:spcAft>
              <a:defRPr/>
            </a:pPr>
            <a:r>
              <a:rPr lang="en-US" noProof="0" dirty="0"/>
              <a:t>Thank you</a:t>
            </a:r>
            <a:br>
              <a:rPr lang="en-US" noProof="0" dirty="0"/>
            </a:br>
            <a:r>
              <a:rPr lang="en-US" noProof="0" dirty="0"/>
              <a:t>for your attention</a:t>
            </a:r>
          </a:p>
        </p:txBody>
      </p:sp>
      <p:cxnSp>
        <p:nvCxnSpPr>
          <p:cNvPr id="18" name="Gerader Verbinder 11"/>
          <p:cNvCxnSpPr/>
          <p:nvPr/>
        </p:nvCxnSpPr>
        <p:spPr>
          <a:xfrm>
            <a:off x="383068" y="6202363"/>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hteck 18"/>
          <p:cNvSpPr/>
          <p:nvPr/>
        </p:nvSpPr>
        <p:spPr>
          <a:xfrm>
            <a:off x="6249086" y="2124077"/>
            <a:ext cx="5561876" cy="37548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p:cNvSpPr/>
          <p:nvPr/>
        </p:nvSpPr>
        <p:spPr>
          <a:xfrm>
            <a:off x="392649" y="2124076"/>
            <a:ext cx="5561876" cy="375666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1" name="Grafik 2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55573" y="4878751"/>
            <a:ext cx="952500" cy="952500"/>
          </a:xfrm>
          <a:prstGeom prst="rect">
            <a:avLst/>
          </a:prstGeom>
        </p:spPr>
      </p:pic>
      <p:sp>
        <p:nvSpPr>
          <p:cNvPr id="22" name="Textplatzhalter 3"/>
          <p:cNvSpPr txBox="1">
            <a:spLocks/>
          </p:cNvSpPr>
          <p:nvPr/>
        </p:nvSpPr>
        <p:spPr>
          <a:xfrm>
            <a:off x="392649" y="2133599"/>
            <a:ext cx="5561876" cy="3745278"/>
          </a:xfrm>
          <a:prstGeom prst="rect">
            <a:avLst/>
          </a:prstGeom>
        </p:spPr>
        <p:txBody>
          <a:bodyPr lIns="90000" tIns="36000" rIns="90000" bIns="36000"/>
          <a:lstStyle>
            <a:lvl1pPr marL="0" indent="0" algn="l" defTabSz="216000" rtl="0" eaLnBrk="1" fontAlgn="base" hangingPunct="1">
              <a:lnSpc>
                <a:spcPct val="100000"/>
              </a:lnSpc>
              <a:spcBef>
                <a:spcPts val="0"/>
              </a:spcBef>
              <a:spcAft>
                <a:spcPct val="0"/>
              </a:spcAft>
              <a:buClr>
                <a:schemeClr val="tx2"/>
              </a:buClr>
              <a:buFont typeface="Arial" panose="020B0604020202020204" pitchFamily="34" charset="0"/>
              <a:buNone/>
              <a:tabLst>
                <a:tab pos="216000" algn="l"/>
              </a:tabLst>
              <a:defRPr sz="1600" b="1"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8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Contact</a:t>
            </a:r>
            <a:endParaRPr kumimoji="0" lang="en-US" sz="1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Chair for Electrochemical Energy Conversion</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and Storage Systems</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Univ.-Prof. Dr. </a:t>
            </a:r>
            <a:r>
              <a:rPr kumimoji="0" lang="en-US" sz="1400" b="0" i="0" u="none" strike="noStrike" kern="1200" cap="none" spc="0" normalizeH="0" baseline="0" noProof="0" dirty="0" err="1">
                <a:ln>
                  <a:noFill/>
                </a:ln>
                <a:solidFill>
                  <a:sysClr val="windowText" lastClr="000000"/>
                </a:solidFill>
                <a:effectLst/>
                <a:uLnTx/>
                <a:uFillTx/>
                <a:latin typeface="Arial" panose="020B0604020202020204" pitchFamily="34" charset="0"/>
                <a:ea typeface="+mn-ea"/>
                <a:cs typeface="Arial" panose="020B0604020202020204" pitchFamily="34" charset="0"/>
              </a:rPr>
              <a:t>rer</a:t>
            </a: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nat. Dirk Uwe Sauer</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RWTH Aachen University</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Campus-Boulevard 89</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52074 Aachen</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GERMANY</a:t>
            </a: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endPar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www.isea.rwth-aachen.de</a:t>
            </a:r>
            <a:endParaRPr kumimoji="0" lang="en-US" sz="12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23" name="Textplatzhalter 3"/>
          <p:cNvSpPr txBox="1">
            <a:spLocks/>
          </p:cNvSpPr>
          <p:nvPr/>
        </p:nvSpPr>
        <p:spPr>
          <a:xfrm>
            <a:off x="6245471" y="2133599"/>
            <a:ext cx="5561876" cy="3745278"/>
          </a:xfrm>
          <a:prstGeom prst="rect">
            <a:avLst/>
          </a:prstGeom>
        </p:spPr>
        <p:txBody>
          <a:bodyPr lIns="90000" tIns="36000" rIns="90000" bIns="36000"/>
          <a:lstStyle>
            <a:lvl1pPr marL="0" indent="0" algn="l" defTabSz="216000" rtl="0" eaLnBrk="1" fontAlgn="base" hangingPunct="1">
              <a:lnSpc>
                <a:spcPct val="100000"/>
              </a:lnSpc>
              <a:spcBef>
                <a:spcPts val="0"/>
              </a:spcBef>
              <a:spcAft>
                <a:spcPct val="0"/>
              </a:spcAft>
              <a:buClr>
                <a:schemeClr val="tx2"/>
              </a:buClr>
              <a:buFont typeface="Arial" panose="020B0604020202020204" pitchFamily="34" charset="0"/>
              <a:buNone/>
              <a:tabLst>
                <a:tab pos="216000" algn="l"/>
              </a:tabLst>
              <a:defRPr sz="1600" b="1"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16000" rtl="0" eaLnBrk="1" fontAlgn="base" latinLnBrk="0" hangingPunct="1">
              <a:lnSpc>
                <a:spcPct val="100000"/>
              </a:lnSpc>
              <a:spcBef>
                <a:spcPts val="0"/>
              </a:spcBef>
              <a:spcAft>
                <a:spcPct val="0"/>
              </a:spcAft>
              <a:buClr>
                <a:srgbClr val="DD402D"/>
              </a:buClr>
              <a:buSzTx/>
              <a:buFont typeface="Arial" panose="020B0604020202020204" pitchFamily="34" charset="0"/>
              <a:buNone/>
              <a:tabLst>
                <a:tab pos="216000" algn="l"/>
              </a:tabLst>
              <a:defRPr/>
            </a:pPr>
            <a:r>
              <a:rPr kumimoji="0" lang="en-US" sz="18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We thank</a:t>
            </a:r>
            <a:endParaRPr kumimoji="0" lang="en-US" sz="1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24" name="Textplatzhalter 23"/>
          <p:cNvSpPr>
            <a:spLocks noGrp="1"/>
          </p:cNvSpPr>
          <p:nvPr>
            <p:ph type="body" sz="quarter" idx="10" hasCustomPrompt="1"/>
          </p:nvPr>
        </p:nvSpPr>
        <p:spPr>
          <a:xfrm>
            <a:off x="392649" y="2828926"/>
            <a:ext cx="3886694" cy="733425"/>
          </a:xfrm>
          <a:prstGeom prst="rect">
            <a:avLst/>
          </a:prstGeom>
        </p:spPr>
        <p:txBody>
          <a:bodyPr/>
          <a:lstStyle>
            <a:lvl1pPr marL="0" marR="0" indent="0" algn="l" defTabSz="215900" rtl="0" eaLnBrk="1" fontAlgn="base" latinLnBrk="0" hangingPunct="1">
              <a:lnSpc>
                <a:spcPct val="100000"/>
              </a:lnSpc>
              <a:spcBef>
                <a:spcPct val="0"/>
              </a:spcBef>
              <a:spcAft>
                <a:spcPct val="0"/>
              </a:spcAft>
              <a:buClr>
                <a:schemeClr val="tx2"/>
              </a:buClr>
              <a:buSzTx/>
              <a:buFont typeface="Arial" charset="0"/>
              <a:buNone/>
              <a:tabLst>
                <a:tab pos="215900" algn="l"/>
              </a:tabLst>
              <a:defRPr sz="1400" b="0" baseline="0"/>
            </a:lvl1pPr>
          </a:lstStyle>
          <a:p>
            <a:pPr lvl="0"/>
            <a:r>
              <a:rPr lang="de-DE" noProof="0" dirty="0"/>
              <a:t>Tel.: +49 241 80-XXXXX</a:t>
            </a:r>
            <a:br>
              <a:rPr lang="de-DE" noProof="0" dirty="0"/>
            </a:br>
            <a:r>
              <a:rPr lang="de-DE" noProof="0" dirty="0"/>
              <a:t>xxx@isea.rwth-aachen.de</a:t>
            </a:r>
            <a:br>
              <a:rPr lang="de-DE" noProof="0" dirty="0"/>
            </a:br>
            <a:r>
              <a:rPr lang="de-DE" noProof="0" dirty="0"/>
              <a:t>batteries@isea.rwth-aachen.de</a:t>
            </a:r>
          </a:p>
        </p:txBody>
      </p:sp>
      <p:sp>
        <p:nvSpPr>
          <p:cNvPr id="26" name="Fußzeilenplatzhalter 27"/>
          <p:cNvSpPr>
            <a:spLocks noGrp="1"/>
          </p:cNvSpPr>
          <p:nvPr>
            <p:ph type="ftr" sz="quarter" idx="13"/>
          </p:nvPr>
        </p:nvSpPr>
        <p:spPr>
          <a:xfrm>
            <a:off x="392649" y="2570401"/>
            <a:ext cx="3886694" cy="334725"/>
          </a:xfrm>
          <a:prstGeom prst="rect">
            <a:avLst/>
          </a:prstGeom>
        </p:spPr>
        <p:txBody>
          <a:bodyPr lIns="90000" tIns="90000" rIns="90000" bIns="90000"/>
          <a:lstStyle>
            <a:lvl1pPr>
              <a:defRPr sz="1400" b="1">
                <a:solidFill>
                  <a:schemeClr val="tx1"/>
                </a:solidFill>
              </a:defRPr>
            </a:lvl1pPr>
          </a:lstStyle>
          <a:p>
            <a:r>
              <a:rPr lang="en-US"/>
              <a:t>Dirk Uwe Sauer</a:t>
            </a:r>
            <a:endParaRPr lang="en-US" dirty="0"/>
          </a:p>
        </p:txBody>
      </p:sp>
      <p:sp>
        <p:nvSpPr>
          <p:cNvPr id="17" name="Bildplatzhalter 25"/>
          <p:cNvSpPr>
            <a:spLocks noGrp="1"/>
          </p:cNvSpPr>
          <p:nvPr>
            <p:ph type="pic" sz="quarter" idx="11" hasCustomPrompt="1"/>
          </p:nvPr>
        </p:nvSpPr>
        <p:spPr>
          <a:xfrm>
            <a:off x="4811297" y="2124075"/>
            <a:ext cx="1137452" cy="1462628"/>
          </a:xfrm>
          <a:prstGeom prst="rect">
            <a:avLst/>
          </a:prstGeom>
        </p:spPr>
        <p:txBody>
          <a:bodyPr/>
          <a:lstStyle>
            <a:lvl1pPr marL="0" indent="0">
              <a:buNone/>
              <a:defRPr sz="1400" baseline="0"/>
            </a:lvl1pPr>
          </a:lstStyle>
          <a:p>
            <a:r>
              <a:rPr lang="de-DE" dirty="0"/>
              <a:t>Eigenes Foto durch Klicken hinzufügen</a:t>
            </a:r>
            <a:endParaRPr lang="en-US" dirty="0"/>
          </a:p>
        </p:txBody>
      </p:sp>
      <p:sp>
        <p:nvSpPr>
          <p:cNvPr id="25" name="Bildplatzhalter 30"/>
          <p:cNvSpPr>
            <a:spLocks noGrp="1"/>
          </p:cNvSpPr>
          <p:nvPr>
            <p:ph type="pic" sz="quarter" idx="14" hasCustomPrompt="1"/>
          </p:nvPr>
        </p:nvSpPr>
        <p:spPr>
          <a:xfrm>
            <a:off x="6361869" y="2571750"/>
            <a:ext cx="2591663" cy="1548000"/>
          </a:xfrm>
          <a:prstGeom prst="rect">
            <a:avLst/>
          </a:prstGeom>
        </p:spPr>
        <p:txBody>
          <a:bodyPr/>
          <a:lstStyle>
            <a:lvl1pPr>
              <a:defRPr/>
            </a:lvl1pPr>
          </a:lstStyle>
          <a:p>
            <a:r>
              <a:rPr lang="de-DE" dirty="0"/>
              <a:t>Partnerlogo durch Klicken hinzufügen</a:t>
            </a:r>
            <a:endParaRPr lang="en-US" dirty="0"/>
          </a:p>
        </p:txBody>
      </p:sp>
      <p:sp>
        <p:nvSpPr>
          <p:cNvPr id="27" name="Bildplatzhalter 30"/>
          <p:cNvSpPr>
            <a:spLocks noGrp="1"/>
          </p:cNvSpPr>
          <p:nvPr>
            <p:ph type="pic" sz="quarter" idx="15" hasCustomPrompt="1"/>
          </p:nvPr>
        </p:nvSpPr>
        <p:spPr>
          <a:xfrm>
            <a:off x="9092013" y="2571750"/>
            <a:ext cx="2591663" cy="1548000"/>
          </a:xfrm>
          <a:prstGeom prst="rect">
            <a:avLst/>
          </a:prstGeom>
        </p:spPr>
        <p:txBody>
          <a:bodyPr/>
          <a:lstStyle>
            <a:lvl1pPr>
              <a:defRPr/>
            </a:lvl1pPr>
          </a:lstStyle>
          <a:p>
            <a:r>
              <a:rPr lang="de-DE" dirty="0"/>
              <a:t>Partnerlogo durch Klicken hinzufügen</a:t>
            </a:r>
            <a:endParaRPr lang="en-US" dirty="0"/>
          </a:p>
        </p:txBody>
      </p:sp>
      <p:sp>
        <p:nvSpPr>
          <p:cNvPr id="28" name="Bildplatzhalter 30"/>
          <p:cNvSpPr>
            <a:spLocks noGrp="1"/>
          </p:cNvSpPr>
          <p:nvPr>
            <p:ph type="pic" sz="quarter" idx="16" hasCustomPrompt="1"/>
          </p:nvPr>
        </p:nvSpPr>
        <p:spPr>
          <a:xfrm>
            <a:off x="6361869" y="4229100"/>
            <a:ext cx="2591663" cy="1548000"/>
          </a:xfrm>
          <a:prstGeom prst="rect">
            <a:avLst/>
          </a:prstGeom>
        </p:spPr>
        <p:txBody>
          <a:bodyPr/>
          <a:lstStyle>
            <a:lvl1pPr>
              <a:defRPr/>
            </a:lvl1pPr>
          </a:lstStyle>
          <a:p>
            <a:r>
              <a:rPr lang="de-DE" dirty="0"/>
              <a:t>Partnerlogo durch Klicken hinzufügen</a:t>
            </a:r>
            <a:endParaRPr lang="en-US" dirty="0"/>
          </a:p>
        </p:txBody>
      </p:sp>
      <p:sp>
        <p:nvSpPr>
          <p:cNvPr id="29" name="Bildplatzhalter 30"/>
          <p:cNvSpPr>
            <a:spLocks noGrp="1"/>
          </p:cNvSpPr>
          <p:nvPr>
            <p:ph type="pic" sz="quarter" idx="17" hasCustomPrompt="1"/>
          </p:nvPr>
        </p:nvSpPr>
        <p:spPr>
          <a:xfrm>
            <a:off x="9092013" y="4229100"/>
            <a:ext cx="2591663" cy="1548000"/>
          </a:xfrm>
          <a:prstGeom prst="rect">
            <a:avLst/>
          </a:prstGeom>
        </p:spPr>
        <p:txBody>
          <a:bodyPr/>
          <a:lstStyle>
            <a:lvl1pPr>
              <a:defRPr/>
            </a:lvl1pPr>
          </a:lstStyle>
          <a:p>
            <a:r>
              <a:rPr lang="de-DE" dirty="0"/>
              <a:t>Partnerlogo durch Klicken hinzufügen</a:t>
            </a:r>
            <a:endParaRPr lang="en-US" dirty="0"/>
          </a:p>
        </p:txBody>
      </p:sp>
      <p:cxnSp>
        <p:nvCxnSpPr>
          <p:cNvPr id="30" name="Gerader Verbinder 11"/>
          <p:cNvCxnSpPr/>
          <p:nvPr userDrawn="1"/>
        </p:nvCxnSpPr>
        <p:spPr>
          <a:xfrm>
            <a:off x="383068" y="6202363"/>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Grafik 1">
            <a:extLst>
              <a:ext uri="{FF2B5EF4-FFF2-40B4-BE49-F238E27FC236}">
                <a16:creationId xmlns:a16="http://schemas.microsoft.com/office/drawing/2014/main" id="{9D388EB2-BD7A-50B3-165B-BE2F2ECD83D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137882" y="6205415"/>
            <a:ext cx="2778300" cy="655200"/>
          </a:xfrm>
          <a:prstGeom prst="rect">
            <a:avLst/>
          </a:prstGeom>
        </p:spPr>
      </p:pic>
    </p:spTree>
    <p:extLst>
      <p:ext uri="{BB962C8B-B14F-4D97-AF65-F5344CB8AC3E}">
        <p14:creationId xmlns:p14="http://schemas.microsoft.com/office/powerpoint/2010/main" val="114056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1 Content">
    <p:spTree>
      <p:nvGrpSpPr>
        <p:cNvPr id="1" name=""/>
        <p:cNvGrpSpPr/>
        <p:nvPr/>
      </p:nvGrpSpPr>
      <p:grpSpPr>
        <a:xfrm>
          <a:off x="0" y="0"/>
          <a:ext cx="0" cy="0"/>
          <a:chOff x="0" y="0"/>
          <a:chExt cx="0" cy="0"/>
        </a:xfrm>
      </p:grpSpPr>
      <p:sp>
        <p:nvSpPr>
          <p:cNvPr id="6" name="Title 1"/>
          <p:cNvSpPr>
            <a:spLocks noGrp="1"/>
          </p:cNvSpPr>
          <p:nvPr>
            <p:ph type="title"/>
          </p:nvPr>
        </p:nvSpPr>
        <p:spPr>
          <a:xfrm>
            <a:off x="383950" y="201600"/>
            <a:ext cx="11422513" cy="543600"/>
          </a:xfrm>
          <a:prstGeom prst="rect">
            <a:avLst/>
          </a:prstGeom>
        </p:spPr>
        <p:txBody>
          <a:bodyPr lIns="0" tIns="0" rIns="0" bIns="0" anchor="b" anchorCtr="0"/>
          <a:lstStyle>
            <a:lvl1pPr algn="l">
              <a:defRPr sz="2400" b="1">
                <a:solidFill>
                  <a:schemeClr val="tx2"/>
                </a:solidFill>
              </a:defRPr>
            </a:lvl1pPr>
          </a:lstStyle>
          <a:p>
            <a:r>
              <a:rPr lang="de-DE"/>
              <a:t>Titelmasterformat durch Klicken bearbeiten</a:t>
            </a:r>
            <a:endParaRPr lang="en-US" dirty="0"/>
          </a:p>
        </p:txBody>
      </p:sp>
      <p:sp>
        <p:nvSpPr>
          <p:cNvPr id="7" name="Inhaltsplatzhalter 2"/>
          <p:cNvSpPr>
            <a:spLocks noGrp="1"/>
          </p:cNvSpPr>
          <p:nvPr>
            <p:ph idx="1"/>
          </p:nvPr>
        </p:nvSpPr>
        <p:spPr>
          <a:xfrm>
            <a:off x="383950" y="1151999"/>
            <a:ext cx="11422513" cy="4731275"/>
          </a:xfrm>
          <a:prstGeom prst="rect">
            <a:avLst/>
          </a:prstGeom>
        </p:spPr>
        <p:txBody>
          <a:bodyPr lIns="0" tIns="0" rIns="0" bIns="0"/>
          <a:lstStyle>
            <a:lvl1pPr marL="215900" indent="-215900">
              <a:spcBef>
                <a:spcPts val="0"/>
              </a:spcBef>
              <a:spcAft>
                <a:spcPts val="450"/>
              </a:spcAft>
              <a:buFont typeface="Arial" panose="020B0604020202020204" pitchFamily="34" charset="0"/>
              <a:buChar char="■"/>
              <a:defRPr sz="2000"/>
            </a:lvl1pPr>
            <a:lvl2pPr marL="431800" indent="-215900">
              <a:spcBef>
                <a:spcPts val="0"/>
              </a:spcBef>
              <a:spcAft>
                <a:spcPts val="400"/>
              </a:spcAft>
              <a:buFont typeface="Arial" panose="020B0604020202020204" pitchFamily="34" charset="0"/>
              <a:buChar char="□"/>
              <a:defRPr sz="1800"/>
            </a:lvl2pPr>
            <a:lvl3pPr marL="647700" indent="-215900">
              <a:spcBef>
                <a:spcPts val="0"/>
              </a:spcBef>
              <a:spcAft>
                <a:spcPts val="350"/>
              </a:spcAft>
              <a:buFont typeface="Arial" panose="020B0604020202020204" pitchFamily="34" charset="0"/>
              <a:buChar char="■"/>
              <a:defRPr sz="1800"/>
            </a:lvl3pPr>
            <a:lvl4pPr marL="863600" indent="-215900">
              <a:spcBef>
                <a:spcPts val="0"/>
              </a:spcBef>
              <a:spcAft>
                <a:spcPts val="300"/>
              </a:spcAft>
              <a:buFont typeface="Symbol" panose="05050102010706020507" pitchFamily="18" charset="2"/>
              <a:buChar char="-"/>
              <a:defRPr/>
            </a:lvl4pPr>
            <a:lvl5pPr marL="1080000" indent="-215900">
              <a:spcBef>
                <a:spcPts val="0"/>
              </a:spcBef>
              <a:spcAft>
                <a:spcPts val="250"/>
              </a:spcAft>
              <a:buFont typeface="Arial" panose="020B0604020202020204" pitchFamily="34" charset="0"/>
              <a:buChar char="•"/>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Datumsplatzhalter 1"/>
          <p:cNvSpPr>
            <a:spLocks noGrp="1"/>
          </p:cNvSpPr>
          <p:nvPr>
            <p:ph type="dt" sz="half" idx="10"/>
          </p:nvPr>
        </p:nvSpPr>
        <p:spPr/>
        <p:txBody>
          <a:bodyPr/>
          <a:lstStyle>
            <a:lvl1pPr algn="l">
              <a:defRPr/>
            </a:lvl1pPr>
          </a:lstStyle>
          <a:p>
            <a:pPr algn="l"/>
            <a:fld id="{74486B41-BCE2-48B7-876C-2B3490450D97}" type="datetime1">
              <a:rPr lang="de-DE" smtClean="0"/>
              <a:t>03.07.2026</a:t>
            </a:fld>
            <a:endParaRPr lang="de-DE" dirty="0"/>
          </a:p>
        </p:txBody>
      </p:sp>
      <p:sp>
        <p:nvSpPr>
          <p:cNvPr id="3" name="Fußzeilenplatzhalter 2"/>
          <p:cNvSpPr>
            <a:spLocks noGrp="1"/>
          </p:cNvSpPr>
          <p:nvPr>
            <p:ph type="ftr" sz="quarter" idx="11"/>
          </p:nvPr>
        </p:nvSpPr>
        <p:spPr/>
        <p:txBody>
          <a:bodyPr/>
          <a:lstStyle/>
          <a:p>
            <a:r>
              <a:rPr lang="en-US"/>
              <a:t>Dirk Uwe Sauer</a:t>
            </a:r>
            <a:endParaRPr lang="en-US" dirty="0"/>
          </a:p>
        </p:txBody>
      </p:sp>
      <p:sp>
        <p:nvSpPr>
          <p:cNvPr id="4" name="Foliennummernplatzhalter 3"/>
          <p:cNvSpPr>
            <a:spLocks noGrp="1"/>
          </p:cNvSpPr>
          <p:nvPr>
            <p:ph type="sldNum" sz="quarter" idx="12"/>
          </p:nvPr>
        </p:nvSpPr>
        <p:spPr/>
        <p:txBody>
          <a:bodyPr/>
          <a:lstStyle/>
          <a:p>
            <a:fld id="{4D01E63C-D794-4429-8564-635E6253AC5C}" type="slidenum">
              <a:rPr lang="en-US" smtClean="0"/>
              <a:pPr/>
              <a:t>‹#›</a:t>
            </a:fld>
            <a:endParaRPr lang="en-US" dirty="0"/>
          </a:p>
        </p:txBody>
      </p:sp>
    </p:spTree>
    <p:extLst>
      <p:ext uri="{BB962C8B-B14F-4D97-AF65-F5344CB8AC3E}">
        <p14:creationId xmlns:p14="http://schemas.microsoft.com/office/powerpoint/2010/main" val="153337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mp; 2 Contents">
    <p:spTree>
      <p:nvGrpSpPr>
        <p:cNvPr id="1" name=""/>
        <p:cNvGrpSpPr/>
        <p:nvPr/>
      </p:nvGrpSpPr>
      <p:grpSpPr>
        <a:xfrm>
          <a:off x="0" y="0"/>
          <a:ext cx="0" cy="0"/>
          <a:chOff x="0" y="0"/>
          <a:chExt cx="0" cy="0"/>
        </a:xfrm>
      </p:grpSpPr>
      <p:sp>
        <p:nvSpPr>
          <p:cNvPr id="6" name="Title 1"/>
          <p:cNvSpPr>
            <a:spLocks noGrp="1"/>
          </p:cNvSpPr>
          <p:nvPr>
            <p:ph type="title"/>
          </p:nvPr>
        </p:nvSpPr>
        <p:spPr>
          <a:xfrm>
            <a:off x="383950" y="201600"/>
            <a:ext cx="11422513" cy="543600"/>
          </a:xfrm>
          <a:prstGeom prst="rect">
            <a:avLst/>
          </a:prstGeom>
        </p:spPr>
        <p:txBody>
          <a:bodyPr lIns="0" tIns="0" rIns="0" bIns="0" anchor="b" anchorCtr="0"/>
          <a:lstStyle>
            <a:lvl1pPr algn="l">
              <a:defRPr sz="2400" b="1">
                <a:solidFill>
                  <a:schemeClr val="tx2"/>
                </a:solidFill>
              </a:defRPr>
            </a:lvl1pPr>
          </a:lstStyle>
          <a:p>
            <a:r>
              <a:rPr lang="de-DE"/>
              <a:t>Titelmasterformat durch Klicken bearbeiten</a:t>
            </a:r>
            <a:endParaRPr lang="en-US" dirty="0"/>
          </a:p>
        </p:txBody>
      </p:sp>
      <p:sp>
        <p:nvSpPr>
          <p:cNvPr id="10" name="Inhaltsplatzhalter 2"/>
          <p:cNvSpPr>
            <a:spLocks noGrp="1"/>
          </p:cNvSpPr>
          <p:nvPr>
            <p:ph idx="1"/>
          </p:nvPr>
        </p:nvSpPr>
        <p:spPr>
          <a:xfrm>
            <a:off x="383950" y="1151999"/>
            <a:ext cx="5620068" cy="4731275"/>
          </a:xfrm>
          <a:prstGeom prst="rect">
            <a:avLst/>
          </a:prstGeom>
        </p:spPr>
        <p:txBody>
          <a:bodyPr lIns="0" tIns="0" rIns="0" bIns="0"/>
          <a:lstStyle>
            <a:lvl1pPr marL="215900" indent="-215900">
              <a:spcBef>
                <a:spcPts val="0"/>
              </a:spcBef>
              <a:spcAft>
                <a:spcPts val="450"/>
              </a:spcAft>
              <a:buFont typeface="Arial" panose="020B0604020202020204" pitchFamily="34" charset="0"/>
              <a:buChar char="■"/>
              <a:defRPr sz="2000"/>
            </a:lvl1pPr>
            <a:lvl2pPr marL="431800" indent="-215900">
              <a:spcBef>
                <a:spcPts val="0"/>
              </a:spcBef>
              <a:spcAft>
                <a:spcPts val="400"/>
              </a:spcAft>
              <a:buFont typeface="Arial" panose="020B0604020202020204" pitchFamily="34" charset="0"/>
              <a:buChar char="□"/>
              <a:defRPr sz="1800"/>
            </a:lvl2pPr>
            <a:lvl3pPr marL="647700" indent="-215900">
              <a:spcBef>
                <a:spcPts val="0"/>
              </a:spcBef>
              <a:spcAft>
                <a:spcPts val="350"/>
              </a:spcAft>
              <a:buFont typeface="Arial" panose="020B0604020202020204" pitchFamily="34" charset="0"/>
              <a:buChar char="■"/>
              <a:defRPr sz="1800"/>
            </a:lvl3pPr>
            <a:lvl4pPr marL="863600" indent="-215900">
              <a:spcBef>
                <a:spcPts val="0"/>
              </a:spcBef>
              <a:spcAft>
                <a:spcPts val="300"/>
              </a:spcAft>
              <a:buFont typeface="Symbol" panose="05050102010706020507" pitchFamily="18" charset="2"/>
              <a:buChar char="-"/>
              <a:defRPr/>
            </a:lvl4pPr>
            <a:lvl5pPr marL="1080000" indent="-215900">
              <a:spcBef>
                <a:spcPts val="0"/>
              </a:spcBef>
              <a:spcAft>
                <a:spcPts val="250"/>
              </a:spcAft>
              <a:buFont typeface="Arial" panose="020B0604020202020204" pitchFamily="34" charset="0"/>
              <a:buChar char="•"/>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Inhaltsplatzhalter 2"/>
          <p:cNvSpPr>
            <a:spLocks noGrp="1"/>
          </p:cNvSpPr>
          <p:nvPr>
            <p:ph idx="13"/>
          </p:nvPr>
        </p:nvSpPr>
        <p:spPr>
          <a:xfrm>
            <a:off x="6191194" y="1151999"/>
            <a:ext cx="5620068" cy="4731275"/>
          </a:xfrm>
          <a:prstGeom prst="rect">
            <a:avLst/>
          </a:prstGeom>
        </p:spPr>
        <p:txBody>
          <a:bodyPr lIns="0" tIns="0" rIns="0" bIns="0"/>
          <a:lstStyle>
            <a:lvl1pPr marL="215900" indent="-215900">
              <a:spcBef>
                <a:spcPts val="0"/>
              </a:spcBef>
              <a:spcAft>
                <a:spcPts val="450"/>
              </a:spcAft>
              <a:buFont typeface="Arial" panose="020B0604020202020204" pitchFamily="34" charset="0"/>
              <a:buChar char="■"/>
              <a:defRPr sz="2000"/>
            </a:lvl1pPr>
            <a:lvl2pPr marL="431800" indent="-215900">
              <a:spcBef>
                <a:spcPts val="0"/>
              </a:spcBef>
              <a:spcAft>
                <a:spcPts val="400"/>
              </a:spcAft>
              <a:buFont typeface="Arial" panose="020B0604020202020204" pitchFamily="34" charset="0"/>
              <a:buChar char="□"/>
              <a:defRPr sz="1800"/>
            </a:lvl2pPr>
            <a:lvl3pPr marL="647700" indent="-215900">
              <a:spcBef>
                <a:spcPts val="0"/>
              </a:spcBef>
              <a:spcAft>
                <a:spcPts val="350"/>
              </a:spcAft>
              <a:buFont typeface="Arial" panose="020B0604020202020204" pitchFamily="34" charset="0"/>
              <a:buChar char="■"/>
              <a:defRPr sz="1800"/>
            </a:lvl3pPr>
            <a:lvl4pPr marL="863600" indent="-215900">
              <a:spcBef>
                <a:spcPts val="0"/>
              </a:spcBef>
              <a:spcAft>
                <a:spcPts val="300"/>
              </a:spcAft>
              <a:buFont typeface="Symbol" panose="05050102010706020507" pitchFamily="18" charset="2"/>
              <a:buChar char="-"/>
              <a:defRPr/>
            </a:lvl4pPr>
            <a:lvl5pPr marL="1080000" indent="-215900">
              <a:spcBef>
                <a:spcPts val="0"/>
              </a:spcBef>
              <a:spcAft>
                <a:spcPts val="250"/>
              </a:spcAft>
              <a:buFont typeface="Arial" panose="020B0604020202020204" pitchFamily="34" charset="0"/>
              <a:buChar char="•"/>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Datumsplatzhalter 2"/>
          <p:cNvSpPr>
            <a:spLocks noGrp="1"/>
          </p:cNvSpPr>
          <p:nvPr>
            <p:ph type="dt" sz="half" idx="14"/>
          </p:nvPr>
        </p:nvSpPr>
        <p:spPr/>
        <p:txBody>
          <a:bodyPr/>
          <a:lstStyle>
            <a:lvl1pPr algn="l">
              <a:defRPr/>
            </a:lvl1pPr>
          </a:lstStyle>
          <a:p>
            <a:pPr algn="l"/>
            <a:fld id="{85D6FCC3-EE37-4749-9624-859AF44EE717}" type="datetime1">
              <a:rPr lang="de-DE" smtClean="0"/>
              <a:t>03.07.2026</a:t>
            </a:fld>
            <a:endParaRPr lang="de-DE" dirty="0"/>
          </a:p>
        </p:txBody>
      </p:sp>
      <p:sp>
        <p:nvSpPr>
          <p:cNvPr id="4" name="Fußzeilenplatzhalter 3"/>
          <p:cNvSpPr>
            <a:spLocks noGrp="1"/>
          </p:cNvSpPr>
          <p:nvPr>
            <p:ph type="ftr" sz="quarter" idx="15"/>
          </p:nvPr>
        </p:nvSpPr>
        <p:spPr/>
        <p:txBody>
          <a:bodyPr/>
          <a:lstStyle/>
          <a:p>
            <a:r>
              <a:rPr lang="en-US"/>
              <a:t>Dirk Uwe Sauer</a:t>
            </a:r>
            <a:endParaRPr lang="en-US" dirty="0"/>
          </a:p>
        </p:txBody>
      </p:sp>
      <p:sp>
        <p:nvSpPr>
          <p:cNvPr id="5" name="Foliennummernplatzhalter 4"/>
          <p:cNvSpPr>
            <a:spLocks noGrp="1"/>
          </p:cNvSpPr>
          <p:nvPr>
            <p:ph type="sldNum" sz="quarter" idx="16"/>
          </p:nvPr>
        </p:nvSpPr>
        <p:spPr/>
        <p:txBody>
          <a:bodyPr/>
          <a:lstStyle/>
          <a:p>
            <a:fld id="{4D01E63C-D794-4429-8564-635E6253AC5C}" type="slidenum">
              <a:rPr lang="en-US" smtClean="0"/>
              <a:pPr/>
              <a:t>‹#›</a:t>
            </a:fld>
            <a:endParaRPr lang="en-US" dirty="0"/>
          </a:p>
        </p:txBody>
      </p:sp>
    </p:spTree>
    <p:extLst>
      <p:ext uri="{BB962C8B-B14F-4D97-AF65-F5344CB8AC3E}">
        <p14:creationId xmlns:p14="http://schemas.microsoft.com/office/powerpoint/2010/main" val="1320518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lte Only">
    <p:spTree>
      <p:nvGrpSpPr>
        <p:cNvPr id="1" name=""/>
        <p:cNvGrpSpPr/>
        <p:nvPr/>
      </p:nvGrpSpPr>
      <p:grpSpPr>
        <a:xfrm>
          <a:off x="0" y="0"/>
          <a:ext cx="0" cy="0"/>
          <a:chOff x="0" y="0"/>
          <a:chExt cx="0" cy="0"/>
        </a:xfrm>
      </p:grpSpPr>
      <p:sp>
        <p:nvSpPr>
          <p:cNvPr id="6" name="Title 1"/>
          <p:cNvSpPr>
            <a:spLocks noGrp="1"/>
          </p:cNvSpPr>
          <p:nvPr>
            <p:ph type="title"/>
          </p:nvPr>
        </p:nvSpPr>
        <p:spPr>
          <a:xfrm>
            <a:off x="383950" y="201600"/>
            <a:ext cx="11422513" cy="543600"/>
          </a:xfrm>
          <a:prstGeom prst="rect">
            <a:avLst/>
          </a:prstGeom>
        </p:spPr>
        <p:txBody>
          <a:bodyPr lIns="0" tIns="0" rIns="0" bIns="0" anchor="b" anchorCtr="0"/>
          <a:lstStyle>
            <a:lvl1pPr algn="l">
              <a:defRPr sz="2400" b="1">
                <a:solidFill>
                  <a:schemeClr val="tx2"/>
                </a:solidFill>
              </a:defRPr>
            </a:lvl1pPr>
          </a:lstStyle>
          <a:p>
            <a:r>
              <a:rPr lang="de-DE"/>
              <a:t>Titelmasterformat durch Klicken bearbeiten</a:t>
            </a:r>
            <a:endParaRPr lang="en-US" dirty="0"/>
          </a:p>
        </p:txBody>
      </p:sp>
      <p:sp>
        <p:nvSpPr>
          <p:cNvPr id="2" name="Datumsplatzhalter 1"/>
          <p:cNvSpPr>
            <a:spLocks noGrp="1"/>
          </p:cNvSpPr>
          <p:nvPr>
            <p:ph type="dt" sz="half" idx="10"/>
          </p:nvPr>
        </p:nvSpPr>
        <p:spPr/>
        <p:txBody>
          <a:bodyPr/>
          <a:lstStyle>
            <a:lvl1pPr algn="l">
              <a:defRPr/>
            </a:lvl1pPr>
          </a:lstStyle>
          <a:p>
            <a:pPr algn="l"/>
            <a:fld id="{E47FF345-F1B3-44B8-9B74-D6676F7F0EE5}" type="datetime1">
              <a:rPr lang="de-DE" smtClean="0"/>
              <a:t>03.07.2026</a:t>
            </a:fld>
            <a:endParaRPr lang="de-DE" dirty="0"/>
          </a:p>
        </p:txBody>
      </p:sp>
      <p:sp>
        <p:nvSpPr>
          <p:cNvPr id="3" name="Fußzeilenplatzhalter 2"/>
          <p:cNvSpPr>
            <a:spLocks noGrp="1"/>
          </p:cNvSpPr>
          <p:nvPr>
            <p:ph type="ftr" sz="quarter" idx="11"/>
          </p:nvPr>
        </p:nvSpPr>
        <p:spPr/>
        <p:txBody>
          <a:bodyPr/>
          <a:lstStyle/>
          <a:p>
            <a:r>
              <a:rPr lang="en-US"/>
              <a:t>Dirk Uwe Sauer</a:t>
            </a:r>
            <a:endParaRPr lang="en-US" dirty="0"/>
          </a:p>
        </p:txBody>
      </p:sp>
      <p:sp>
        <p:nvSpPr>
          <p:cNvPr id="4" name="Foliennummernplatzhalter 3"/>
          <p:cNvSpPr>
            <a:spLocks noGrp="1"/>
          </p:cNvSpPr>
          <p:nvPr>
            <p:ph type="sldNum" sz="quarter" idx="12"/>
          </p:nvPr>
        </p:nvSpPr>
        <p:spPr/>
        <p:txBody>
          <a:bodyPr/>
          <a:lstStyle/>
          <a:p>
            <a:fld id="{4D01E63C-D794-4429-8564-635E6253AC5C}" type="slidenum">
              <a:rPr lang="en-US" smtClean="0"/>
              <a:pPr/>
              <a:t>‹#›</a:t>
            </a:fld>
            <a:endParaRPr lang="en-US" dirty="0"/>
          </a:p>
        </p:txBody>
      </p:sp>
    </p:spTree>
    <p:extLst>
      <p:ext uri="{BB962C8B-B14F-4D97-AF65-F5344CB8AC3E}">
        <p14:creationId xmlns:p14="http://schemas.microsoft.com/office/powerpoint/2010/main" val="340693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2.emf"/><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emf"/><Relationship Id="rId5" Type="http://schemas.openxmlformats.org/officeDocument/2006/relationships/slideLayout" Target="../slideLayouts/slideLayout11.xml"/><Relationship Id="rId10" Type="http://schemas.openxmlformats.org/officeDocument/2006/relationships/oleObject" Target="../embeddings/oleObject4.bin"/><Relationship Id="rId4" Type="http://schemas.openxmlformats.org/officeDocument/2006/relationships/slideLayout" Target="../slideLayouts/slideLayout10.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DF31D6FB-46A3-060B-CC19-E16CA508FD80}"/>
              </a:ext>
            </a:extLst>
          </p:cNvPr>
          <p:cNvGraphicFramePr>
            <a:graphicFrameLocks noChangeAspect="1"/>
          </p:cNvGraphicFramePr>
          <p:nvPr userDrawn="1">
            <p:custDataLst>
              <p:tags r:id="rId8"/>
            </p:custDataLst>
            <p:extLst>
              <p:ext uri="{D42A27DB-BD31-4B8C-83A1-F6EECF244321}">
                <p14:modId xmlns:p14="http://schemas.microsoft.com/office/powerpoint/2010/main" val="35262956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347" imgH="348" progId="TCLayout.ActiveDocument.1">
                  <p:embed/>
                </p:oleObj>
              </mc:Choice>
              <mc:Fallback>
                <p:oleObj name="think-cell Folie" r:id="rId9" imgW="347" imgH="348" progId="TCLayout.ActiveDocument.1">
                  <p:embed/>
                  <p:pic>
                    <p:nvPicPr>
                      <p:cNvPr id="0" name=""/>
                      <p:cNvPicPr/>
                      <p:nvPr/>
                    </p:nvPicPr>
                    <p:blipFill>
                      <a:blip r:embed="rId10"/>
                      <a:stretch>
                        <a:fillRect/>
                      </a:stretch>
                    </p:blipFill>
                    <p:spPr>
                      <a:xfrm>
                        <a:off x="1588" y="1588"/>
                        <a:ext cx="1588" cy="1588"/>
                      </a:xfrm>
                      <a:prstGeom prst="rect">
                        <a:avLst/>
                      </a:prstGeom>
                    </p:spPr>
                  </p:pic>
                </p:oleObj>
              </mc:Fallback>
            </mc:AlternateContent>
          </a:graphicData>
        </a:graphic>
      </p:graphicFrame>
      <p:cxnSp>
        <p:nvCxnSpPr>
          <p:cNvPr id="11" name="Gerader Verbinder 10"/>
          <p:cNvCxnSpPr/>
          <p:nvPr/>
        </p:nvCxnSpPr>
        <p:spPr>
          <a:xfrm>
            <a:off x="383068" y="814388"/>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p:cNvCxnSpPr/>
          <p:nvPr/>
        </p:nvCxnSpPr>
        <p:spPr>
          <a:xfrm>
            <a:off x="383068" y="6202363"/>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umsplatzhalter 1"/>
          <p:cNvSpPr>
            <a:spLocks noGrp="1"/>
          </p:cNvSpPr>
          <p:nvPr>
            <p:ph type="dt" sz="half" idx="2"/>
          </p:nvPr>
        </p:nvSpPr>
        <p:spPr>
          <a:xfrm>
            <a:off x="935480" y="6361350"/>
            <a:ext cx="5668062" cy="524824"/>
          </a:xfrm>
          <a:prstGeom prst="rect">
            <a:avLst/>
          </a:prstGeom>
        </p:spPr>
        <p:txBody>
          <a:bodyPr vert="horz" lIns="0" tIns="0" rIns="0" bIns="0" rtlCol="0" anchor="t"/>
          <a:lstStyle>
            <a:lvl1pPr algn="l">
              <a:defRPr sz="1100" b="0">
                <a:solidFill>
                  <a:schemeClr val="tx2"/>
                </a:solidFill>
              </a:defRPr>
            </a:lvl1pPr>
          </a:lstStyle>
          <a:p>
            <a:fld id="{D35072EC-9367-4D7B-8652-6A082F0A7E89}" type="datetime1">
              <a:rPr lang="de-DE" smtClean="0"/>
              <a:t>03.07.2026</a:t>
            </a:fld>
            <a:endParaRPr lang="de-DE" dirty="0"/>
          </a:p>
        </p:txBody>
      </p:sp>
      <p:sp>
        <p:nvSpPr>
          <p:cNvPr id="3" name="Fußzeilenplatzhalter 2"/>
          <p:cNvSpPr>
            <a:spLocks noGrp="1"/>
          </p:cNvSpPr>
          <p:nvPr>
            <p:ph type="ftr" sz="quarter" idx="3"/>
          </p:nvPr>
        </p:nvSpPr>
        <p:spPr>
          <a:xfrm>
            <a:off x="1818425" y="6361350"/>
            <a:ext cx="4391428" cy="524824"/>
          </a:xfrm>
          <a:prstGeom prst="rect">
            <a:avLst/>
          </a:prstGeom>
        </p:spPr>
        <p:txBody>
          <a:bodyPr vert="horz" lIns="0" tIns="0" rIns="0" bIns="0" rtlCol="0" anchor="t"/>
          <a:lstStyle>
            <a:lvl1pPr algn="l">
              <a:defRPr sz="1100" b="0">
                <a:solidFill>
                  <a:schemeClr val="tx2"/>
                </a:solidFill>
              </a:defRPr>
            </a:lvl1pPr>
          </a:lstStyle>
          <a:p>
            <a:r>
              <a:rPr lang="en-US"/>
              <a:t>Dirk Uwe Sauer</a:t>
            </a:r>
            <a:endParaRPr lang="en-US" dirty="0"/>
          </a:p>
        </p:txBody>
      </p:sp>
      <p:sp>
        <p:nvSpPr>
          <p:cNvPr id="4" name="Foliennummernplatzhalter 3"/>
          <p:cNvSpPr>
            <a:spLocks noGrp="1"/>
          </p:cNvSpPr>
          <p:nvPr>
            <p:ph type="sldNum" sz="quarter" idx="4"/>
          </p:nvPr>
        </p:nvSpPr>
        <p:spPr>
          <a:xfrm>
            <a:off x="383950" y="6361350"/>
            <a:ext cx="974273" cy="396000"/>
          </a:xfrm>
          <a:prstGeom prst="rect">
            <a:avLst/>
          </a:prstGeom>
        </p:spPr>
        <p:txBody>
          <a:bodyPr vert="horz" lIns="0" tIns="0" rIns="0" bIns="0" rtlCol="0" anchor="t"/>
          <a:lstStyle>
            <a:lvl1pPr algn="l">
              <a:defRPr sz="1100">
                <a:solidFill>
                  <a:schemeClr val="tx2"/>
                </a:solidFill>
              </a:defRPr>
            </a:lvl1pPr>
          </a:lstStyle>
          <a:p>
            <a:fld id="{4D01E63C-D794-4429-8564-635E6253AC5C}" type="slidenum">
              <a:rPr lang="en-US" smtClean="0"/>
              <a:pPr/>
              <a:t>‹#›</a:t>
            </a:fld>
            <a:endParaRPr lang="en-US" dirty="0"/>
          </a:p>
        </p:txBody>
      </p:sp>
      <p:sp>
        <p:nvSpPr>
          <p:cNvPr id="5" name="Textfeld 4"/>
          <p:cNvSpPr txBox="1"/>
          <p:nvPr/>
        </p:nvSpPr>
        <p:spPr>
          <a:xfrm>
            <a:off x="1706633" y="6352041"/>
            <a:ext cx="36870" cy="169277"/>
          </a:xfrm>
          <a:prstGeom prst="rect">
            <a:avLst/>
          </a:prstGeom>
          <a:noFill/>
        </p:spPr>
        <p:txBody>
          <a:bodyPr wrap="none" lIns="0" tIns="0" rIns="0" bIns="0" rtlCol="0">
            <a:spAutoFit/>
          </a:bodyPr>
          <a:lstStyle/>
          <a:p>
            <a:pPr algn="l"/>
            <a:r>
              <a:rPr lang="de-DE" sz="1100" b="0" dirty="0">
                <a:solidFill>
                  <a:schemeClr val="tx2"/>
                </a:solidFill>
              </a:rPr>
              <a:t>|</a:t>
            </a:r>
            <a:endParaRPr lang="en-US" sz="1200" b="0" dirty="0">
              <a:solidFill>
                <a:schemeClr val="tx2"/>
              </a:solidFill>
            </a:endParaRPr>
          </a:p>
        </p:txBody>
      </p:sp>
      <p:sp>
        <p:nvSpPr>
          <p:cNvPr id="9" name="Textfeld 8"/>
          <p:cNvSpPr txBox="1"/>
          <p:nvPr/>
        </p:nvSpPr>
        <p:spPr>
          <a:xfrm>
            <a:off x="935242" y="6542541"/>
            <a:ext cx="6913752" cy="169277"/>
          </a:xfrm>
          <a:prstGeom prst="rect">
            <a:avLst/>
          </a:prstGeom>
          <a:noFill/>
        </p:spPr>
        <p:txBody>
          <a:bodyPr wrap="none" lIns="0" tIns="0" rIns="0" bIns="0" rtlCol="0">
            <a:spAutoFit/>
          </a:bodyPr>
          <a:lstStyle/>
          <a:p>
            <a:pPr algn="l"/>
            <a:r>
              <a:rPr lang="en-US" sz="1100" b="0" baseline="0" noProof="0" dirty="0">
                <a:solidFill>
                  <a:schemeClr val="tx2"/>
                </a:solidFill>
              </a:rPr>
              <a:t>Center for Ageing, Reliability and Lifetime Prediction of Electrochemical and Power Electronic Systems (CARL)</a:t>
            </a:r>
            <a:endParaRPr lang="de-DE" sz="1100" b="0" noProof="0" dirty="0">
              <a:solidFill>
                <a:schemeClr val="tx2"/>
              </a:solidFill>
            </a:endParaRPr>
          </a:p>
        </p:txBody>
      </p:sp>
      <p:pic>
        <p:nvPicPr>
          <p:cNvPr id="7" name="Grafik 6">
            <a:extLst>
              <a:ext uri="{FF2B5EF4-FFF2-40B4-BE49-F238E27FC236}">
                <a16:creationId xmlns:a16="http://schemas.microsoft.com/office/drawing/2014/main" id="{3C535DD4-8DE4-5751-A836-A2D8A6475543}"/>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9137882" y="6205415"/>
            <a:ext cx="2778300" cy="655200"/>
          </a:xfrm>
          <a:prstGeom prst="rect">
            <a:avLst/>
          </a:prstGeom>
        </p:spPr>
      </p:pic>
    </p:spTree>
    <p:extLst>
      <p:ext uri="{BB962C8B-B14F-4D97-AF65-F5344CB8AC3E}">
        <p14:creationId xmlns:p14="http://schemas.microsoft.com/office/powerpoint/2010/main" val="3525079632"/>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Lst>
  <p:hf hdr="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mn-ea"/>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mn-ea"/>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mn-ea"/>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3D8277B0-D6B3-EFC9-D82F-365DD94448B9}"/>
              </a:ext>
            </a:extLst>
          </p:cNvPr>
          <p:cNvGraphicFramePr>
            <a:graphicFrameLocks noChangeAspect="1"/>
          </p:cNvGraphicFramePr>
          <p:nvPr userDrawn="1">
            <p:custDataLst>
              <p:tags r:id="rId9"/>
            </p:custDataLst>
            <p:extLst>
              <p:ext uri="{D42A27DB-BD31-4B8C-83A1-F6EECF244321}">
                <p14:modId xmlns:p14="http://schemas.microsoft.com/office/powerpoint/2010/main" val="363379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 imgW="347" imgH="348" progId="TCLayout.ActiveDocument.1">
                  <p:embed/>
                </p:oleObj>
              </mc:Choice>
              <mc:Fallback>
                <p:oleObj name="think-cell Folie" r:id="rId10" imgW="347" imgH="348"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4" name="Grafik 3">
            <a:extLst>
              <a:ext uri="{FF2B5EF4-FFF2-40B4-BE49-F238E27FC236}">
                <a16:creationId xmlns:a16="http://schemas.microsoft.com/office/drawing/2014/main" id="{8740CEE0-320A-1370-3758-A7C371B0CAA5}"/>
              </a:ext>
            </a:extLst>
          </p:cNvPr>
          <p:cNvPicPr>
            <a:picLocks noChangeAspect="1"/>
          </p:cNvPicPr>
          <p:nvPr userDrawn="1"/>
        </p:nvPicPr>
        <p:blipFill>
          <a:blip r:embed="rId12" cstate="print">
            <a:extLst>
              <a:ext uri="{28A0092B-C50C-407E-A947-70E740481C1C}">
                <a14:useLocalDpi xmlns:a14="http://schemas.microsoft.com/office/drawing/2010/main"/>
              </a:ext>
            </a:extLst>
          </a:blip>
          <a:stretch>
            <a:fillRect/>
          </a:stretch>
        </p:blipFill>
        <p:spPr>
          <a:xfrm>
            <a:off x="9137882" y="6205415"/>
            <a:ext cx="2778300" cy="655200"/>
          </a:xfrm>
          <a:prstGeom prst="rect">
            <a:avLst/>
          </a:prstGeom>
        </p:spPr>
      </p:pic>
      <p:cxnSp>
        <p:nvCxnSpPr>
          <p:cNvPr id="11" name="Gerader Verbinder 10"/>
          <p:cNvCxnSpPr/>
          <p:nvPr/>
        </p:nvCxnSpPr>
        <p:spPr>
          <a:xfrm>
            <a:off x="383068" y="814388"/>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11"/>
          <p:cNvCxnSpPr/>
          <p:nvPr/>
        </p:nvCxnSpPr>
        <p:spPr>
          <a:xfrm>
            <a:off x="383068" y="6202363"/>
            <a:ext cx="11424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umsplatzhalter 1"/>
          <p:cNvSpPr>
            <a:spLocks noGrp="1"/>
          </p:cNvSpPr>
          <p:nvPr>
            <p:ph type="dt" sz="half" idx="2"/>
          </p:nvPr>
        </p:nvSpPr>
        <p:spPr>
          <a:xfrm>
            <a:off x="935480" y="6361350"/>
            <a:ext cx="5668062" cy="524824"/>
          </a:xfrm>
          <a:prstGeom prst="rect">
            <a:avLst/>
          </a:prstGeom>
        </p:spPr>
        <p:txBody>
          <a:bodyPr vert="horz" lIns="0" tIns="0" rIns="0" bIns="0" rtlCol="0" anchor="t"/>
          <a:lstStyle>
            <a:lvl1pPr algn="l">
              <a:defRPr sz="1100" b="0">
                <a:solidFill>
                  <a:schemeClr val="tx2"/>
                </a:solidFill>
              </a:defRPr>
            </a:lvl1pPr>
          </a:lstStyle>
          <a:p>
            <a:fld id="{C2CC8288-72D4-44E2-951D-741F8F954282}" type="datetime1">
              <a:rPr lang="de-DE" smtClean="0"/>
              <a:t>03.07.2026</a:t>
            </a:fld>
            <a:endParaRPr lang="de-DE" dirty="0"/>
          </a:p>
        </p:txBody>
      </p:sp>
      <p:sp>
        <p:nvSpPr>
          <p:cNvPr id="14" name="Fußzeilenplatzhalter 2"/>
          <p:cNvSpPr>
            <a:spLocks noGrp="1"/>
          </p:cNvSpPr>
          <p:nvPr>
            <p:ph type="ftr" sz="quarter" idx="3"/>
          </p:nvPr>
        </p:nvSpPr>
        <p:spPr>
          <a:xfrm>
            <a:off x="1818425" y="6361350"/>
            <a:ext cx="4391428" cy="524824"/>
          </a:xfrm>
          <a:prstGeom prst="rect">
            <a:avLst/>
          </a:prstGeom>
        </p:spPr>
        <p:txBody>
          <a:bodyPr vert="horz" lIns="0" tIns="0" rIns="0" bIns="0" rtlCol="0" anchor="t"/>
          <a:lstStyle>
            <a:lvl1pPr algn="l">
              <a:defRPr sz="1100" b="0">
                <a:solidFill>
                  <a:schemeClr val="tx2"/>
                </a:solidFill>
              </a:defRPr>
            </a:lvl1pPr>
          </a:lstStyle>
          <a:p>
            <a:r>
              <a:rPr lang="en-US"/>
              <a:t>Dirk Uwe Sauer</a:t>
            </a:r>
            <a:endParaRPr lang="en-US" dirty="0"/>
          </a:p>
        </p:txBody>
      </p:sp>
      <p:sp>
        <p:nvSpPr>
          <p:cNvPr id="15" name="Foliennummernplatzhalter 3"/>
          <p:cNvSpPr>
            <a:spLocks noGrp="1"/>
          </p:cNvSpPr>
          <p:nvPr>
            <p:ph type="sldNum" sz="quarter" idx="4"/>
          </p:nvPr>
        </p:nvSpPr>
        <p:spPr>
          <a:xfrm>
            <a:off x="383950" y="6361350"/>
            <a:ext cx="974273" cy="396000"/>
          </a:xfrm>
          <a:prstGeom prst="rect">
            <a:avLst/>
          </a:prstGeom>
        </p:spPr>
        <p:txBody>
          <a:bodyPr vert="horz" lIns="0" tIns="0" rIns="0" bIns="0" rtlCol="0" anchor="t"/>
          <a:lstStyle>
            <a:lvl1pPr algn="l">
              <a:defRPr sz="1100">
                <a:solidFill>
                  <a:schemeClr val="tx2"/>
                </a:solidFill>
              </a:defRPr>
            </a:lvl1pPr>
          </a:lstStyle>
          <a:p>
            <a:fld id="{4D01E63C-D794-4429-8564-635E6253AC5C}" type="slidenum">
              <a:rPr lang="en-US" smtClean="0"/>
              <a:pPr/>
              <a:t>‹#›</a:t>
            </a:fld>
            <a:endParaRPr lang="en-US" dirty="0"/>
          </a:p>
        </p:txBody>
      </p:sp>
      <p:sp>
        <p:nvSpPr>
          <p:cNvPr id="16" name="Textfeld 15"/>
          <p:cNvSpPr txBox="1"/>
          <p:nvPr/>
        </p:nvSpPr>
        <p:spPr>
          <a:xfrm>
            <a:off x="1706633" y="6352041"/>
            <a:ext cx="36870" cy="169277"/>
          </a:xfrm>
          <a:prstGeom prst="rect">
            <a:avLst/>
          </a:prstGeom>
          <a:noFill/>
        </p:spPr>
        <p:txBody>
          <a:bodyPr wrap="none" lIns="0" tIns="0" rIns="0" bIns="0" rtlCol="0">
            <a:spAutoFit/>
          </a:bodyPr>
          <a:lstStyle/>
          <a:p>
            <a:pPr algn="l"/>
            <a:r>
              <a:rPr lang="de-DE" sz="1100" b="0" dirty="0">
                <a:solidFill>
                  <a:schemeClr val="tx2"/>
                </a:solidFill>
              </a:rPr>
              <a:t>|</a:t>
            </a:r>
            <a:endParaRPr lang="en-US" sz="1200" b="0" dirty="0">
              <a:solidFill>
                <a:schemeClr val="tx2"/>
              </a:solidFill>
            </a:endParaRPr>
          </a:p>
        </p:txBody>
      </p:sp>
      <p:sp>
        <p:nvSpPr>
          <p:cNvPr id="17" name="Textfeld 16"/>
          <p:cNvSpPr txBox="1"/>
          <p:nvPr/>
        </p:nvSpPr>
        <p:spPr>
          <a:xfrm>
            <a:off x="935242" y="6542541"/>
            <a:ext cx="6913752" cy="169277"/>
          </a:xfrm>
          <a:prstGeom prst="rect">
            <a:avLst/>
          </a:prstGeom>
          <a:noFill/>
        </p:spPr>
        <p:txBody>
          <a:bodyPr wrap="none" lIns="0" tIns="0" rIns="0" bIns="0" rtlCol="0">
            <a:spAutoFit/>
          </a:bodyPr>
          <a:lstStyle/>
          <a:p>
            <a:pPr algn="l"/>
            <a:r>
              <a:rPr lang="en-US" sz="1100" b="0" baseline="0" noProof="0" dirty="0">
                <a:solidFill>
                  <a:schemeClr val="tx2"/>
                </a:solidFill>
              </a:rPr>
              <a:t>Center for Ageing, Reliability and Lifetime Prediction of Electrochemical and Power Electronic Systems (CARL)</a:t>
            </a:r>
            <a:endParaRPr lang="de-DE" sz="1100" b="0" noProof="0" dirty="0">
              <a:solidFill>
                <a:schemeClr val="tx2"/>
              </a:solidFill>
            </a:endParaRPr>
          </a:p>
        </p:txBody>
      </p:sp>
    </p:spTree>
    <p:extLst>
      <p:ext uri="{BB962C8B-B14F-4D97-AF65-F5344CB8AC3E}">
        <p14:creationId xmlns:p14="http://schemas.microsoft.com/office/powerpoint/2010/main" val="728398958"/>
      </p:ext>
    </p:extLst>
  </p:cSld>
  <p:clrMap bg1="lt1" tx1="dk1" bg2="lt2" tx2="dk2" accent1="accent1" accent2="accent2" accent3="accent3" accent4="accent4" accent5="accent5" accent6="accent6" hlink="hlink" folHlink="folHlink"/>
  <p:sldLayoutIdLst>
    <p:sldLayoutId id="2147483878" r:id="rId1"/>
    <p:sldLayoutId id="2147483891" r:id="rId2"/>
    <p:sldLayoutId id="2147483879" r:id="rId3"/>
    <p:sldLayoutId id="2147483880" r:id="rId4"/>
    <p:sldLayoutId id="2147483881" r:id="rId5"/>
    <p:sldLayoutId id="2147483882" r:id="rId6"/>
    <p:sldLayoutId id="2147483883" r:id="rId7"/>
  </p:sldLayoutIdLst>
  <p:hf hdr="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mn-ea"/>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mn-ea"/>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mn-ea"/>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124D5214-AF52-D402-D540-81F3159D4F91}"/>
              </a:ext>
            </a:extLst>
          </p:cNvPr>
          <p:cNvGraphicFramePr>
            <a:graphicFrameLocks noChangeAspect="1"/>
          </p:cNvGraphicFramePr>
          <p:nvPr>
            <p:custDataLst>
              <p:tags r:id="rId1"/>
            </p:custDataLst>
            <p:extLst>
              <p:ext uri="{D42A27DB-BD31-4B8C-83A1-F6EECF244321}">
                <p14:modId xmlns:p14="http://schemas.microsoft.com/office/powerpoint/2010/main" val="1846892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47" imgH="348" progId="TCLayout.ActiveDocument.1">
                  <p:embed/>
                </p:oleObj>
              </mc:Choice>
              <mc:Fallback>
                <p:oleObj name="think-cell Folie" r:id="rId4" imgW="347" imgH="34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ctrTitle"/>
          </p:nvPr>
        </p:nvSpPr>
        <p:spPr>
          <a:xfrm>
            <a:off x="383950" y="2725724"/>
            <a:ext cx="11563408" cy="1274776"/>
          </a:xfrm>
        </p:spPr>
        <p:txBody>
          <a:bodyPr/>
          <a:lstStyle/>
          <a:p>
            <a:r>
              <a:rPr lang="de-DE" sz="2800" dirty="0"/>
              <a:t>M</a:t>
            </a:r>
            <a:r>
              <a:rPr lang="en-US" altLang="zh-CN" sz="2800" dirty="0"/>
              <a:t>id-term presentation</a:t>
            </a:r>
            <a:r>
              <a:rPr lang="de-DE" sz="2800" dirty="0"/>
              <a:t>: </a:t>
            </a:r>
            <a:r>
              <a:rPr lang="en-US" altLang="zh-CN" sz="2800" dirty="0"/>
              <a:t>From Time-Series Parameter Extraction to Multi-Task Learning</a:t>
            </a:r>
            <a:endParaRPr lang="de-DE" sz="2800" dirty="0"/>
          </a:p>
        </p:txBody>
      </p:sp>
      <p:sp>
        <p:nvSpPr>
          <p:cNvPr id="3" name="Untertitel 2"/>
          <p:cNvSpPr>
            <a:spLocks noGrp="1"/>
          </p:cNvSpPr>
          <p:nvPr>
            <p:ph type="subTitle" idx="1"/>
          </p:nvPr>
        </p:nvSpPr>
        <p:spPr/>
        <p:txBody>
          <a:bodyPr/>
          <a:lstStyle/>
          <a:p>
            <a:r>
              <a:rPr lang="en-US" altLang="zh-CN" dirty="0"/>
              <a:t>State-of-Charge-Resolved Multi-Parameter Degradation Analysis on Li-Ion Batteries</a:t>
            </a:r>
            <a:endParaRPr lang="de-DE" dirty="0"/>
          </a:p>
        </p:txBody>
      </p:sp>
      <p:sp>
        <p:nvSpPr>
          <p:cNvPr id="5" name="Datumsplatzhalter 4"/>
          <p:cNvSpPr>
            <a:spLocks noGrp="1"/>
          </p:cNvSpPr>
          <p:nvPr>
            <p:ph type="dt" sz="half" idx="12"/>
          </p:nvPr>
        </p:nvSpPr>
        <p:spPr/>
        <p:txBody>
          <a:bodyPr/>
          <a:lstStyle/>
          <a:p>
            <a:r>
              <a:rPr lang="de-DE" dirty="0"/>
              <a:t>09.07.2026</a:t>
            </a:r>
          </a:p>
        </p:txBody>
      </p:sp>
      <p:sp>
        <p:nvSpPr>
          <p:cNvPr id="6" name="Fußzeilenplatzhalter 3">
            <a:extLst>
              <a:ext uri="{FF2B5EF4-FFF2-40B4-BE49-F238E27FC236}">
                <a16:creationId xmlns:a16="http://schemas.microsoft.com/office/drawing/2014/main" id="{4216A686-4862-D4E4-E8A0-5D2F8EDF094D}"/>
              </a:ext>
            </a:extLst>
          </p:cNvPr>
          <p:cNvSpPr>
            <a:spLocks noGrp="1"/>
          </p:cNvSpPr>
          <p:nvPr>
            <p:ph type="ftr" sz="quarter" idx="11"/>
          </p:nvPr>
        </p:nvSpPr>
        <p:spPr>
          <a:xfrm>
            <a:off x="384175" y="5218113"/>
            <a:ext cx="11425238" cy="525462"/>
          </a:xfrm>
        </p:spPr>
        <p:txBody>
          <a:bodyPr/>
          <a:lstStyle/>
          <a:p>
            <a:r>
              <a:rPr lang="de-DE" altLang="zh-CN" b="1" dirty="0"/>
              <a:t>Author:</a:t>
            </a:r>
            <a:r>
              <a:rPr lang="de-DE" altLang="zh-CN" dirty="0"/>
              <a:t> </a:t>
            </a:r>
            <a:r>
              <a:rPr lang="en-US" dirty="0"/>
              <a:t>Yida Cheng</a:t>
            </a:r>
          </a:p>
          <a:p>
            <a:r>
              <a:rPr lang="de-DE" altLang="zh-CN" b="1" dirty="0"/>
              <a:t>Supervisor:</a:t>
            </a:r>
            <a:r>
              <a:rPr lang="de-DE" altLang="zh-CN" dirty="0"/>
              <a:t> </a:t>
            </a:r>
            <a:r>
              <a:rPr lang="de-DE" altLang="zh-CN" dirty="0" err="1"/>
              <a:t>Zijuan</a:t>
            </a:r>
            <a:r>
              <a:rPr lang="de-DE" altLang="zh-CN" dirty="0"/>
              <a:t> Hong, </a:t>
            </a:r>
            <a:r>
              <a:rPr lang="de-DE" altLang="zh-CN" dirty="0" err="1"/>
              <a:t>M.Sc</a:t>
            </a:r>
            <a:r>
              <a:rPr lang="de-DE" altLang="zh-CN" dirty="0"/>
              <a:t>.</a:t>
            </a:r>
            <a:endParaRPr lang="en-US" dirty="0"/>
          </a:p>
        </p:txBody>
      </p:sp>
    </p:spTree>
    <p:extLst>
      <p:ext uri="{BB962C8B-B14F-4D97-AF65-F5344CB8AC3E}">
        <p14:creationId xmlns:p14="http://schemas.microsoft.com/office/powerpoint/2010/main" val="423111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B1A15-DDA2-BF6B-A333-CCEB8F9181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6D4B097-247D-6228-12BF-2B0F51352CC3}"/>
              </a:ext>
            </a:extLst>
          </p:cNvPr>
          <p:cNvSpPr>
            <a:spLocks noGrp="1"/>
          </p:cNvSpPr>
          <p:nvPr>
            <p:ph type="title"/>
          </p:nvPr>
        </p:nvSpPr>
        <p:spPr/>
        <p:txBody>
          <a:bodyPr/>
          <a:lstStyle/>
          <a:p>
            <a:r>
              <a:rPr lang="en-US" altLang="zh-CN" dirty="0"/>
              <a:t>Table of contents</a:t>
            </a:r>
            <a:endParaRPr lang="zh-CN" altLang="en-US" dirty="0"/>
          </a:p>
        </p:txBody>
      </p:sp>
      <p:sp>
        <p:nvSpPr>
          <p:cNvPr id="3" name="内容占位符 2">
            <a:extLst>
              <a:ext uri="{FF2B5EF4-FFF2-40B4-BE49-F238E27FC236}">
                <a16:creationId xmlns:a16="http://schemas.microsoft.com/office/drawing/2014/main" id="{A46E4C8A-CD90-876D-F579-900FDE390E70}"/>
              </a:ext>
            </a:extLst>
          </p:cNvPr>
          <p:cNvSpPr>
            <a:spLocks noGrp="1"/>
          </p:cNvSpPr>
          <p:nvPr>
            <p:ph idx="1"/>
          </p:nvPr>
        </p:nvSpPr>
        <p:spPr/>
        <p:txBody>
          <a:bodyPr/>
          <a:lstStyle/>
          <a:p>
            <a:pPr>
              <a:lnSpc>
                <a:spcPct val="200000"/>
              </a:lnSpc>
            </a:pPr>
            <a:r>
              <a:rPr lang="en-US" altLang="zh-CN" b="1" dirty="0">
                <a:solidFill>
                  <a:schemeClr val="accent4"/>
                </a:solidFill>
              </a:rPr>
              <a:t>Research Background &amp; Objectives</a:t>
            </a:r>
          </a:p>
          <a:p>
            <a:pPr>
              <a:lnSpc>
                <a:spcPct val="200000"/>
              </a:lnSpc>
            </a:pPr>
            <a:r>
              <a:rPr lang="en-US" altLang="zh-CN" dirty="0"/>
              <a:t>Literature Review</a:t>
            </a:r>
          </a:p>
          <a:p>
            <a:pPr>
              <a:lnSpc>
                <a:spcPct val="200000"/>
              </a:lnSpc>
            </a:pPr>
            <a:r>
              <a:rPr lang="en-US" altLang="zh-CN" dirty="0"/>
              <a:t>Data Processing and Resistance Extraction Progress</a:t>
            </a:r>
          </a:p>
          <a:p>
            <a:pPr>
              <a:lnSpc>
                <a:spcPct val="200000"/>
              </a:lnSpc>
            </a:pPr>
            <a:r>
              <a:rPr lang="en-US" altLang="zh-CN" dirty="0"/>
              <a:t>Preliminary Findings and Current Problems </a:t>
            </a:r>
          </a:p>
          <a:p>
            <a:pPr>
              <a:lnSpc>
                <a:spcPct val="200000"/>
              </a:lnSpc>
            </a:pPr>
            <a:r>
              <a:rPr lang="en-US" altLang="zh-CN" dirty="0"/>
              <a:t>Next-stage Research Plan</a:t>
            </a:r>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939EE995-FEBB-61F4-67B6-D9615C120496}"/>
              </a:ext>
            </a:extLst>
          </p:cNvPr>
          <p:cNvSpPr>
            <a:spLocks noGrp="1"/>
          </p:cNvSpPr>
          <p:nvPr>
            <p:ph type="dt" sz="half" idx="10"/>
          </p:nvPr>
        </p:nvSpPr>
        <p:spPr/>
        <p:txBody>
          <a:bodyPr/>
          <a:lstStyle/>
          <a:p>
            <a:r>
              <a:rPr lang="de-DE" altLang="zh-CN" dirty="0"/>
              <a:t>09.07.2026</a:t>
            </a:r>
          </a:p>
          <a:p>
            <a:pPr algn="l"/>
            <a:endParaRPr lang="de-DE" dirty="0"/>
          </a:p>
        </p:txBody>
      </p:sp>
      <p:sp>
        <p:nvSpPr>
          <p:cNvPr id="5" name="页脚占位符 4">
            <a:extLst>
              <a:ext uri="{FF2B5EF4-FFF2-40B4-BE49-F238E27FC236}">
                <a16:creationId xmlns:a16="http://schemas.microsoft.com/office/drawing/2014/main" id="{D0D7863C-3B43-0824-AC80-A52786C8E03D}"/>
              </a:ext>
            </a:extLst>
          </p:cNvPr>
          <p:cNvSpPr>
            <a:spLocks noGrp="1"/>
          </p:cNvSpPr>
          <p:nvPr>
            <p:ph type="ftr" sz="quarter" idx="11"/>
          </p:nvPr>
        </p:nvSpPr>
        <p:spPr/>
        <p:txBody>
          <a:bodyPr/>
          <a:lstStyle/>
          <a:p>
            <a:r>
              <a:rPr lang="en-US" altLang="zh-CN" dirty="0"/>
              <a:t>Yida Cheng</a:t>
            </a:r>
          </a:p>
        </p:txBody>
      </p:sp>
      <p:sp>
        <p:nvSpPr>
          <p:cNvPr id="6" name="灯片编号占位符 5">
            <a:extLst>
              <a:ext uri="{FF2B5EF4-FFF2-40B4-BE49-F238E27FC236}">
                <a16:creationId xmlns:a16="http://schemas.microsoft.com/office/drawing/2014/main" id="{C70B0BE8-2B6F-B5DA-A3D4-8B003C6E5587}"/>
              </a:ext>
            </a:extLst>
          </p:cNvPr>
          <p:cNvSpPr>
            <a:spLocks noGrp="1"/>
          </p:cNvSpPr>
          <p:nvPr>
            <p:ph type="sldNum" sz="quarter" idx="12"/>
          </p:nvPr>
        </p:nvSpPr>
        <p:spPr/>
        <p:txBody>
          <a:bodyPr/>
          <a:lstStyle/>
          <a:p>
            <a:fld id="{4D01E63C-D794-4429-8564-635E6253AC5C}" type="slidenum">
              <a:rPr lang="en-US" smtClean="0"/>
              <a:pPr/>
              <a:t>2</a:t>
            </a:fld>
            <a:endParaRPr lang="en-US" dirty="0"/>
          </a:p>
        </p:txBody>
      </p:sp>
    </p:spTree>
    <p:extLst>
      <p:ext uri="{BB962C8B-B14F-4D97-AF65-F5344CB8AC3E}">
        <p14:creationId xmlns:p14="http://schemas.microsoft.com/office/powerpoint/2010/main" val="1527874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F634-479A-74D1-0906-7D8BE41ABA4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2059AB-5ABA-98F4-8F68-F53E92BA63DB}"/>
              </a:ext>
            </a:extLst>
          </p:cNvPr>
          <p:cNvSpPr>
            <a:spLocks noGrp="1"/>
          </p:cNvSpPr>
          <p:nvPr>
            <p:ph type="title"/>
          </p:nvPr>
        </p:nvSpPr>
        <p:spPr/>
        <p:txBody>
          <a:bodyPr/>
          <a:lstStyle/>
          <a:p>
            <a:r>
              <a:rPr lang="zh-CN" altLang="zh-CN" dirty="0"/>
              <a:t>Thesis topic and motivation</a:t>
            </a:r>
          </a:p>
        </p:txBody>
      </p:sp>
      <p:sp>
        <p:nvSpPr>
          <p:cNvPr id="4" name="Datumsplatzhalter 3">
            <a:extLst>
              <a:ext uri="{FF2B5EF4-FFF2-40B4-BE49-F238E27FC236}">
                <a16:creationId xmlns:a16="http://schemas.microsoft.com/office/drawing/2014/main" id="{E82779C2-44A4-2FF8-E3C6-80265E49E261}"/>
              </a:ext>
            </a:extLst>
          </p:cNvPr>
          <p:cNvSpPr>
            <a:spLocks noGrp="1"/>
          </p:cNvSpPr>
          <p:nvPr>
            <p:ph type="dt" sz="half" idx="10"/>
          </p:nvPr>
        </p:nvSpPr>
        <p:spPr/>
        <p:txBody>
          <a:bodyPr/>
          <a:lstStyle/>
          <a:p>
            <a:pPr algn="l"/>
            <a:r>
              <a:rPr lang="de-DE" dirty="0"/>
              <a:t>09.07.2026</a:t>
            </a:r>
          </a:p>
        </p:txBody>
      </p:sp>
      <p:sp>
        <p:nvSpPr>
          <p:cNvPr id="5" name="Fußzeilenplatzhalter 4">
            <a:extLst>
              <a:ext uri="{FF2B5EF4-FFF2-40B4-BE49-F238E27FC236}">
                <a16:creationId xmlns:a16="http://schemas.microsoft.com/office/drawing/2014/main" id="{0DA2BAF0-72F1-C76E-0DC4-3E1FC1D6D44D}"/>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8EAD0338-B8FF-C69B-6C24-6EE742930C55}"/>
              </a:ext>
            </a:extLst>
          </p:cNvPr>
          <p:cNvSpPr>
            <a:spLocks noGrp="1"/>
          </p:cNvSpPr>
          <p:nvPr>
            <p:ph type="sldNum" sz="quarter" idx="12"/>
          </p:nvPr>
        </p:nvSpPr>
        <p:spPr/>
        <p:txBody>
          <a:bodyPr/>
          <a:lstStyle/>
          <a:p>
            <a:fld id="{4D01E63C-D794-4429-8564-635E6253AC5C}" type="slidenum">
              <a:rPr lang="en-US" smtClean="0"/>
              <a:pPr/>
              <a:t>3</a:t>
            </a:fld>
            <a:endParaRPr lang="en-US" dirty="0"/>
          </a:p>
        </p:txBody>
      </p:sp>
      <p:pic>
        <p:nvPicPr>
          <p:cNvPr id="7" name="内容占位符 6">
            <a:extLst>
              <a:ext uri="{FF2B5EF4-FFF2-40B4-BE49-F238E27FC236}">
                <a16:creationId xmlns:a16="http://schemas.microsoft.com/office/drawing/2014/main" id="{F4A5BAC6-4C4C-D7BA-A7A7-07B3D623CE74}"/>
              </a:ext>
            </a:extLst>
          </p:cNvPr>
          <p:cNvPicPr>
            <a:picLocks noGrp="1" noChangeAspect="1"/>
          </p:cNvPicPr>
          <p:nvPr>
            <p:ph idx="1"/>
          </p:nvPr>
        </p:nvPicPr>
        <p:blipFill>
          <a:blip r:embed="rId3"/>
          <a:stretch>
            <a:fillRect/>
          </a:stretch>
        </p:blipFill>
        <p:spPr>
          <a:xfrm>
            <a:off x="6381277" y="1008529"/>
            <a:ext cx="5640339" cy="2637988"/>
          </a:xfrm>
          <a:prstGeom prst="rect">
            <a:avLst/>
          </a:prstGeom>
        </p:spPr>
      </p:pic>
      <p:sp>
        <p:nvSpPr>
          <p:cNvPr id="13" name="Inhaltsplatzhalter 2">
            <a:extLst>
              <a:ext uri="{FF2B5EF4-FFF2-40B4-BE49-F238E27FC236}">
                <a16:creationId xmlns:a16="http://schemas.microsoft.com/office/drawing/2014/main" id="{707B99E5-F12E-87F7-BE02-AE30521E8AE9}"/>
              </a:ext>
            </a:extLst>
          </p:cNvPr>
          <p:cNvSpPr txBox="1">
            <a:spLocks/>
          </p:cNvSpPr>
          <p:nvPr/>
        </p:nvSpPr>
        <p:spPr>
          <a:xfrm>
            <a:off x="572208" y="1317590"/>
            <a:ext cx="8860904" cy="2480887"/>
          </a:xfrm>
          <a:prstGeom prst="rect">
            <a:avLst/>
          </a:prstGeom>
        </p:spPr>
        <p:txBody>
          <a:bodyPr lIns="0" tIns="0" rIns="0" bIns="0"/>
          <a:lstStyle>
            <a:lvl1pPr marL="215900" indent="-215900" algn="l" defTabSz="215900" rtl="0" eaLnBrk="1" fontAlgn="base" hangingPunct="1">
              <a:spcBef>
                <a:spcPts val="0"/>
              </a:spcBef>
              <a:spcAft>
                <a:spcPts val="450"/>
              </a:spcAft>
              <a:buClr>
                <a:schemeClr val="tx2"/>
              </a:buClr>
              <a:buFont typeface="Arial" panose="020B0604020202020204" pitchFamily="34" charset="0"/>
              <a:buChar char="■"/>
              <a:tabLst>
                <a:tab pos="215900" algn="l"/>
              </a:tabLst>
              <a:defRPr sz="2000" kern="1200">
                <a:solidFill>
                  <a:schemeClr val="tx1"/>
                </a:solidFill>
                <a:latin typeface="Arial" panose="020B0604020202020204" pitchFamily="34" charset="0"/>
                <a:ea typeface="+mn-ea"/>
                <a:cs typeface="Arial" panose="020B0604020202020204" pitchFamily="34" charset="0"/>
              </a:defRPr>
            </a:lvl1pPr>
            <a:lvl2pPr marL="431800" indent="-215900" algn="l" rtl="0" eaLnBrk="1" fontAlgn="base" hangingPunct="1">
              <a:spcBef>
                <a:spcPts val="0"/>
              </a:spcBef>
              <a:spcAft>
                <a:spcPts val="400"/>
              </a:spcAft>
              <a:buClr>
                <a:schemeClr val="tx2"/>
              </a:buClr>
              <a:buFont typeface="Arial" panose="020B0604020202020204" pitchFamily="34" charset="0"/>
              <a:buChar char="□"/>
              <a:tabLst>
                <a:tab pos="431800" algn="l"/>
              </a:tabLst>
              <a:defRPr sz="1800" kern="1200">
                <a:solidFill>
                  <a:schemeClr val="tx1"/>
                </a:solidFill>
                <a:latin typeface="Arial" panose="020B0604020202020204" pitchFamily="34" charset="0"/>
                <a:ea typeface="+mn-ea"/>
                <a:cs typeface="Arial" panose="020B0604020202020204" pitchFamily="34" charset="0"/>
              </a:defRPr>
            </a:lvl2pPr>
            <a:lvl3pPr marL="647700" indent="-215900" algn="l" defTabSz="215900" rtl="0" eaLnBrk="1" fontAlgn="base" hangingPunct="1">
              <a:spcBef>
                <a:spcPts val="0"/>
              </a:spcBef>
              <a:spcAft>
                <a:spcPts val="350"/>
              </a:spcAft>
              <a:buClr>
                <a:schemeClr val="tx2"/>
              </a:buClr>
              <a:buSzPct val="80000"/>
              <a:buFont typeface="Arial" panose="020B0604020202020204" pitchFamily="34" charset="0"/>
              <a:buChar char="■"/>
              <a:tabLst>
                <a:tab pos="647700" algn="l"/>
              </a:tabLst>
              <a:defRPr sz="1800" kern="1200">
                <a:solidFill>
                  <a:schemeClr val="tx1"/>
                </a:solidFill>
                <a:latin typeface="Arial" panose="020B0604020202020204" pitchFamily="34" charset="0"/>
                <a:ea typeface="+mn-ea"/>
                <a:cs typeface="Arial" panose="020B0604020202020204" pitchFamily="34" charset="0"/>
              </a:defRPr>
            </a:lvl3pPr>
            <a:lvl4pPr marL="863600" indent="-215900" algn="l" defTabSz="215900" rtl="0" eaLnBrk="1" fontAlgn="base" hangingPunct="1">
              <a:spcBef>
                <a:spcPts val="0"/>
              </a:spcBef>
              <a:spcAft>
                <a:spcPts val="300"/>
              </a:spcAft>
              <a:buClr>
                <a:schemeClr val="tx2"/>
              </a:buClr>
              <a:buSzPct val="100000"/>
              <a:buFont typeface="Symbol" panose="05050102010706020507" pitchFamily="18" charset="2"/>
              <a:buChar char="-"/>
              <a:tabLst>
                <a:tab pos="863600" algn="l"/>
              </a:tabLst>
              <a:defRPr sz="1600" kern="1200">
                <a:solidFill>
                  <a:schemeClr val="tx1"/>
                </a:solidFill>
                <a:latin typeface="Arial" panose="020B0604020202020204" pitchFamily="34" charset="0"/>
                <a:ea typeface="+mn-ea"/>
                <a:cs typeface="Arial" panose="020B0604020202020204" pitchFamily="34" charset="0"/>
              </a:defRPr>
            </a:lvl4pPr>
            <a:lvl5pPr marL="1080000" indent="-215900" algn="l" rtl="0" eaLnBrk="1" fontAlgn="base" hangingPunct="1">
              <a:lnSpc>
                <a:spcPct val="90000"/>
              </a:lnSpc>
              <a:spcBef>
                <a:spcPts val="0"/>
              </a:spcBef>
              <a:spcAft>
                <a:spcPts val="25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Why this topic?</a:t>
            </a:r>
            <a:endParaRPr lang="en-US" altLang="zh-CN" dirty="0"/>
          </a:p>
          <a:p>
            <a:pPr marL="0" indent="0">
              <a:buNone/>
            </a:pPr>
            <a:endParaRPr lang="en-US" altLang="zh-CN" sz="1400" dirty="0"/>
          </a:p>
          <a:p>
            <a:pPr marL="0" indent="0">
              <a:buNone/>
            </a:pPr>
            <a:endParaRPr lang="en-US" altLang="zh-CN" sz="1400" dirty="0"/>
          </a:p>
          <a:p>
            <a:pPr marL="0" indent="0">
              <a:buNone/>
            </a:pPr>
            <a:endParaRPr lang="zh-CN" altLang="en-US" sz="1400" dirty="0"/>
          </a:p>
          <a:p>
            <a:pPr>
              <a:lnSpc>
                <a:spcPct val="200000"/>
              </a:lnSpc>
            </a:pPr>
            <a:r>
              <a:rPr lang="zh-CN" altLang="en-US" sz="1600" dirty="0"/>
              <a:t>Degradation behavior varies across SOC levels</a:t>
            </a:r>
          </a:p>
          <a:p>
            <a:pPr>
              <a:lnSpc>
                <a:spcPct val="200000"/>
              </a:lnSpc>
            </a:pPr>
            <a:r>
              <a:rPr lang="zh-CN" altLang="en-US" sz="1600" dirty="0"/>
              <a:t>R</a:t>
            </a:r>
            <a:r>
              <a:rPr lang="zh-CN" altLang="en-US" sz="1600" baseline="-25000" dirty="0"/>
              <a:t>0</a:t>
            </a:r>
            <a:r>
              <a:rPr lang="zh-CN" altLang="en-US" sz="1600" dirty="0"/>
              <a:t>, R</a:t>
            </a:r>
            <a:r>
              <a:rPr lang="zh-CN" altLang="en-US" sz="1600" baseline="-25000" dirty="0"/>
              <a:t>1</a:t>
            </a:r>
            <a:r>
              <a:rPr lang="zh-CN" altLang="en-US" sz="1600" dirty="0"/>
              <a:t> and R</a:t>
            </a:r>
            <a:r>
              <a:rPr lang="zh-CN" altLang="en-US" sz="1600" baseline="-25000" dirty="0"/>
              <a:t>2</a:t>
            </a:r>
            <a:r>
              <a:rPr lang="zh-CN" altLang="en-US" sz="1600" dirty="0"/>
              <a:t> reflect different parts of the voltage response</a:t>
            </a:r>
          </a:p>
          <a:p>
            <a:pPr>
              <a:lnSpc>
                <a:spcPct val="200000"/>
              </a:lnSpc>
            </a:pPr>
            <a:r>
              <a:rPr lang="zh-CN" altLang="en-US" sz="1600" dirty="0"/>
              <a:t>SOC-resolved resistance parameters can improve battery health characterization</a:t>
            </a:r>
          </a:p>
          <a:p>
            <a:pPr>
              <a:lnSpc>
                <a:spcPct val="200000"/>
              </a:lnSpc>
            </a:pPr>
            <a:r>
              <a:rPr lang="zh-CN" altLang="en-US" sz="1600" dirty="0"/>
              <a:t>Extracted parameters will be used for multi-task learning based health prediction</a:t>
            </a:r>
          </a:p>
          <a:p>
            <a:pPr lvl="1"/>
            <a:endParaRPr lang="de-DE" altLang="zh-CN" dirty="0"/>
          </a:p>
          <a:p>
            <a:endParaRPr lang="en-US" dirty="0"/>
          </a:p>
          <a:p>
            <a:endParaRPr lang="de-DE" dirty="0"/>
          </a:p>
        </p:txBody>
      </p:sp>
    </p:spTree>
    <p:extLst>
      <p:ext uri="{BB962C8B-B14F-4D97-AF65-F5344CB8AC3E}">
        <p14:creationId xmlns:p14="http://schemas.microsoft.com/office/powerpoint/2010/main" val="81262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DD6EE-72F5-E44F-0F35-A7CBE19093C9}"/>
              </a:ext>
            </a:extLst>
          </p:cNvPr>
          <p:cNvSpPr>
            <a:spLocks noGrp="1"/>
          </p:cNvSpPr>
          <p:nvPr>
            <p:ph type="title"/>
          </p:nvPr>
        </p:nvSpPr>
        <p:spPr/>
        <p:txBody>
          <a:bodyPr/>
          <a:lstStyle/>
          <a:p>
            <a:r>
              <a:rPr lang="en-US" altLang="zh-CN" dirty="0"/>
              <a:t>Objectives</a:t>
            </a:r>
            <a:endParaRPr lang="zh-CN" altLang="en-US" dirty="0"/>
          </a:p>
        </p:txBody>
      </p:sp>
      <p:sp>
        <p:nvSpPr>
          <p:cNvPr id="4" name="日期占位符 3">
            <a:extLst>
              <a:ext uri="{FF2B5EF4-FFF2-40B4-BE49-F238E27FC236}">
                <a16:creationId xmlns:a16="http://schemas.microsoft.com/office/drawing/2014/main" id="{683863C5-20A1-B14A-CC8E-D8D63624ED89}"/>
              </a:ext>
            </a:extLst>
          </p:cNvPr>
          <p:cNvSpPr>
            <a:spLocks noGrp="1"/>
          </p:cNvSpPr>
          <p:nvPr>
            <p:ph type="dt" sz="half" idx="10"/>
          </p:nvPr>
        </p:nvSpPr>
        <p:spPr/>
        <p:txBody>
          <a:bodyPr/>
          <a:lstStyle/>
          <a:p>
            <a:r>
              <a:rPr lang="de-DE" altLang="zh-CN" dirty="0"/>
              <a:t>09.07.2026</a:t>
            </a:r>
          </a:p>
          <a:p>
            <a:pPr algn="l"/>
            <a:endParaRPr lang="de-DE" dirty="0"/>
          </a:p>
        </p:txBody>
      </p:sp>
      <p:sp>
        <p:nvSpPr>
          <p:cNvPr id="5" name="页脚占位符 4">
            <a:extLst>
              <a:ext uri="{FF2B5EF4-FFF2-40B4-BE49-F238E27FC236}">
                <a16:creationId xmlns:a16="http://schemas.microsoft.com/office/drawing/2014/main" id="{1F7028AE-961C-F09F-2E46-A5AE47AEFD15}"/>
              </a:ext>
            </a:extLst>
          </p:cNvPr>
          <p:cNvSpPr>
            <a:spLocks noGrp="1"/>
          </p:cNvSpPr>
          <p:nvPr>
            <p:ph type="ftr" sz="quarter" idx="11"/>
          </p:nvPr>
        </p:nvSpPr>
        <p:spPr/>
        <p:txBody>
          <a:bodyPr/>
          <a:lstStyle/>
          <a:p>
            <a:r>
              <a:rPr lang="en-US" altLang="zh-CN" dirty="0"/>
              <a:t>Yida Cheng</a:t>
            </a:r>
          </a:p>
        </p:txBody>
      </p:sp>
      <p:sp>
        <p:nvSpPr>
          <p:cNvPr id="6" name="灯片编号占位符 5">
            <a:extLst>
              <a:ext uri="{FF2B5EF4-FFF2-40B4-BE49-F238E27FC236}">
                <a16:creationId xmlns:a16="http://schemas.microsoft.com/office/drawing/2014/main" id="{8FF06081-838E-83B1-9F9D-BB30539D40AD}"/>
              </a:ext>
            </a:extLst>
          </p:cNvPr>
          <p:cNvSpPr>
            <a:spLocks noGrp="1"/>
          </p:cNvSpPr>
          <p:nvPr>
            <p:ph type="sldNum" sz="quarter" idx="12"/>
          </p:nvPr>
        </p:nvSpPr>
        <p:spPr/>
        <p:txBody>
          <a:bodyPr/>
          <a:lstStyle/>
          <a:p>
            <a:fld id="{4D01E63C-D794-4429-8564-635E6253AC5C}" type="slidenum">
              <a:rPr lang="en-US" smtClean="0"/>
              <a:pPr/>
              <a:t>4</a:t>
            </a:fld>
            <a:endParaRPr lang="en-US" dirty="0"/>
          </a:p>
        </p:txBody>
      </p:sp>
      <p:grpSp>
        <p:nvGrpSpPr>
          <p:cNvPr id="35" name="组合 34">
            <a:extLst>
              <a:ext uri="{FF2B5EF4-FFF2-40B4-BE49-F238E27FC236}">
                <a16:creationId xmlns:a16="http://schemas.microsoft.com/office/drawing/2014/main" id="{7756259D-4249-2AFC-9C3A-59D17799C253}"/>
              </a:ext>
            </a:extLst>
          </p:cNvPr>
          <p:cNvGrpSpPr/>
          <p:nvPr/>
        </p:nvGrpSpPr>
        <p:grpSpPr>
          <a:xfrm>
            <a:off x="504263" y="992441"/>
            <a:ext cx="5466230" cy="884195"/>
            <a:chOff x="504263" y="992441"/>
            <a:chExt cx="5466230" cy="884195"/>
          </a:xfrm>
        </p:grpSpPr>
        <p:sp>
          <p:nvSpPr>
            <p:cNvPr id="8" name="矩形: 圆角 7">
              <a:extLst>
                <a:ext uri="{FF2B5EF4-FFF2-40B4-BE49-F238E27FC236}">
                  <a16:creationId xmlns:a16="http://schemas.microsoft.com/office/drawing/2014/main" id="{AEC5410D-6990-47E5-FE68-61C3104E0175}"/>
                </a:ext>
              </a:extLst>
            </p:cNvPr>
            <p:cNvSpPr/>
            <p:nvPr/>
          </p:nvSpPr>
          <p:spPr>
            <a:xfrm>
              <a:off x="504263" y="992441"/>
              <a:ext cx="5466230" cy="524824"/>
            </a:xfrm>
            <a:prstGeom prst="round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Raw aging pulse-test data</a:t>
              </a:r>
              <a:endParaRPr lang="zh-CN" altLang="en-US" dirty="0">
                <a:solidFill>
                  <a:schemeClr val="tx1"/>
                </a:solidFill>
              </a:endParaRPr>
            </a:p>
          </p:txBody>
        </p:sp>
        <p:sp>
          <p:nvSpPr>
            <p:cNvPr id="24" name="箭头: 下 23">
              <a:extLst>
                <a:ext uri="{FF2B5EF4-FFF2-40B4-BE49-F238E27FC236}">
                  <a16:creationId xmlns:a16="http://schemas.microsoft.com/office/drawing/2014/main" id="{AE9DFF65-EF0A-E936-7C69-0D83D19C3097}"/>
                </a:ext>
              </a:extLst>
            </p:cNvPr>
            <p:cNvSpPr/>
            <p:nvPr/>
          </p:nvSpPr>
          <p:spPr>
            <a:xfrm>
              <a:off x="3153334" y="1517265"/>
              <a:ext cx="168088" cy="359371"/>
            </a:xfrm>
            <a:prstGeom prst="downArrow">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err="1">
                <a:solidFill>
                  <a:schemeClr val="tx1"/>
                </a:solidFill>
              </a:endParaRPr>
            </a:p>
          </p:txBody>
        </p:sp>
      </p:grpSp>
      <p:grpSp>
        <p:nvGrpSpPr>
          <p:cNvPr id="36" name="组合 35">
            <a:extLst>
              <a:ext uri="{FF2B5EF4-FFF2-40B4-BE49-F238E27FC236}">
                <a16:creationId xmlns:a16="http://schemas.microsoft.com/office/drawing/2014/main" id="{4AD713D7-87BA-314F-FE84-E65E7F8416C4}"/>
              </a:ext>
            </a:extLst>
          </p:cNvPr>
          <p:cNvGrpSpPr/>
          <p:nvPr/>
        </p:nvGrpSpPr>
        <p:grpSpPr>
          <a:xfrm>
            <a:off x="1394907" y="1856891"/>
            <a:ext cx="5466230" cy="884195"/>
            <a:chOff x="504263" y="992441"/>
            <a:chExt cx="5466230" cy="884195"/>
          </a:xfrm>
        </p:grpSpPr>
        <p:sp>
          <p:nvSpPr>
            <p:cNvPr id="37" name="矩形: 圆角 36">
              <a:extLst>
                <a:ext uri="{FF2B5EF4-FFF2-40B4-BE49-F238E27FC236}">
                  <a16:creationId xmlns:a16="http://schemas.microsoft.com/office/drawing/2014/main" id="{B0FFC976-7A62-D61C-D341-A440D35089FC}"/>
                </a:ext>
              </a:extLst>
            </p:cNvPr>
            <p:cNvSpPr/>
            <p:nvPr/>
          </p:nvSpPr>
          <p:spPr>
            <a:xfrm>
              <a:off x="504263" y="992441"/>
              <a:ext cx="5466230" cy="524824"/>
            </a:xfrm>
            <a:prstGeom prst="round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SOC-resolved parameter extraction</a:t>
              </a:r>
              <a:endParaRPr lang="zh-CN" altLang="en-US" dirty="0">
                <a:solidFill>
                  <a:schemeClr val="tx1"/>
                </a:solidFill>
              </a:endParaRPr>
            </a:p>
          </p:txBody>
        </p:sp>
        <p:sp>
          <p:nvSpPr>
            <p:cNvPr id="38" name="箭头: 下 37">
              <a:extLst>
                <a:ext uri="{FF2B5EF4-FFF2-40B4-BE49-F238E27FC236}">
                  <a16:creationId xmlns:a16="http://schemas.microsoft.com/office/drawing/2014/main" id="{2ECF33CC-EB4F-6029-C8DD-D4B2E15CE783}"/>
                </a:ext>
              </a:extLst>
            </p:cNvPr>
            <p:cNvSpPr/>
            <p:nvPr/>
          </p:nvSpPr>
          <p:spPr>
            <a:xfrm>
              <a:off x="3153334" y="1517265"/>
              <a:ext cx="168088" cy="359371"/>
            </a:xfrm>
            <a:prstGeom prst="downArrow">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err="1">
                <a:solidFill>
                  <a:schemeClr val="tx1"/>
                </a:solidFill>
              </a:endParaRPr>
            </a:p>
          </p:txBody>
        </p:sp>
      </p:grpSp>
      <p:grpSp>
        <p:nvGrpSpPr>
          <p:cNvPr id="39" name="组合 38">
            <a:extLst>
              <a:ext uri="{FF2B5EF4-FFF2-40B4-BE49-F238E27FC236}">
                <a16:creationId xmlns:a16="http://schemas.microsoft.com/office/drawing/2014/main" id="{565AAE7E-8CAF-0F26-78AC-4139EFDE8061}"/>
              </a:ext>
            </a:extLst>
          </p:cNvPr>
          <p:cNvGrpSpPr/>
          <p:nvPr/>
        </p:nvGrpSpPr>
        <p:grpSpPr>
          <a:xfrm>
            <a:off x="2285551" y="2721341"/>
            <a:ext cx="5466230" cy="884195"/>
            <a:chOff x="504263" y="992441"/>
            <a:chExt cx="5466230" cy="884195"/>
          </a:xfrm>
        </p:grpSpPr>
        <p:sp>
          <p:nvSpPr>
            <p:cNvPr id="40" name="矩形: 圆角 39">
              <a:extLst>
                <a:ext uri="{FF2B5EF4-FFF2-40B4-BE49-F238E27FC236}">
                  <a16:creationId xmlns:a16="http://schemas.microsoft.com/office/drawing/2014/main" id="{0F14488B-9F90-2213-BE77-C97EE7A7D19C}"/>
                </a:ext>
              </a:extLst>
            </p:cNvPr>
            <p:cNvSpPr/>
            <p:nvPr/>
          </p:nvSpPr>
          <p:spPr>
            <a:xfrm>
              <a:off x="504263" y="992441"/>
              <a:ext cx="5466230" cy="524824"/>
            </a:xfrm>
            <a:prstGeom prst="round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Capacity + R</a:t>
              </a:r>
              <a:r>
                <a:rPr lang="zh-CN" altLang="zh-CN" baseline="-25000" dirty="0">
                  <a:solidFill>
                    <a:schemeClr val="tx1"/>
                  </a:solidFill>
                </a:rPr>
                <a:t>0</a:t>
              </a:r>
              <a:r>
                <a:rPr lang="zh-CN" altLang="zh-CN" dirty="0">
                  <a:solidFill>
                    <a:schemeClr val="tx1"/>
                  </a:solidFill>
                </a:rPr>
                <a:t> + R</a:t>
              </a:r>
              <a:r>
                <a:rPr lang="zh-CN" altLang="zh-CN" baseline="-25000" dirty="0">
                  <a:solidFill>
                    <a:schemeClr val="tx1"/>
                  </a:solidFill>
                </a:rPr>
                <a:t>1</a:t>
              </a:r>
              <a:r>
                <a:rPr lang="zh-CN" altLang="zh-CN" dirty="0">
                  <a:solidFill>
                    <a:schemeClr val="tx1"/>
                  </a:solidFill>
                </a:rPr>
                <a:t> + R</a:t>
              </a:r>
              <a:r>
                <a:rPr lang="zh-CN" altLang="zh-CN" baseline="-25000" dirty="0">
                  <a:solidFill>
                    <a:schemeClr val="tx1"/>
                  </a:solidFill>
                </a:rPr>
                <a:t>2</a:t>
              </a:r>
              <a:endParaRPr lang="zh-CN" altLang="en-US" baseline="-25000" dirty="0">
                <a:solidFill>
                  <a:schemeClr val="tx1"/>
                </a:solidFill>
              </a:endParaRPr>
            </a:p>
          </p:txBody>
        </p:sp>
        <p:sp>
          <p:nvSpPr>
            <p:cNvPr id="41" name="箭头: 下 40">
              <a:extLst>
                <a:ext uri="{FF2B5EF4-FFF2-40B4-BE49-F238E27FC236}">
                  <a16:creationId xmlns:a16="http://schemas.microsoft.com/office/drawing/2014/main" id="{EFB0690C-EBB5-14E0-DDEB-2E717C392691}"/>
                </a:ext>
              </a:extLst>
            </p:cNvPr>
            <p:cNvSpPr/>
            <p:nvPr/>
          </p:nvSpPr>
          <p:spPr>
            <a:xfrm>
              <a:off x="3153334" y="1517265"/>
              <a:ext cx="168088" cy="359371"/>
            </a:xfrm>
            <a:prstGeom prst="downArrow">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err="1">
                <a:solidFill>
                  <a:schemeClr val="tx1"/>
                </a:solidFill>
              </a:endParaRPr>
            </a:p>
          </p:txBody>
        </p:sp>
      </p:grpSp>
      <p:grpSp>
        <p:nvGrpSpPr>
          <p:cNvPr id="42" name="组合 41">
            <a:extLst>
              <a:ext uri="{FF2B5EF4-FFF2-40B4-BE49-F238E27FC236}">
                <a16:creationId xmlns:a16="http://schemas.microsoft.com/office/drawing/2014/main" id="{966DBC2F-96C9-B907-568D-5A9F248CE013}"/>
              </a:ext>
            </a:extLst>
          </p:cNvPr>
          <p:cNvGrpSpPr/>
          <p:nvPr/>
        </p:nvGrpSpPr>
        <p:grpSpPr>
          <a:xfrm>
            <a:off x="3176195" y="3585791"/>
            <a:ext cx="5466230" cy="884195"/>
            <a:chOff x="504263" y="992441"/>
            <a:chExt cx="5466230" cy="884195"/>
          </a:xfrm>
        </p:grpSpPr>
        <p:sp>
          <p:nvSpPr>
            <p:cNvPr id="43" name="矩形: 圆角 42">
              <a:extLst>
                <a:ext uri="{FF2B5EF4-FFF2-40B4-BE49-F238E27FC236}">
                  <a16:creationId xmlns:a16="http://schemas.microsoft.com/office/drawing/2014/main" id="{6C28972E-EB88-9B2C-D46D-54512F86EE98}"/>
                </a:ext>
              </a:extLst>
            </p:cNvPr>
            <p:cNvSpPr/>
            <p:nvPr/>
          </p:nvSpPr>
          <p:spPr>
            <a:xfrm>
              <a:off x="504263" y="992441"/>
              <a:ext cx="5466230" cy="524824"/>
            </a:xfrm>
            <a:prstGeom prst="round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Multi-task learning model</a:t>
              </a:r>
              <a:endParaRPr lang="zh-CN" altLang="en-US" dirty="0">
                <a:solidFill>
                  <a:schemeClr val="tx1"/>
                </a:solidFill>
              </a:endParaRPr>
            </a:p>
          </p:txBody>
        </p:sp>
        <p:sp>
          <p:nvSpPr>
            <p:cNvPr id="44" name="箭头: 下 43">
              <a:extLst>
                <a:ext uri="{FF2B5EF4-FFF2-40B4-BE49-F238E27FC236}">
                  <a16:creationId xmlns:a16="http://schemas.microsoft.com/office/drawing/2014/main" id="{DB0D523D-8665-1910-0C38-50BEA099DC33}"/>
                </a:ext>
              </a:extLst>
            </p:cNvPr>
            <p:cNvSpPr/>
            <p:nvPr/>
          </p:nvSpPr>
          <p:spPr>
            <a:xfrm>
              <a:off x="3153334" y="1517265"/>
              <a:ext cx="168088" cy="359371"/>
            </a:xfrm>
            <a:prstGeom prst="downArrow">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err="1">
                <a:solidFill>
                  <a:schemeClr val="tx1"/>
                </a:solidFill>
              </a:endParaRPr>
            </a:p>
          </p:txBody>
        </p:sp>
      </p:grpSp>
      <p:grpSp>
        <p:nvGrpSpPr>
          <p:cNvPr id="45" name="组合 44">
            <a:extLst>
              <a:ext uri="{FF2B5EF4-FFF2-40B4-BE49-F238E27FC236}">
                <a16:creationId xmlns:a16="http://schemas.microsoft.com/office/drawing/2014/main" id="{C7CC9DEA-3FE5-65BD-F186-A9D680E29EDB}"/>
              </a:ext>
            </a:extLst>
          </p:cNvPr>
          <p:cNvGrpSpPr/>
          <p:nvPr/>
        </p:nvGrpSpPr>
        <p:grpSpPr>
          <a:xfrm>
            <a:off x="4066839" y="4450241"/>
            <a:ext cx="5466230" cy="884195"/>
            <a:chOff x="504263" y="992441"/>
            <a:chExt cx="5466230" cy="884195"/>
          </a:xfrm>
        </p:grpSpPr>
        <p:sp>
          <p:nvSpPr>
            <p:cNvPr id="46" name="矩形: 圆角 45">
              <a:extLst>
                <a:ext uri="{FF2B5EF4-FFF2-40B4-BE49-F238E27FC236}">
                  <a16:creationId xmlns:a16="http://schemas.microsoft.com/office/drawing/2014/main" id="{E2B77F7A-BFD4-A1FB-8A75-55BB9ED87877}"/>
                </a:ext>
              </a:extLst>
            </p:cNvPr>
            <p:cNvSpPr/>
            <p:nvPr/>
          </p:nvSpPr>
          <p:spPr>
            <a:xfrm>
              <a:off x="504263" y="992441"/>
              <a:ext cx="5466230" cy="524824"/>
            </a:xfrm>
            <a:prstGeom prst="round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Battery health prediction</a:t>
              </a:r>
              <a:endParaRPr lang="zh-CN" altLang="en-US" dirty="0">
                <a:solidFill>
                  <a:schemeClr val="tx1"/>
                </a:solidFill>
              </a:endParaRPr>
            </a:p>
          </p:txBody>
        </p:sp>
        <p:sp>
          <p:nvSpPr>
            <p:cNvPr id="47" name="箭头: 下 46">
              <a:extLst>
                <a:ext uri="{FF2B5EF4-FFF2-40B4-BE49-F238E27FC236}">
                  <a16:creationId xmlns:a16="http://schemas.microsoft.com/office/drawing/2014/main" id="{6CB0EDCF-495C-EA95-0474-E7E85DF30225}"/>
                </a:ext>
              </a:extLst>
            </p:cNvPr>
            <p:cNvSpPr/>
            <p:nvPr/>
          </p:nvSpPr>
          <p:spPr>
            <a:xfrm>
              <a:off x="3153334" y="1517265"/>
              <a:ext cx="168088" cy="359371"/>
            </a:xfrm>
            <a:prstGeom prst="downArrow">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err="1">
                <a:solidFill>
                  <a:schemeClr val="tx1"/>
                </a:solidFill>
              </a:endParaRPr>
            </a:p>
          </p:txBody>
        </p:sp>
      </p:grpSp>
      <p:sp>
        <p:nvSpPr>
          <p:cNvPr id="49" name="矩形: 圆角 48">
            <a:extLst>
              <a:ext uri="{FF2B5EF4-FFF2-40B4-BE49-F238E27FC236}">
                <a16:creationId xmlns:a16="http://schemas.microsoft.com/office/drawing/2014/main" id="{44337A70-A94E-D23F-4201-ACD967671A54}"/>
              </a:ext>
            </a:extLst>
          </p:cNvPr>
          <p:cNvSpPr/>
          <p:nvPr/>
        </p:nvSpPr>
        <p:spPr>
          <a:xfrm>
            <a:off x="4957481" y="5314690"/>
            <a:ext cx="5466230" cy="524824"/>
          </a:xfrm>
          <a:prstGeom prst="round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Chemistry-specific degradation comparison</a:t>
            </a:r>
            <a:endParaRPr lang="zh-CN" altLang="en-US" dirty="0">
              <a:solidFill>
                <a:schemeClr val="tx1"/>
              </a:solidFill>
            </a:endParaRPr>
          </a:p>
        </p:txBody>
      </p:sp>
    </p:spTree>
    <p:extLst>
      <p:ext uri="{BB962C8B-B14F-4D97-AF65-F5344CB8AC3E}">
        <p14:creationId xmlns:p14="http://schemas.microsoft.com/office/powerpoint/2010/main" val="1949544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369CFF-05C3-16D5-6A87-5B55C41FC4C6}"/>
              </a:ext>
            </a:extLst>
          </p:cNvPr>
          <p:cNvSpPr>
            <a:spLocks noGrp="1" noChangeAspect="1"/>
          </p:cNvSpPr>
          <p:nvPr>
            <p:ph type="title"/>
          </p:nvPr>
        </p:nvSpPr>
        <p:spPr>
          <a:xfrm>
            <a:off x="383950" y="201600"/>
            <a:ext cx="11422513" cy="543600"/>
          </a:xfrm>
        </p:spPr>
        <p:txBody>
          <a:bodyPr anchor="b">
            <a:normAutofit/>
          </a:bodyPr>
          <a:lstStyle/>
          <a:p>
            <a:r>
              <a:rPr lang="en-US" altLang="zh-CN" dirty="0"/>
              <a:t>Gantt Bilder</a:t>
            </a:r>
            <a:endParaRPr lang="zh-CN" altLang="zh-CN" dirty="0"/>
          </a:p>
        </p:txBody>
      </p:sp>
      <p:pic>
        <p:nvPicPr>
          <p:cNvPr id="7" name="图片 6">
            <a:extLst>
              <a:ext uri="{FF2B5EF4-FFF2-40B4-BE49-F238E27FC236}">
                <a16:creationId xmlns:a16="http://schemas.microsoft.com/office/drawing/2014/main" id="{7F8F84EE-7926-A921-CCEE-76A1EDA7B9F6}"/>
              </a:ext>
            </a:extLst>
          </p:cNvPr>
          <p:cNvPicPr>
            <a:picLocks noChangeAspect="1"/>
          </p:cNvPicPr>
          <p:nvPr/>
        </p:nvPicPr>
        <p:blipFill>
          <a:blip r:embed="rId3"/>
          <a:stretch>
            <a:fillRect/>
          </a:stretch>
        </p:blipFill>
        <p:spPr>
          <a:xfrm>
            <a:off x="383950" y="1037230"/>
            <a:ext cx="11321625" cy="5009818"/>
          </a:xfrm>
          <a:prstGeom prst="rect">
            <a:avLst/>
          </a:prstGeom>
          <a:noFill/>
        </p:spPr>
      </p:pic>
      <p:sp>
        <p:nvSpPr>
          <p:cNvPr id="4" name="日期占位符 3">
            <a:extLst>
              <a:ext uri="{FF2B5EF4-FFF2-40B4-BE49-F238E27FC236}">
                <a16:creationId xmlns:a16="http://schemas.microsoft.com/office/drawing/2014/main" id="{0026AFB3-2D62-EEAC-75DE-207484AEB59D}"/>
              </a:ext>
            </a:extLst>
          </p:cNvPr>
          <p:cNvSpPr>
            <a:spLocks noGrp="1"/>
          </p:cNvSpPr>
          <p:nvPr>
            <p:ph type="dt" sz="half" idx="10"/>
          </p:nvPr>
        </p:nvSpPr>
        <p:spPr>
          <a:xfrm>
            <a:off x="935480" y="6361350"/>
            <a:ext cx="5668062" cy="524824"/>
          </a:xfrm>
        </p:spPr>
        <p:txBody>
          <a:bodyPr anchor="t">
            <a:normAutofit/>
          </a:bodyPr>
          <a:lstStyle/>
          <a:p>
            <a:pPr>
              <a:spcAft>
                <a:spcPts val="600"/>
              </a:spcAft>
            </a:pPr>
            <a:r>
              <a:rPr lang="de-DE" dirty="0"/>
              <a:t>09.07.2026</a:t>
            </a:r>
            <a:endParaRPr lang="de-DE"/>
          </a:p>
        </p:txBody>
      </p:sp>
      <p:sp>
        <p:nvSpPr>
          <p:cNvPr id="5" name="页脚占位符 4">
            <a:extLst>
              <a:ext uri="{FF2B5EF4-FFF2-40B4-BE49-F238E27FC236}">
                <a16:creationId xmlns:a16="http://schemas.microsoft.com/office/drawing/2014/main" id="{BC09910C-77B7-860D-351B-E346039301CE}"/>
              </a:ext>
            </a:extLst>
          </p:cNvPr>
          <p:cNvSpPr>
            <a:spLocks noGrp="1"/>
          </p:cNvSpPr>
          <p:nvPr>
            <p:ph type="ftr" sz="quarter" idx="11"/>
          </p:nvPr>
        </p:nvSpPr>
        <p:spPr>
          <a:xfrm>
            <a:off x="1818425" y="6361350"/>
            <a:ext cx="4391428" cy="524824"/>
          </a:xfrm>
        </p:spPr>
        <p:txBody>
          <a:bodyPr anchor="t">
            <a:normAutofit/>
          </a:bodyPr>
          <a:lstStyle/>
          <a:p>
            <a:pPr>
              <a:spcAft>
                <a:spcPts val="600"/>
              </a:spcAft>
            </a:pPr>
            <a:r>
              <a:rPr lang="en-US" dirty="0"/>
              <a:t>Y</a:t>
            </a:r>
            <a:r>
              <a:rPr lang="en-US" altLang="zh-CN" dirty="0"/>
              <a:t>ida Cheng</a:t>
            </a:r>
            <a:endParaRPr lang="en-US"/>
          </a:p>
        </p:txBody>
      </p:sp>
      <p:sp>
        <p:nvSpPr>
          <p:cNvPr id="6" name="灯片编号占位符 5">
            <a:extLst>
              <a:ext uri="{FF2B5EF4-FFF2-40B4-BE49-F238E27FC236}">
                <a16:creationId xmlns:a16="http://schemas.microsoft.com/office/drawing/2014/main" id="{46744937-B887-441D-7256-3FE8569AAE05}"/>
              </a:ext>
            </a:extLst>
          </p:cNvPr>
          <p:cNvSpPr>
            <a:spLocks noGrp="1"/>
          </p:cNvSpPr>
          <p:nvPr>
            <p:ph type="sldNum" sz="quarter" idx="12"/>
          </p:nvPr>
        </p:nvSpPr>
        <p:spPr>
          <a:xfrm>
            <a:off x="383950" y="6361350"/>
            <a:ext cx="974273" cy="396000"/>
          </a:xfrm>
        </p:spPr>
        <p:txBody>
          <a:bodyPr anchor="t">
            <a:normAutofit/>
          </a:bodyPr>
          <a:lstStyle/>
          <a:p>
            <a:pPr>
              <a:spcAft>
                <a:spcPts val="600"/>
              </a:spcAft>
            </a:pPr>
            <a:fld id="{4D01E63C-D794-4429-8564-635E6253AC5C}" type="slidenum">
              <a:rPr lang="en-US" smtClean="0"/>
              <a:pPr>
                <a:spcAft>
                  <a:spcPts val="600"/>
                </a:spcAft>
              </a:pPr>
              <a:t>5</a:t>
            </a:fld>
            <a:endParaRPr lang="en-US"/>
          </a:p>
        </p:txBody>
      </p:sp>
    </p:spTree>
    <p:extLst>
      <p:ext uri="{BB962C8B-B14F-4D97-AF65-F5344CB8AC3E}">
        <p14:creationId xmlns:p14="http://schemas.microsoft.com/office/powerpoint/2010/main" val="171199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87667-3B9E-47B3-E1DA-12823235C8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026793-85E4-4F17-A906-13AB22D9218A}"/>
              </a:ext>
            </a:extLst>
          </p:cNvPr>
          <p:cNvSpPr>
            <a:spLocks noGrp="1"/>
          </p:cNvSpPr>
          <p:nvPr>
            <p:ph type="title"/>
          </p:nvPr>
        </p:nvSpPr>
        <p:spPr/>
        <p:txBody>
          <a:bodyPr/>
          <a:lstStyle/>
          <a:p>
            <a:r>
              <a:rPr lang="en-US" altLang="zh-CN" dirty="0"/>
              <a:t>Table of contents</a:t>
            </a:r>
            <a:endParaRPr lang="zh-CN" altLang="en-US" dirty="0"/>
          </a:p>
        </p:txBody>
      </p:sp>
      <p:sp>
        <p:nvSpPr>
          <p:cNvPr id="3" name="内容占位符 2">
            <a:extLst>
              <a:ext uri="{FF2B5EF4-FFF2-40B4-BE49-F238E27FC236}">
                <a16:creationId xmlns:a16="http://schemas.microsoft.com/office/drawing/2014/main" id="{2275CC9D-0470-2053-309B-08A882C08E2A}"/>
              </a:ext>
            </a:extLst>
          </p:cNvPr>
          <p:cNvSpPr>
            <a:spLocks noGrp="1"/>
          </p:cNvSpPr>
          <p:nvPr>
            <p:ph idx="1"/>
          </p:nvPr>
        </p:nvSpPr>
        <p:spPr/>
        <p:txBody>
          <a:bodyPr/>
          <a:lstStyle/>
          <a:p>
            <a:pPr>
              <a:lnSpc>
                <a:spcPct val="200000"/>
              </a:lnSpc>
            </a:pPr>
            <a:r>
              <a:rPr lang="en-US" altLang="zh-CN" dirty="0"/>
              <a:t>Research Background &amp; Objectives</a:t>
            </a:r>
          </a:p>
          <a:p>
            <a:pPr>
              <a:lnSpc>
                <a:spcPct val="200000"/>
              </a:lnSpc>
            </a:pPr>
            <a:r>
              <a:rPr lang="en-US" altLang="zh-CN" b="1" dirty="0">
                <a:solidFill>
                  <a:schemeClr val="accent4"/>
                </a:solidFill>
              </a:rPr>
              <a:t>Literature Review</a:t>
            </a:r>
          </a:p>
          <a:p>
            <a:pPr>
              <a:lnSpc>
                <a:spcPct val="200000"/>
              </a:lnSpc>
            </a:pPr>
            <a:r>
              <a:rPr lang="en-US" altLang="zh-CN" dirty="0"/>
              <a:t>Data Processing and Resistance Extraction Progress</a:t>
            </a:r>
          </a:p>
          <a:p>
            <a:pPr>
              <a:lnSpc>
                <a:spcPct val="200000"/>
              </a:lnSpc>
            </a:pPr>
            <a:r>
              <a:rPr lang="en-US" altLang="zh-CN" dirty="0"/>
              <a:t>Preliminary Findings and Current Problems </a:t>
            </a:r>
          </a:p>
          <a:p>
            <a:pPr>
              <a:lnSpc>
                <a:spcPct val="200000"/>
              </a:lnSpc>
            </a:pPr>
            <a:r>
              <a:rPr lang="en-US" altLang="zh-CN" dirty="0"/>
              <a:t>Next-stage Research Plan</a:t>
            </a:r>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7465AA94-5509-C29F-C057-F50848990246}"/>
              </a:ext>
            </a:extLst>
          </p:cNvPr>
          <p:cNvSpPr>
            <a:spLocks noGrp="1"/>
          </p:cNvSpPr>
          <p:nvPr>
            <p:ph type="dt" sz="half" idx="10"/>
          </p:nvPr>
        </p:nvSpPr>
        <p:spPr/>
        <p:txBody>
          <a:bodyPr/>
          <a:lstStyle/>
          <a:p>
            <a:r>
              <a:rPr lang="de-DE" altLang="zh-CN" dirty="0"/>
              <a:t>09.07.2026</a:t>
            </a:r>
          </a:p>
          <a:p>
            <a:pPr algn="l"/>
            <a:endParaRPr lang="de-DE" dirty="0"/>
          </a:p>
        </p:txBody>
      </p:sp>
      <p:sp>
        <p:nvSpPr>
          <p:cNvPr id="5" name="页脚占位符 4">
            <a:extLst>
              <a:ext uri="{FF2B5EF4-FFF2-40B4-BE49-F238E27FC236}">
                <a16:creationId xmlns:a16="http://schemas.microsoft.com/office/drawing/2014/main" id="{F7EBBEE7-C9CC-6258-66F2-699AE002D223}"/>
              </a:ext>
            </a:extLst>
          </p:cNvPr>
          <p:cNvSpPr>
            <a:spLocks noGrp="1"/>
          </p:cNvSpPr>
          <p:nvPr>
            <p:ph type="ftr" sz="quarter" idx="11"/>
          </p:nvPr>
        </p:nvSpPr>
        <p:spPr/>
        <p:txBody>
          <a:bodyPr/>
          <a:lstStyle/>
          <a:p>
            <a:r>
              <a:rPr lang="en-US" altLang="zh-CN" dirty="0"/>
              <a:t>Yida Cheng</a:t>
            </a:r>
          </a:p>
        </p:txBody>
      </p:sp>
      <p:sp>
        <p:nvSpPr>
          <p:cNvPr id="6" name="灯片编号占位符 5">
            <a:extLst>
              <a:ext uri="{FF2B5EF4-FFF2-40B4-BE49-F238E27FC236}">
                <a16:creationId xmlns:a16="http://schemas.microsoft.com/office/drawing/2014/main" id="{02DAEB63-4742-3FEA-CB43-81C72F88DA33}"/>
              </a:ext>
            </a:extLst>
          </p:cNvPr>
          <p:cNvSpPr>
            <a:spLocks noGrp="1"/>
          </p:cNvSpPr>
          <p:nvPr>
            <p:ph type="sldNum" sz="quarter" idx="12"/>
          </p:nvPr>
        </p:nvSpPr>
        <p:spPr/>
        <p:txBody>
          <a:bodyPr/>
          <a:lstStyle/>
          <a:p>
            <a:fld id="{4D01E63C-D794-4429-8564-635E6253AC5C}" type="slidenum">
              <a:rPr lang="en-US" smtClean="0"/>
              <a:pPr/>
              <a:t>6</a:t>
            </a:fld>
            <a:endParaRPr lang="en-US" dirty="0"/>
          </a:p>
        </p:txBody>
      </p:sp>
    </p:spTree>
    <p:extLst>
      <p:ext uri="{BB962C8B-B14F-4D97-AF65-F5344CB8AC3E}">
        <p14:creationId xmlns:p14="http://schemas.microsoft.com/office/powerpoint/2010/main" val="176721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504B-2E3F-A248-A8A1-629844F0B42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427E6D3-ED69-1501-A00A-FFDEC6E10708}"/>
              </a:ext>
            </a:extLst>
          </p:cNvPr>
          <p:cNvSpPr>
            <a:spLocks noGrp="1"/>
          </p:cNvSpPr>
          <p:nvPr>
            <p:ph type="title"/>
          </p:nvPr>
        </p:nvSpPr>
        <p:spPr/>
        <p:txBody>
          <a:bodyPr/>
          <a:lstStyle/>
          <a:p>
            <a:r>
              <a:rPr lang="zh-CN" altLang="zh-CN" sz="1800" dirty="0"/>
              <a:t>Literature Review: From Battery </a:t>
            </a:r>
            <a:r>
              <a:rPr lang="en-US" altLang="zh-CN" sz="1800" dirty="0"/>
              <a:t>Aging</a:t>
            </a:r>
            <a:r>
              <a:rPr lang="zh-CN" altLang="zh-CN" sz="1800" dirty="0"/>
              <a:t> Mechanisms to 2RC Parameter Extraction</a:t>
            </a:r>
          </a:p>
        </p:txBody>
      </p:sp>
      <p:sp>
        <p:nvSpPr>
          <p:cNvPr id="4" name="Datumsplatzhalter 3">
            <a:extLst>
              <a:ext uri="{FF2B5EF4-FFF2-40B4-BE49-F238E27FC236}">
                <a16:creationId xmlns:a16="http://schemas.microsoft.com/office/drawing/2014/main" id="{CDC22A2E-B985-335D-8B0F-9085D888FE2E}"/>
              </a:ext>
            </a:extLst>
          </p:cNvPr>
          <p:cNvSpPr>
            <a:spLocks noGrp="1"/>
          </p:cNvSpPr>
          <p:nvPr>
            <p:ph type="dt" sz="half" idx="10"/>
          </p:nvPr>
        </p:nvSpPr>
        <p:spPr/>
        <p:txBody>
          <a:bodyPr/>
          <a:lstStyle/>
          <a:p>
            <a:pPr algn="l"/>
            <a:r>
              <a:rPr lang="de-DE" dirty="0"/>
              <a:t>09.07.2026</a:t>
            </a:r>
          </a:p>
        </p:txBody>
      </p:sp>
      <p:sp>
        <p:nvSpPr>
          <p:cNvPr id="5" name="Fußzeilenplatzhalter 4">
            <a:extLst>
              <a:ext uri="{FF2B5EF4-FFF2-40B4-BE49-F238E27FC236}">
                <a16:creationId xmlns:a16="http://schemas.microsoft.com/office/drawing/2014/main" id="{199CA0D5-C703-9501-DFCD-3E306A80418E}"/>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63A81CF9-90C9-CB3F-AD94-98620A335EF3}"/>
              </a:ext>
            </a:extLst>
          </p:cNvPr>
          <p:cNvSpPr>
            <a:spLocks noGrp="1"/>
          </p:cNvSpPr>
          <p:nvPr>
            <p:ph type="sldNum" sz="quarter" idx="12"/>
          </p:nvPr>
        </p:nvSpPr>
        <p:spPr/>
        <p:txBody>
          <a:bodyPr/>
          <a:lstStyle/>
          <a:p>
            <a:fld id="{4D01E63C-D794-4429-8564-635E6253AC5C}" type="slidenum">
              <a:rPr lang="en-US" smtClean="0"/>
              <a:pPr/>
              <a:t>7</a:t>
            </a:fld>
            <a:endParaRPr lang="en-US" dirty="0"/>
          </a:p>
        </p:txBody>
      </p:sp>
      <p:sp>
        <p:nvSpPr>
          <p:cNvPr id="10" name="文本框 9">
            <a:extLst>
              <a:ext uri="{FF2B5EF4-FFF2-40B4-BE49-F238E27FC236}">
                <a16:creationId xmlns:a16="http://schemas.microsoft.com/office/drawing/2014/main" id="{45FB1AAE-A725-71C5-900B-21FC40700908}"/>
              </a:ext>
            </a:extLst>
          </p:cNvPr>
          <p:cNvSpPr txBox="1"/>
          <p:nvPr/>
        </p:nvSpPr>
        <p:spPr>
          <a:xfrm>
            <a:off x="3237876" y="5817685"/>
            <a:ext cx="8731770" cy="553998"/>
          </a:xfrm>
          <a:prstGeom prst="rect">
            <a:avLst/>
          </a:prstGeom>
          <a:noFill/>
        </p:spPr>
        <p:txBody>
          <a:bodyPr wrap="square" rtlCol="0">
            <a:spAutoFit/>
          </a:bodyPr>
          <a:lstStyle/>
          <a:p>
            <a:pPr algn="r"/>
            <a:r>
              <a:rPr lang="en-US" altLang="zh-CN" sz="1000" dirty="0"/>
              <a:t>Journal of Power Sources,</a:t>
            </a:r>
            <a:r>
              <a:rPr lang="zh-CN" altLang="en-US" sz="1000" dirty="0"/>
              <a:t> </a:t>
            </a:r>
            <a:r>
              <a:rPr lang="en-US" altLang="zh-CN" sz="1000" dirty="0"/>
              <a:t>Birkl et al., 2017</a:t>
            </a:r>
          </a:p>
          <a:p>
            <a:pPr algn="r"/>
            <a:r>
              <a:rPr lang="zh-CN" altLang="zh-CN" sz="1000" dirty="0"/>
              <a:t>Excitation Pulse Influence on the Accuracy and Robustness of Equivalent Circuit Model Parameter Identification for Li-Ion Batteries</a:t>
            </a:r>
            <a:r>
              <a:rPr lang="en-US" altLang="zh-CN" sz="1000" dirty="0"/>
              <a:t>.</a:t>
            </a:r>
            <a:r>
              <a:rPr lang="zh-CN" altLang="zh-CN" sz="1000" dirty="0"/>
              <a:t>Grebtsov et al., 2026</a:t>
            </a:r>
            <a:endParaRPr lang="zh-CN" altLang="en-US" sz="1000" dirty="0"/>
          </a:p>
          <a:p>
            <a:endParaRPr lang="en-US" altLang="zh-CN" sz="1000" dirty="0"/>
          </a:p>
        </p:txBody>
      </p:sp>
      <p:pic>
        <p:nvPicPr>
          <p:cNvPr id="11" name="图片 10">
            <a:extLst>
              <a:ext uri="{FF2B5EF4-FFF2-40B4-BE49-F238E27FC236}">
                <a16:creationId xmlns:a16="http://schemas.microsoft.com/office/drawing/2014/main" id="{0B73C242-4490-FECB-FEFB-A8DFD74A505C}"/>
              </a:ext>
            </a:extLst>
          </p:cNvPr>
          <p:cNvPicPr>
            <a:picLocks noChangeAspect="1"/>
          </p:cNvPicPr>
          <p:nvPr/>
        </p:nvPicPr>
        <p:blipFill>
          <a:blip r:embed="rId3"/>
          <a:stretch>
            <a:fillRect/>
          </a:stretch>
        </p:blipFill>
        <p:spPr>
          <a:xfrm>
            <a:off x="485677" y="945350"/>
            <a:ext cx="3419260" cy="4235022"/>
          </a:xfrm>
          <a:prstGeom prst="rect">
            <a:avLst/>
          </a:prstGeom>
        </p:spPr>
      </p:pic>
      <p:sp>
        <p:nvSpPr>
          <p:cNvPr id="15" name="文本框 14">
            <a:extLst>
              <a:ext uri="{FF2B5EF4-FFF2-40B4-BE49-F238E27FC236}">
                <a16:creationId xmlns:a16="http://schemas.microsoft.com/office/drawing/2014/main" id="{A72C88C9-08E3-0025-D623-CE998AA53990}"/>
              </a:ext>
            </a:extLst>
          </p:cNvPr>
          <p:cNvSpPr txBox="1"/>
          <p:nvPr/>
        </p:nvSpPr>
        <p:spPr>
          <a:xfrm>
            <a:off x="383950" y="5362942"/>
            <a:ext cx="7079740" cy="369332"/>
          </a:xfrm>
          <a:prstGeom prst="rect">
            <a:avLst/>
          </a:prstGeom>
          <a:noFill/>
        </p:spPr>
        <p:txBody>
          <a:bodyPr wrap="square">
            <a:spAutoFit/>
          </a:bodyPr>
          <a:lstStyle/>
          <a:p>
            <a:pPr marL="285750" indent="-285750">
              <a:buClr>
                <a:srgbClr val="00549F"/>
              </a:buClr>
              <a:buFont typeface="Wingdings" panose="05000000000000000000" pitchFamily="2" charset="2"/>
              <a:buChar char="n"/>
            </a:pPr>
            <a:r>
              <a:rPr lang="zh-CN" altLang="zh-CN" dirty="0"/>
              <a:t>Multiple coupled degradation mechanisms cause battery aging.</a:t>
            </a:r>
            <a:endParaRPr lang="zh-CN" altLang="en-US" dirty="0"/>
          </a:p>
        </p:txBody>
      </p:sp>
      <p:pic>
        <p:nvPicPr>
          <p:cNvPr id="17" name="图片 16">
            <a:extLst>
              <a:ext uri="{FF2B5EF4-FFF2-40B4-BE49-F238E27FC236}">
                <a16:creationId xmlns:a16="http://schemas.microsoft.com/office/drawing/2014/main" id="{B3D56BE2-FFEA-B653-9B45-8A43E2B7CB73}"/>
              </a:ext>
            </a:extLst>
          </p:cNvPr>
          <p:cNvPicPr>
            <a:picLocks noChangeAspect="1"/>
          </p:cNvPicPr>
          <p:nvPr/>
        </p:nvPicPr>
        <p:blipFill>
          <a:blip r:embed="rId4"/>
          <a:stretch>
            <a:fillRect/>
          </a:stretch>
        </p:blipFill>
        <p:spPr>
          <a:xfrm>
            <a:off x="4958928" y="838524"/>
            <a:ext cx="5009524" cy="2590476"/>
          </a:xfrm>
          <a:prstGeom prst="rect">
            <a:avLst/>
          </a:prstGeom>
        </p:spPr>
      </p:pic>
      <p:sp>
        <p:nvSpPr>
          <p:cNvPr id="20" name="文本框 19">
            <a:extLst>
              <a:ext uri="{FF2B5EF4-FFF2-40B4-BE49-F238E27FC236}">
                <a16:creationId xmlns:a16="http://schemas.microsoft.com/office/drawing/2014/main" id="{7C79D628-A694-1515-4926-0687D74F37EC}"/>
              </a:ext>
            </a:extLst>
          </p:cNvPr>
          <p:cNvSpPr txBox="1"/>
          <p:nvPr/>
        </p:nvSpPr>
        <p:spPr>
          <a:xfrm>
            <a:off x="4983979" y="3410885"/>
            <a:ext cx="7079740" cy="1287532"/>
          </a:xfrm>
          <a:prstGeom prst="rect">
            <a:avLst/>
          </a:prstGeom>
          <a:noFill/>
        </p:spPr>
        <p:txBody>
          <a:bodyPr wrap="square">
            <a:spAutoFit/>
          </a:bodyPr>
          <a:lstStyle/>
          <a:p>
            <a:pPr marL="285750" indent="-285750">
              <a:lnSpc>
                <a:spcPct val="150000"/>
              </a:lnSpc>
              <a:buClr>
                <a:srgbClr val="00549F"/>
              </a:buClr>
              <a:buFont typeface="Wingdings" panose="05000000000000000000" pitchFamily="2" charset="2"/>
              <a:buChar char="n"/>
            </a:pPr>
            <a:r>
              <a:rPr lang="zh-CN" altLang="en-US" dirty="0"/>
              <a:t>2RC Thevenin model captures fast and slow voltage relaxation.</a:t>
            </a:r>
          </a:p>
          <a:p>
            <a:pPr marL="285750" indent="-285750">
              <a:lnSpc>
                <a:spcPct val="150000"/>
              </a:lnSpc>
              <a:buClr>
                <a:srgbClr val="00549F"/>
              </a:buClr>
              <a:buFont typeface="Wingdings" panose="05000000000000000000" pitchFamily="2" charset="2"/>
              <a:buChar char="n"/>
            </a:pPr>
            <a:r>
              <a:rPr lang="zh-CN" altLang="en-US" dirty="0"/>
              <a:t>R₀ represents the instantaneous ohmic resistance.</a:t>
            </a:r>
          </a:p>
          <a:p>
            <a:pPr marL="285750" indent="-285750">
              <a:lnSpc>
                <a:spcPct val="150000"/>
              </a:lnSpc>
              <a:buClr>
                <a:srgbClr val="00549F"/>
              </a:buClr>
              <a:buFont typeface="Wingdings" panose="05000000000000000000" pitchFamily="2" charset="2"/>
              <a:buChar char="n"/>
            </a:pPr>
            <a:r>
              <a:rPr lang="zh-CN" altLang="en-US" dirty="0"/>
              <a:t>R₁/τ₁ and R₂/τ₂ describe fast and slow polarization dynamics.</a:t>
            </a:r>
          </a:p>
        </p:txBody>
      </p:sp>
    </p:spTree>
    <p:extLst>
      <p:ext uri="{BB962C8B-B14F-4D97-AF65-F5344CB8AC3E}">
        <p14:creationId xmlns:p14="http://schemas.microsoft.com/office/powerpoint/2010/main" val="1093137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BE5AC-7D09-4A71-B16A-D8CCB97ADD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9A46F1-993E-9212-F5FE-C2BD8D0A6662}"/>
              </a:ext>
            </a:extLst>
          </p:cNvPr>
          <p:cNvSpPr>
            <a:spLocks noGrp="1"/>
          </p:cNvSpPr>
          <p:nvPr>
            <p:ph type="title"/>
          </p:nvPr>
        </p:nvSpPr>
        <p:spPr/>
        <p:txBody>
          <a:bodyPr/>
          <a:lstStyle/>
          <a:p>
            <a:r>
              <a:rPr lang="en-US" altLang="zh-CN" dirty="0"/>
              <a:t>Table of contents</a:t>
            </a:r>
            <a:endParaRPr lang="zh-CN" altLang="en-US" dirty="0"/>
          </a:p>
        </p:txBody>
      </p:sp>
      <p:sp>
        <p:nvSpPr>
          <p:cNvPr id="3" name="内容占位符 2">
            <a:extLst>
              <a:ext uri="{FF2B5EF4-FFF2-40B4-BE49-F238E27FC236}">
                <a16:creationId xmlns:a16="http://schemas.microsoft.com/office/drawing/2014/main" id="{5AA06186-8B5C-4CEC-B05E-69FBB3424EEE}"/>
              </a:ext>
            </a:extLst>
          </p:cNvPr>
          <p:cNvSpPr>
            <a:spLocks noGrp="1"/>
          </p:cNvSpPr>
          <p:nvPr>
            <p:ph idx="1"/>
          </p:nvPr>
        </p:nvSpPr>
        <p:spPr/>
        <p:txBody>
          <a:bodyPr/>
          <a:lstStyle/>
          <a:p>
            <a:pPr>
              <a:lnSpc>
                <a:spcPct val="200000"/>
              </a:lnSpc>
            </a:pPr>
            <a:r>
              <a:rPr lang="en-US" altLang="zh-CN" dirty="0"/>
              <a:t>Research Background &amp; Objectives</a:t>
            </a:r>
          </a:p>
          <a:p>
            <a:pPr>
              <a:lnSpc>
                <a:spcPct val="200000"/>
              </a:lnSpc>
            </a:pPr>
            <a:r>
              <a:rPr lang="en-US" altLang="zh-CN" dirty="0"/>
              <a:t>Literature Review</a:t>
            </a:r>
          </a:p>
          <a:p>
            <a:pPr>
              <a:lnSpc>
                <a:spcPct val="200000"/>
              </a:lnSpc>
            </a:pPr>
            <a:r>
              <a:rPr lang="en-US" altLang="zh-CN" b="1" dirty="0">
                <a:solidFill>
                  <a:schemeClr val="accent4"/>
                </a:solidFill>
              </a:rPr>
              <a:t>Data Processing and Resistance Extraction Progress</a:t>
            </a:r>
          </a:p>
          <a:p>
            <a:pPr>
              <a:lnSpc>
                <a:spcPct val="200000"/>
              </a:lnSpc>
            </a:pPr>
            <a:r>
              <a:rPr lang="en-US" altLang="zh-CN" dirty="0"/>
              <a:t>Preliminary Findings and Current Problems</a:t>
            </a:r>
          </a:p>
          <a:p>
            <a:pPr>
              <a:lnSpc>
                <a:spcPct val="200000"/>
              </a:lnSpc>
            </a:pPr>
            <a:r>
              <a:rPr lang="en-US" altLang="zh-CN" dirty="0"/>
              <a:t>Next-stage Research Plan</a:t>
            </a:r>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9A823C9F-FB0A-E518-6DCB-95FC8CDA67D1}"/>
              </a:ext>
            </a:extLst>
          </p:cNvPr>
          <p:cNvSpPr>
            <a:spLocks noGrp="1"/>
          </p:cNvSpPr>
          <p:nvPr>
            <p:ph type="dt" sz="half" idx="10"/>
          </p:nvPr>
        </p:nvSpPr>
        <p:spPr/>
        <p:txBody>
          <a:bodyPr/>
          <a:lstStyle/>
          <a:p>
            <a:r>
              <a:rPr lang="de-DE" altLang="zh-CN" dirty="0"/>
              <a:t>09.07.2026</a:t>
            </a:r>
          </a:p>
          <a:p>
            <a:pPr algn="l"/>
            <a:endParaRPr lang="de-DE" dirty="0"/>
          </a:p>
        </p:txBody>
      </p:sp>
      <p:sp>
        <p:nvSpPr>
          <p:cNvPr id="5" name="页脚占位符 4">
            <a:extLst>
              <a:ext uri="{FF2B5EF4-FFF2-40B4-BE49-F238E27FC236}">
                <a16:creationId xmlns:a16="http://schemas.microsoft.com/office/drawing/2014/main" id="{1F0D4923-2E43-A645-F4DB-5B6A9F2937C8}"/>
              </a:ext>
            </a:extLst>
          </p:cNvPr>
          <p:cNvSpPr>
            <a:spLocks noGrp="1"/>
          </p:cNvSpPr>
          <p:nvPr>
            <p:ph type="ftr" sz="quarter" idx="11"/>
          </p:nvPr>
        </p:nvSpPr>
        <p:spPr/>
        <p:txBody>
          <a:bodyPr/>
          <a:lstStyle/>
          <a:p>
            <a:r>
              <a:rPr lang="en-US" altLang="zh-CN" dirty="0"/>
              <a:t>Yida Cheng</a:t>
            </a:r>
          </a:p>
        </p:txBody>
      </p:sp>
      <p:sp>
        <p:nvSpPr>
          <p:cNvPr id="6" name="灯片编号占位符 5">
            <a:extLst>
              <a:ext uri="{FF2B5EF4-FFF2-40B4-BE49-F238E27FC236}">
                <a16:creationId xmlns:a16="http://schemas.microsoft.com/office/drawing/2014/main" id="{36965DBF-B642-5C42-9C07-B85459A0630E}"/>
              </a:ext>
            </a:extLst>
          </p:cNvPr>
          <p:cNvSpPr>
            <a:spLocks noGrp="1"/>
          </p:cNvSpPr>
          <p:nvPr>
            <p:ph type="sldNum" sz="quarter" idx="12"/>
          </p:nvPr>
        </p:nvSpPr>
        <p:spPr/>
        <p:txBody>
          <a:bodyPr/>
          <a:lstStyle/>
          <a:p>
            <a:fld id="{4D01E63C-D794-4429-8564-635E6253AC5C}" type="slidenum">
              <a:rPr lang="en-US" smtClean="0"/>
              <a:pPr/>
              <a:t>8</a:t>
            </a:fld>
            <a:endParaRPr lang="en-US" dirty="0"/>
          </a:p>
        </p:txBody>
      </p:sp>
    </p:spTree>
    <p:extLst>
      <p:ext uri="{BB962C8B-B14F-4D97-AF65-F5344CB8AC3E}">
        <p14:creationId xmlns:p14="http://schemas.microsoft.com/office/powerpoint/2010/main" val="293660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F4598-123A-4964-CCEC-48327BBA506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70A9051-2E16-41C7-E769-20A83032AA8C}"/>
              </a:ext>
            </a:extLst>
          </p:cNvPr>
          <p:cNvSpPr>
            <a:spLocks noGrp="1"/>
          </p:cNvSpPr>
          <p:nvPr>
            <p:ph type="title"/>
          </p:nvPr>
        </p:nvSpPr>
        <p:spPr>
          <a:xfrm>
            <a:off x="383950" y="201600"/>
            <a:ext cx="11422513" cy="543600"/>
          </a:xfrm>
        </p:spPr>
        <p:txBody>
          <a:bodyPr anchor="b">
            <a:normAutofit/>
          </a:bodyPr>
          <a:lstStyle/>
          <a:p>
            <a:r>
              <a:rPr lang="en-US" altLang="zh-CN" dirty="0"/>
              <a:t>Data processing</a:t>
            </a:r>
            <a:r>
              <a:rPr lang="zh-CN" altLang="en-US" dirty="0"/>
              <a:t>：</a:t>
            </a:r>
            <a:r>
              <a:rPr lang="zh-CN" altLang="zh-CN" dirty="0"/>
              <a:t>From Raw Time Series to Pulse-Pause Pairs</a:t>
            </a:r>
            <a:endParaRPr lang="zh-CN" altLang="en-US" dirty="0"/>
          </a:p>
        </p:txBody>
      </p:sp>
      <p:pic>
        <p:nvPicPr>
          <p:cNvPr id="10" name="图片 9">
            <a:extLst>
              <a:ext uri="{FF2B5EF4-FFF2-40B4-BE49-F238E27FC236}">
                <a16:creationId xmlns:a16="http://schemas.microsoft.com/office/drawing/2014/main" id="{3833F064-C0C5-EFFE-D700-1875013BAAE4}"/>
              </a:ext>
            </a:extLst>
          </p:cNvPr>
          <p:cNvPicPr>
            <a:picLocks noChangeAspect="1"/>
          </p:cNvPicPr>
          <p:nvPr/>
        </p:nvPicPr>
        <p:blipFill>
          <a:blip r:embed="rId3"/>
          <a:stretch>
            <a:fillRect/>
          </a:stretch>
        </p:blipFill>
        <p:spPr>
          <a:xfrm>
            <a:off x="383950" y="1410111"/>
            <a:ext cx="5620068" cy="4215050"/>
          </a:xfrm>
          <a:prstGeom prst="rect">
            <a:avLst/>
          </a:prstGeom>
          <a:noFill/>
        </p:spPr>
      </p:pic>
      <p:sp>
        <p:nvSpPr>
          <p:cNvPr id="3" name="内容占位符 2">
            <a:extLst>
              <a:ext uri="{FF2B5EF4-FFF2-40B4-BE49-F238E27FC236}">
                <a16:creationId xmlns:a16="http://schemas.microsoft.com/office/drawing/2014/main" id="{7968B80C-ADAF-E1C7-309F-D4B55A18F44C}"/>
              </a:ext>
            </a:extLst>
          </p:cNvPr>
          <p:cNvSpPr>
            <a:spLocks noGrp="1"/>
          </p:cNvSpPr>
          <p:nvPr>
            <p:ph idx="13"/>
          </p:nvPr>
        </p:nvSpPr>
        <p:spPr>
          <a:xfrm>
            <a:off x="6191194" y="1151999"/>
            <a:ext cx="5620068" cy="4731275"/>
          </a:xfrm>
        </p:spPr>
        <p:txBody>
          <a:bodyPr>
            <a:normAutofit lnSpcReduction="10000"/>
          </a:bodyPr>
          <a:lstStyle/>
          <a:p>
            <a:pPr marL="0" indent="0">
              <a:buNone/>
            </a:pPr>
            <a:r>
              <a:rPr lang="zh-CN" altLang="zh-CN" dirty="0"/>
              <a:t>Data processing steps</a:t>
            </a:r>
            <a:r>
              <a:rPr lang="zh-CN" altLang="en-US" dirty="0"/>
              <a:t>：</a:t>
            </a:r>
            <a:br>
              <a:rPr lang="zh-CN" altLang="zh-CN" dirty="0"/>
            </a:br>
            <a:br>
              <a:rPr lang="zh-CN" altLang="zh-CN" dirty="0"/>
            </a:br>
            <a:r>
              <a:rPr lang="en-US" altLang="zh-CN" dirty="0"/>
              <a:t>1. </a:t>
            </a:r>
            <a:r>
              <a:rPr lang="zh-CN" altLang="zh-CN" dirty="0"/>
              <a:t>SOH extraction from filename</a:t>
            </a:r>
            <a:br>
              <a:rPr lang="zh-CN" altLang="zh-CN" dirty="0"/>
            </a:br>
            <a:br>
              <a:rPr lang="zh-CN" altLang="zh-CN" dirty="0"/>
            </a:br>
            <a:r>
              <a:rPr lang="en-US" altLang="zh-CN" dirty="0"/>
              <a:t>2. </a:t>
            </a:r>
            <a:r>
              <a:rPr lang="zh-CN" altLang="zh-CN" dirty="0"/>
              <a:t>Time-based cycle segmentation</a:t>
            </a:r>
            <a:br>
              <a:rPr lang="zh-CN" altLang="zh-CN" dirty="0"/>
            </a:br>
            <a:br>
              <a:rPr lang="zh-CN" altLang="zh-CN" dirty="0"/>
            </a:br>
            <a:r>
              <a:rPr lang="en-US" altLang="zh-CN" dirty="0"/>
              <a:t>3. </a:t>
            </a:r>
            <a:r>
              <a:rPr lang="zh-CN" altLang="zh-CN" dirty="0"/>
              <a:t>SOC assignment: 90%, 50%, 10%</a:t>
            </a:r>
            <a:br>
              <a:rPr lang="zh-CN" altLang="zh-CN" dirty="0"/>
            </a:br>
            <a:br>
              <a:rPr lang="zh-CN" altLang="zh-CN" dirty="0"/>
            </a:br>
            <a:r>
              <a:rPr lang="en-US" altLang="zh-CN" dirty="0"/>
              <a:t>4. </a:t>
            </a:r>
            <a:r>
              <a:rPr lang="zh-CN" altLang="zh-CN" dirty="0"/>
              <a:t>Stable pulse filtering</a:t>
            </a:r>
            <a:br>
              <a:rPr lang="zh-CN" altLang="zh-CN" dirty="0"/>
            </a:br>
            <a:br>
              <a:rPr lang="zh-CN" altLang="zh-CN" dirty="0"/>
            </a:br>
            <a:r>
              <a:rPr lang="en-US" altLang="zh-CN" dirty="0"/>
              <a:t>5. </a:t>
            </a:r>
            <a:r>
              <a:rPr lang="zh-CN" altLang="zh-CN" dirty="0"/>
              <a:t>Previous PAUO</a:t>
            </a:r>
            <a:r>
              <a:rPr lang="en-US" altLang="zh-CN" dirty="0"/>
              <a:t>(pause)</a:t>
            </a:r>
            <a:r>
              <a:rPr lang="zh-CN" altLang="zh-CN" dirty="0"/>
              <a:t>–pulse matching</a:t>
            </a:r>
            <a:endParaRPr lang="en-US" altLang="zh-CN" dirty="0"/>
          </a:p>
          <a:p>
            <a:pPr marL="0" indent="0">
              <a:buNone/>
            </a:pPr>
            <a:endParaRPr lang="en-US" altLang="zh-CN" dirty="0"/>
          </a:p>
          <a:p>
            <a:pPr marL="0" indent="0">
              <a:buNone/>
            </a:pPr>
            <a:r>
              <a:rPr lang="zh-CN" altLang="zh-CN" dirty="0">
                <a:solidFill>
                  <a:srgbClr val="FF0000"/>
                </a:solidFill>
              </a:rPr>
              <a:t>The last PAUO point before the pulse is matched with the first valid pulse point.</a:t>
            </a:r>
            <a:br>
              <a:rPr lang="zh-CN" altLang="zh-CN" dirty="0"/>
            </a:br>
            <a:br>
              <a:rPr lang="zh-CN" altLang="zh-CN" dirty="0"/>
            </a:br>
            <a:endParaRPr lang="zh-CN" altLang="en-US" dirty="0"/>
          </a:p>
        </p:txBody>
      </p:sp>
      <p:sp>
        <p:nvSpPr>
          <p:cNvPr id="4" name="日期占位符 3">
            <a:extLst>
              <a:ext uri="{FF2B5EF4-FFF2-40B4-BE49-F238E27FC236}">
                <a16:creationId xmlns:a16="http://schemas.microsoft.com/office/drawing/2014/main" id="{3D84CFE8-5885-7F5A-171C-8EA2667775FA}"/>
              </a:ext>
            </a:extLst>
          </p:cNvPr>
          <p:cNvSpPr>
            <a:spLocks noGrp="1"/>
          </p:cNvSpPr>
          <p:nvPr>
            <p:ph type="dt" sz="half" idx="14"/>
          </p:nvPr>
        </p:nvSpPr>
        <p:spPr>
          <a:xfrm>
            <a:off x="935480" y="6361350"/>
            <a:ext cx="5668062" cy="524824"/>
          </a:xfrm>
        </p:spPr>
        <p:txBody>
          <a:bodyPr anchor="t">
            <a:normAutofit/>
          </a:bodyPr>
          <a:lstStyle/>
          <a:p>
            <a:pPr>
              <a:spcAft>
                <a:spcPts val="600"/>
              </a:spcAft>
            </a:pPr>
            <a:r>
              <a:rPr lang="de-DE" altLang="zh-CN" dirty="0"/>
              <a:t>09.07.2026</a:t>
            </a:r>
            <a:endParaRPr lang="de-DE" altLang="zh-CN"/>
          </a:p>
          <a:p>
            <a:pPr>
              <a:spcAft>
                <a:spcPts val="600"/>
              </a:spcAft>
            </a:pPr>
            <a:endParaRPr lang="de-DE"/>
          </a:p>
        </p:txBody>
      </p:sp>
      <p:sp>
        <p:nvSpPr>
          <p:cNvPr id="5" name="页脚占位符 4">
            <a:extLst>
              <a:ext uri="{FF2B5EF4-FFF2-40B4-BE49-F238E27FC236}">
                <a16:creationId xmlns:a16="http://schemas.microsoft.com/office/drawing/2014/main" id="{A5A54178-58B0-DC0C-CC1B-9DDC1504D654}"/>
              </a:ext>
            </a:extLst>
          </p:cNvPr>
          <p:cNvSpPr>
            <a:spLocks noGrp="1"/>
          </p:cNvSpPr>
          <p:nvPr>
            <p:ph type="ftr" sz="quarter" idx="15"/>
          </p:nvPr>
        </p:nvSpPr>
        <p:spPr>
          <a:xfrm>
            <a:off x="1818425" y="6361350"/>
            <a:ext cx="4391428" cy="524824"/>
          </a:xfrm>
        </p:spPr>
        <p:txBody>
          <a:bodyPr anchor="t">
            <a:normAutofit/>
          </a:bodyPr>
          <a:lstStyle/>
          <a:p>
            <a:pPr>
              <a:spcAft>
                <a:spcPts val="600"/>
              </a:spcAft>
            </a:pPr>
            <a:r>
              <a:rPr lang="en-US" altLang="zh-CN" dirty="0"/>
              <a:t>Yida Cheng</a:t>
            </a:r>
            <a:endParaRPr lang="en-US" altLang="zh-CN"/>
          </a:p>
        </p:txBody>
      </p:sp>
      <p:sp>
        <p:nvSpPr>
          <p:cNvPr id="6" name="灯片编号占位符 5">
            <a:extLst>
              <a:ext uri="{FF2B5EF4-FFF2-40B4-BE49-F238E27FC236}">
                <a16:creationId xmlns:a16="http://schemas.microsoft.com/office/drawing/2014/main" id="{CDE949D7-5DE6-ACF3-EA8C-FEB0E08BA792}"/>
              </a:ext>
            </a:extLst>
          </p:cNvPr>
          <p:cNvSpPr>
            <a:spLocks noGrp="1"/>
          </p:cNvSpPr>
          <p:nvPr>
            <p:ph type="sldNum" sz="quarter" idx="16"/>
          </p:nvPr>
        </p:nvSpPr>
        <p:spPr>
          <a:xfrm>
            <a:off x="383950" y="6361350"/>
            <a:ext cx="974273" cy="396000"/>
          </a:xfrm>
        </p:spPr>
        <p:txBody>
          <a:bodyPr anchor="t">
            <a:normAutofit/>
          </a:bodyPr>
          <a:lstStyle/>
          <a:p>
            <a:pPr>
              <a:spcAft>
                <a:spcPts val="600"/>
              </a:spcAft>
            </a:pPr>
            <a:fld id="{4D01E63C-D794-4429-8564-635E6253AC5C}" type="slidenum">
              <a:rPr lang="en-US" smtClean="0"/>
              <a:pPr>
                <a:spcAft>
                  <a:spcPts val="600"/>
                </a:spcAft>
              </a:pPr>
              <a:t>9</a:t>
            </a:fld>
            <a:endParaRPr lang="en-US"/>
          </a:p>
        </p:txBody>
      </p:sp>
    </p:spTree>
    <p:extLst>
      <p:ext uri="{BB962C8B-B14F-4D97-AF65-F5344CB8AC3E}">
        <p14:creationId xmlns:p14="http://schemas.microsoft.com/office/powerpoint/2010/main" val="2325390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68FA0-51A7-1A4C-E520-98149143EF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2135F9F-FB52-FEA8-D5B8-302863E3563A}"/>
              </a:ext>
            </a:extLst>
          </p:cNvPr>
          <p:cNvSpPr>
            <a:spLocks noGrp="1"/>
          </p:cNvSpPr>
          <p:nvPr>
            <p:ph type="title"/>
          </p:nvPr>
        </p:nvSpPr>
        <p:spPr>
          <a:xfrm>
            <a:off x="383950" y="201600"/>
            <a:ext cx="11422513" cy="543600"/>
          </a:xfrm>
        </p:spPr>
        <p:txBody>
          <a:bodyPr anchor="b">
            <a:normAutofit/>
          </a:bodyPr>
          <a:lstStyle/>
          <a:p>
            <a:r>
              <a:rPr lang="en-US" altLang="zh-CN" dirty="0"/>
              <a:t>R</a:t>
            </a:r>
            <a:r>
              <a:rPr lang="en-US" altLang="zh-CN" baseline="-25000" dirty="0"/>
              <a:t>0</a:t>
            </a:r>
            <a:r>
              <a:rPr lang="en-US" altLang="zh-CN" dirty="0"/>
              <a:t> Calculation: Instantaneous Ohmic Resistance</a:t>
            </a:r>
            <a:endParaRPr lang="zh-CN" altLang="en-US" dirty="0"/>
          </a:p>
        </p:txBody>
      </p:sp>
      <p:pic>
        <p:nvPicPr>
          <p:cNvPr id="10" name="图片 9">
            <a:extLst>
              <a:ext uri="{FF2B5EF4-FFF2-40B4-BE49-F238E27FC236}">
                <a16:creationId xmlns:a16="http://schemas.microsoft.com/office/drawing/2014/main" id="{8450628C-4D70-C4FC-E380-6487DCBBB023}"/>
              </a:ext>
            </a:extLst>
          </p:cNvPr>
          <p:cNvPicPr>
            <a:picLocks noChangeAspect="1"/>
          </p:cNvPicPr>
          <p:nvPr/>
        </p:nvPicPr>
        <p:blipFill>
          <a:blip r:embed="rId3"/>
          <a:stretch>
            <a:fillRect/>
          </a:stretch>
        </p:blipFill>
        <p:spPr>
          <a:xfrm>
            <a:off x="342886" y="966145"/>
            <a:ext cx="7596157" cy="5103764"/>
          </a:xfrm>
          <a:prstGeom prst="rect">
            <a:avLst/>
          </a:prstGeom>
          <a:noFill/>
        </p:spPr>
      </p:pic>
      <p:sp>
        <p:nvSpPr>
          <p:cNvPr id="15" name="Content Placeholder 3">
            <a:extLst>
              <a:ext uri="{FF2B5EF4-FFF2-40B4-BE49-F238E27FC236}">
                <a16:creationId xmlns:a16="http://schemas.microsoft.com/office/drawing/2014/main" id="{BD4ECF7F-FBC7-1814-1887-A91835BF079C}"/>
              </a:ext>
            </a:extLst>
          </p:cNvPr>
          <p:cNvSpPr>
            <a:spLocks noGrp="1"/>
          </p:cNvSpPr>
          <p:nvPr>
            <p:ph idx="13"/>
          </p:nvPr>
        </p:nvSpPr>
        <p:spPr>
          <a:xfrm>
            <a:off x="7861734" y="1357100"/>
            <a:ext cx="4328679" cy="2720997"/>
          </a:xfrm>
        </p:spPr>
        <p:txBody>
          <a:bodyPr/>
          <a:lstStyle/>
          <a:p>
            <a:r>
              <a:rPr lang="zh-CN" altLang="zh-CN" dirty="0"/>
              <a:t>R₀ calculation</a:t>
            </a:r>
          </a:p>
          <a:p>
            <a:pPr marL="0" indent="0">
              <a:buNone/>
            </a:pPr>
            <a:r>
              <a:rPr lang="en-US" altLang="zh-CN" dirty="0"/>
              <a:t>	</a:t>
            </a:r>
            <a:r>
              <a:rPr lang="zh-CN" altLang="zh-CN" sz="1600" dirty="0"/>
              <a:t>Last PAUO point → first valid pulse point</a:t>
            </a:r>
            <a:endParaRPr lang="en-US" altLang="zh-CN" sz="1600" dirty="0"/>
          </a:p>
          <a:p>
            <a:pPr marL="0" indent="0">
              <a:buNone/>
            </a:pPr>
            <a:endParaRPr lang="zh-CN" altLang="zh-CN" dirty="0"/>
          </a:p>
          <a:p>
            <a:r>
              <a:rPr lang="zh-CN" altLang="zh-CN" dirty="0"/>
              <a:t>R₀ = |ΔV / ΔI| × 1000</a:t>
            </a:r>
            <a:r>
              <a:rPr lang="en-US" altLang="zh-CN" dirty="0"/>
              <a:t>	</a:t>
            </a:r>
            <a:endParaRPr lang="zh-CN" altLang="zh-CN" dirty="0"/>
          </a:p>
          <a:p>
            <a:pPr marL="0" indent="0">
              <a:buNone/>
            </a:pPr>
            <a:r>
              <a:rPr lang="en-US" altLang="zh-CN" sz="1600" dirty="0"/>
              <a:t>	</a:t>
            </a:r>
            <a:r>
              <a:rPr lang="zh-CN" altLang="zh-CN" sz="1600" dirty="0"/>
              <a:t>ΔV: instantaneous voltage change</a:t>
            </a:r>
            <a:br>
              <a:rPr lang="zh-CN" altLang="zh-CN" sz="1600" dirty="0"/>
            </a:br>
            <a:r>
              <a:rPr lang="en-US" altLang="zh-CN" sz="1600" dirty="0"/>
              <a:t>	</a:t>
            </a:r>
            <a:r>
              <a:rPr lang="zh-CN" altLang="zh-CN" sz="1600" dirty="0"/>
              <a:t>ΔI: </a:t>
            </a:r>
            <a:r>
              <a:rPr lang="en-US" altLang="zh-CN" sz="1600" dirty="0"/>
              <a:t>first valid pulse point after current change</a:t>
            </a:r>
            <a:endParaRPr lang="zh-CN" altLang="zh-CN" sz="1600" dirty="0"/>
          </a:p>
          <a:p>
            <a:pPr marL="0" indent="0">
              <a:buNone/>
            </a:pPr>
            <a:r>
              <a:rPr lang="en-US" altLang="zh-CN" sz="1600" dirty="0"/>
              <a:t>	</a:t>
            </a:r>
            <a:r>
              <a:rPr lang="zh-CN" altLang="zh-CN" sz="1600" dirty="0"/>
              <a:t>Result: R₀ in mΩ</a:t>
            </a:r>
          </a:p>
          <a:p>
            <a:endParaRPr lang="en-US" dirty="0"/>
          </a:p>
        </p:txBody>
      </p:sp>
      <p:sp>
        <p:nvSpPr>
          <p:cNvPr id="4" name="日期占位符 3">
            <a:extLst>
              <a:ext uri="{FF2B5EF4-FFF2-40B4-BE49-F238E27FC236}">
                <a16:creationId xmlns:a16="http://schemas.microsoft.com/office/drawing/2014/main" id="{8EDAAC1F-EEBD-11D5-7FCA-4A758C2C32A6}"/>
              </a:ext>
            </a:extLst>
          </p:cNvPr>
          <p:cNvSpPr>
            <a:spLocks noGrp="1"/>
          </p:cNvSpPr>
          <p:nvPr>
            <p:ph type="dt" sz="half" idx="14"/>
          </p:nvPr>
        </p:nvSpPr>
        <p:spPr>
          <a:xfrm>
            <a:off x="935480" y="6361350"/>
            <a:ext cx="5668062" cy="524824"/>
          </a:xfrm>
        </p:spPr>
        <p:txBody>
          <a:bodyPr anchor="t">
            <a:normAutofit/>
          </a:bodyPr>
          <a:lstStyle/>
          <a:p>
            <a:pPr>
              <a:spcAft>
                <a:spcPts val="600"/>
              </a:spcAft>
            </a:pPr>
            <a:r>
              <a:rPr lang="de-DE" altLang="zh-CN" dirty="0"/>
              <a:t>09.07.2026</a:t>
            </a:r>
            <a:endParaRPr lang="de-DE" altLang="zh-CN"/>
          </a:p>
          <a:p>
            <a:pPr>
              <a:spcAft>
                <a:spcPts val="600"/>
              </a:spcAft>
            </a:pPr>
            <a:endParaRPr lang="de-DE"/>
          </a:p>
        </p:txBody>
      </p:sp>
      <p:sp>
        <p:nvSpPr>
          <p:cNvPr id="5" name="页脚占位符 4">
            <a:extLst>
              <a:ext uri="{FF2B5EF4-FFF2-40B4-BE49-F238E27FC236}">
                <a16:creationId xmlns:a16="http://schemas.microsoft.com/office/drawing/2014/main" id="{5C184DE6-B533-A5A1-0A49-6B24C225F5A9}"/>
              </a:ext>
            </a:extLst>
          </p:cNvPr>
          <p:cNvSpPr>
            <a:spLocks noGrp="1"/>
          </p:cNvSpPr>
          <p:nvPr>
            <p:ph type="ftr" sz="quarter" idx="15"/>
          </p:nvPr>
        </p:nvSpPr>
        <p:spPr>
          <a:xfrm>
            <a:off x="1818425" y="6361350"/>
            <a:ext cx="4391428" cy="524824"/>
          </a:xfrm>
        </p:spPr>
        <p:txBody>
          <a:bodyPr anchor="t">
            <a:normAutofit/>
          </a:bodyPr>
          <a:lstStyle/>
          <a:p>
            <a:pPr>
              <a:spcAft>
                <a:spcPts val="600"/>
              </a:spcAft>
            </a:pPr>
            <a:r>
              <a:rPr lang="en-US" altLang="zh-CN" dirty="0"/>
              <a:t>Yida Cheng</a:t>
            </a:r>
            <a:endParaRPr lang="en-US" altLang="zh-CN"/>
          </a:p>
        </p:txBody>
      </p:sp>
      <p:sp>
        <p:nvSpPr>
          <p:cNvPr id="6" name="灯片编号占位符 5">
            <a:extLst>
              <a:ext uri="{FF2B5EF4-FFF2-40B4-BE49-F238E27FC236}">
                <a16:creationId xmlns:a16="http://schemas.microsoft.com/office/drawing/2014/main" id="{89A15CA1-AC24-FEA8-F865-CE546BB1623A}"/>
              </a:ext>
            </a:extLst>
          </p:cNvPr>
          <p:cNvSpPr>
            <a:spLocks noGrp="1"/>
          </p:cNvSpPr>
          <p:nvPr>
            <p:ph type="sldNum" sz="quarter" idx="16"/>
          </p:nvPr>
        </p:nvSpPr>
        <p:spPr>
          <a:xfrm>
            <a:off x="383950" y="6361350"/>
            <a:ext cx="974273" cy="396000"/>
          </a:xfrm>
        </p:spPr>
        <p:txBody>
          <a:bodyPr anchor="t">
            <a:normAutofit/>
          </a:bodyPr>
          <a:lstStyle/>
          <a:p>
            <a:pPr>
              <a:spcAft>
                <a:spcPts val="600"/>
              </a:spcAft>
            </a:pPr>
            <a:fld id="{4D01E63C-D794-4429-8564-635E6253AC5C}" type="slidenum">
              <a:rPr lang="en-US" smtClean="0"/>
              <a:pPr>
                <a:spcAft>
                  <a:spcPts val="600"/>
                </a:spcAft>
              </a:pPr>
              <a:t>10</a:t>
            </a:fld>
            <a:endParaRPr lang="en-US"/>
          </a:p>
        </p:txBody>
      </p:sp>
    </p:spTree>
    <p:extLst>
      <p:ext uri="{BB962C8B-B14F-4D97-AF65-F5344CB8AC3E}">
        <p14:creationId xmlns:p14="http://schemas.microsoft.com/office/powerpoint/2010/main" val="4170921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5FB06E-7D81-5014-FEF7-8061E97B5FC4}"/>
              </a:ext>
            </a:extLst>
          </p:cNvPr>
          <p:cNvSpPr>
            <a:spLocks noGrp="1"/>
          </p:cNvSpPr>
          <p:nvPr>
            <p:ph type="title"/>
          </p:nvPr>
        </p:nvSpPr>
        <p:spPr>
          <a:xfrm>
            <a:off x="383950" y="201600"/>
            <a:ext cx="11422513" cy="543600"/>
          </a:xfrm>
        </p:spPr>
        <p:txBody>
          <a:bodyPr anchor="b">
            <a:normAutofit/>
          </a:bodyPr>
          <a:lstStyle/>
          <a:p>
            <a:r>
              <a:rPr lang="zh-CN" altLang="zh-CN" dirty="0"/>
              <a:t>Second-order RC model for resistance extraction</a:t>
            </a:r>
            <a:endParaRPr lang="zh-CN" altLang="en-US" dirty="0"/>
          </a:p>
        </p:txBody>
      </p:sp>
      <p:pic>
        <p:nvPicPr>
          <p:cNvPr id="11" name="图片 10">
            <a:extLst>
              <a:ext uri="{FF2B5EF4-FFF2-40B4-BE49-F238E27FC236}">
                <a16:creationId xmlns:a16="http://schemas.microsoft.com/office/drawing/2014/main" id="{EED9679D-4B54-0409-5CD1-5C1753D02807}"/>
              </a:ext>
            </a:extLst>
          </p:cNvPr>
          <p:cNvPicPr>
            <a:picLocks noChangeAspect="1"/>
          </p:cNvPicPr>
          <p:nvPr/>
        </p:nvPicPr>
        <p:blipFill>
          <a:blip r:embed="rId3"/>
          <a:stretch>
            <a:fillRect/>
          </a:stretch>
        </p:blipFill>
        <p:spPr>
          <a:xfrm>
            <a:off x="383950" y="2146218"/>
            <a:ext cx="5620068" cy="2742837"/>
          </a:xfrm>
          <a:prstGeom prst="rect">
            <a:avLst/>
          </a:prstGeom>
          <a:noFill/>
        </p:spPr>
      </p:pic>
      <p:sp>
        <p:nvSpPr>
          <p:cNvPr id="20" name="Content Placeholder 3">
            <a:extLst>
              <a:ext uri="{FF2B5EF4-FFF2-40B4-BE49-F238E27FC236}">
                <a16:creationId xmlns:a16="http://schemas.microsoft.com/office/drawing/2014/main" id="{AF144AC0-AC43-DA6A-13A8-A09C81797447}"/>
              </a:ext>
            </a:extLst>
          </p:cNvPr>
          <p:cNvSpPr>
            <a:spLocks noGrp="1"/>
          </p:cNvSpPr>
          <p:nvPr>
            <p:ph idx="13"/>
          </p:nvPr>
        </p:nvSpPr>
        <p:spPr>
          <a:xfrm>
            <a:off x="6191194" y="1152000"/>
            <a:ext cx="5620068" cy="1787628"/>
          </a:xfrm>
        </p:spPr>
        <p:txBody>
          <a:bodyPr/>
          <a:lstStyle/>
          <a:p>
            <a:r>
              <a:rPr lang="zh-CN" altLang="zh-CN" dirty="0"/>
              <a:t>Second-order Thévenin ECM</a:t>
            </a:r>
            <a:endParaRPr lang="en-US" altLang="zh-CN" dirty="0"/>
          </a:p>
          <a:p>
            <a:pPr marL="431800" lvl="2" indent="0">
              <a:buNone/>
            </a:pPr>
            <a:r>
              <a:rPr lang="zh-CN" altLang="zh-CN" dirty="0"/>
              <a:t>R</a:t>
            </a:r>
            <a:r>
              <a:rPr lang="zh-CN" altLang="zh-CN" baseline="-25000" dirty="0"/>
              <a:t>0</a:t>
            </a:r>
            <a:r>
              <a:rPr lang="zh-CN" altLang="zh-CN" dirty="0"/>
              <a:t>: instantaneous ohmic resistance</a:t>
            </a:r>
            <a:endParaRPr lang="en-US" altLang="zh-CN" dirty="0"/>
          </a:p>
          <a:p>
            <a:pPr marL="431800" lvl="2" indent="0">
              <a:buNone/>
            </a:pPr>
            <a:r>
              <a:rPr lang="zh-CN" altLang="zh-CN" dirty="0"/>
              <a:t>R</a:t>
            </a:r>
            <a:r>
              <a:rPr lang="zh-CN" altLang="zh-CN" baseline="-25000" dirty="0"/>
              <a:t>1</a:t>
            </a:r>
            <a:r>
              <a:rPr lang="zh-CN" altLang="zh-CN" dirty="0"/>
              <a:t>C</a:t>
            </a:r>
            <a:r>
              <a:rPr lang="zh-CN" altLang="zh-CN" baseline="-25000" dirty="0"/>
              <a:t>1</a:t>
            </a:r>
            <a:r>
              <a:rPr lang="zh-CN" altLang="zh-CN" dirty="0"/>
              <a:t>: fast relaxation component</a:t>
            </a:r>
            <a:endParaRPr lang="en-US" altLang="zh-CN" dirty="0"/>
          </a:p>
          <a:p>
            <a:pPr marL="431800" lvl="2" indent="0">
              <a:buNone/>
            </a:pPr>
            <a:r>
              <a:rPr lang="zh-CN" altLang="zh-CN" dirty="0"/>
              <a:t>R</a:t>
            </a:r>
            <a:r>
              <a:rPr lang="zh-CN" altLang="zh-CN" baseline="-25000" dirty="0"/>
              <a:t>2</a:t>
            </a:r>
            <a:r>
              <a:rPr lang="zh-CN" altLang="zh-CN" dirty="0"/>
              <a:t>C</a:t>
            </a:r>
            <a:r>
              <a:rPr lang="zh-CN" altLang="zh-CN" baseline="-25000" dirty="0"/>
              <a:t>2</a:t>
            </a:r>
            <a:r>
              <a:rPr lang="zh-CN" altLang="zh-CN" dirty="0"/>
              <a:t>: slow relaxation component</a:t>
            </a:r>
            <a:endParaRPr lang="en-US" altLang="zh-CN" dirty="0"/>
          </a:p>
          <a:p>
            <a:pPr marL="431800" lvl="2" indent="0">
              <a:buNone/>
            </a:pPr>
            <a:r>
              <a:rPr lang="zh-CN" altLang="zh-CN" dirty="0"/>
              <a:t>τ</a:t>
            </a:r>
            <a:r>
              <a:rPr lang="zh-CN" altLang="zh-CN" baseline="-25000" dirty="0"/>
              <a:t>1</a:t>
            </a:r>
            <a:r>
              <a:rPr lang="zh-CN" altLang="zh-CN" dirty="0"/>
              <a:t> = R</a:t>
            </a:r>
            <a:r>
              <a:rPr lang="zh-CN" altLang="zh-CN" baseline="-25000" dirty="0"/>
              <a:t>1</a:t>
            </a:r>
            <a:r>
              <a:rPr lang="zh-CN" altLang="zh-CN" dirty="0"/>
              <a:t>C</a:t>
            </a:r>
            <a:r>
              <a:rPr lang="zh-CN" altLang="zh-CN" baseline="-25000" dirty="0"/>
              <a:t>1</a:t>
            </a:r>
            <a:r>
              <a:rPr lang="zh-CN" altLang="zh-CN" dirty="0"/>
              <a:t>, τ</a:t>
            </a:r>
            <a:r>
              <a:rPr lang="zh-CN" altLang="zh-CN" baseline="-25000" dirty="0"/>
              <a:t>2</a:t>
            </a:r>
            <a:r>
              <a:rPr lang="zh-CN" altLang="zh-CN" dirty="0"/>
              <a:t> = R</a:t>
            </a:r>
            <a:r>
              <a:rPr lang="zh-CN" altLang="zh-CN" baseline="-25000" dirty="0"/>
              <a:t>2</a:t>
            </a:r>
            <a:r>
              <a:rPr lang="zh-CN" altLang="zh-CN" dirty="0"/>
              <a:t>C</a:t>
            </a:r>
            <a:r>
              <a:rPr lang="zh-CN" altLang="zh-CN" baseline="-25000" dirty="0"/>
              <a:t>2</a:t>
            </a:r>
            <a:endParaRPr lang="en-US" altLang="zh-CN" baseline="-25000" dirty="0"/>
          </a:p>
        </p:txBody>
      </p:sp>
      <p:sp>
        <p:nvSpPr>
          <p:cNvPr id="4" name="日期占位符 3">
            <a:extLst>
              <a:ext uri="{FF2B5EF4-FFF2-40B4-BE49-F238E27FC236}">
                <a16:creationId xmlns:a16="http://schemas.microsoft.com/office/drawing/2014/main" id="{A111300D-D770-AC36-4B30-B22B2A4BE5B9}"/>
              </a:ext>
            </a:extLst>
          </p:cNvPr>
          <p:cNvSpPr>
            <a:spLocks noGrp="1"/>
          </p:cNvSpPr>
          <p:nvPr>
            <p:ph type="dt" sz="half" idx="14"/>
          </p:nvPr>
        </p:nvSpPr>
        <p:spPr>
          <a:xfrm>
            <a:off x="935480" y="6361350"/>
            <a:ext cx="5668062" cy="524824"/>
          </a:xfrm>
        </p:spPr>
        <p:txBody>
          <a:bodyPr anchor="t">
            <a:normAutofit/>
          </a:bodyPr>
          <a:lstStyle/>
          <a:p>
            <a:pPr>
              <a:spcAft>
                <a:spcPts val="600"/>
              </a:spcAft>
            </a:pPr>
            <a:r>
              <a:rPr lang="de-DE" altLang="zh-CN" dirty="0"/>
              <a:t>09.07.2026</a:t>
            </a:r>
            <a:endParaRPr lang="de-DE" altLang="zh-CN"/>
          </a:p>
          <a:p>
            <a:pPr>
              <a:spcAft>
                <a:spcPts val="600"/>
              </a:spcAft>
            </a:pPr>
            <a:endParaRPr lang="de-DE"/>
          </a:p>
        </p:txBody>
      </p:sp>
      <p:sp>
        <p:nvSpPr>
          <p:cNvPr id="5" name="页脚占位符 4">
            <a:extLst>
              <a:ext uri="{FF2B5EF4-FFF2-40B4-BE49-F238E27FC236}">
                <a16:creationId xmlns:a16="http://schemas.microsoft.com/office/drawing/2014/main" id="{FA32EA30-6F38-510A-2C52-2E9FCE6289F2}"/>
              </a:ext>
            </a:extLst>
          </p:cNvPr>
          <p:cNvSpPr>
            <a:spLocks noGrp="1"/>
          </p:cNvSpPr>
          <p:nvPr>
            <p:ph type="ftr" sz="quarter" idx="15"/>
          </p:nvPr>
        </p:nvSpPr>
        <p:spPr>
          <a:xfrm>
            <a:off x="1818425" y="6361350"/>
            <a:ext cx="4391428" cy="524824"/>
          </a:xfrm>
        </p:spPr>
        <p:txBody>
          <a:bodyPr anchor="t">
            <a:normAutofit/>
          </a:bodyPr>
          <a:lstStyle/>
          <a:p>
            <a:pPr>
              <a:spcAft>
                <a:spcPts val="600"/>
              </a:spcAft>
            </a:pPr>
            <a:r>
              <a:rPr lang="en-US" altLang="zh-CN" dirty="0"/>
              <a:t>Yida Cheng</a:t>
            </a:r>
            <a:endParaRPr lang="en-US" altLang="zh-CN"/>
          </a:p>
        </p:txBody>
      </p:sp>
      <p:sp>
        <p:nvSpPr>
          <p:cNvPr id="6" name="灯片编号占位符 5">
            <a:extLst>
              <a:ext uri="{FF2B5EF4-FFF2-40B4-BE49-F238E27FC236}">
                <a16:creationId xmlns:a16="http://schemas.microsoft.com/office/drawing/2014/main" id="{E6F10F0C-B520-76B7-959B-A21FEA232932}"/>
              </a:ext>
            </a:extLst>
          </p:cNvPr>
          <p:cNvSpPr>
            <a:spLocks noGrp="1"/>
          </p:cNvSpPr>
          <p:nvPr>
            <p:ph type="sldNum" sz="quarter" idx="16"/>
          </p:nvPr>
        </p:nvSpPr>
        <p:spPr>
          <a:xfrm>
            <a:off x="383950" y="6361350"/>
            <a:ext cx="974273" cy="396000"/>
          </a:xfrm>
        </p:spPr>
        <p:txBody>
          <a:bodyPr anchor="t">
            <a:normAutofit/>
          </a:bodyPr>
          <a:lstStyle/>
          <a:p>
            <a:pPr>
              <a:spcAft>
                <a:spcPts val="600"/>
              </a:spcAft>
            </a:pPr>
            <a:fld id="{4D01E63C-D794-4429-8564-635E6253AC5C}" type="slidenum">
              <a:rPr lang="en-US" smtClean="0"/>
              <a:pPr>
                <a:spcAft>
                  <a:spcPts val="600"/>
                </a:spcAft>
              </a:pPr>
              <a:t>11</a:t>
            </a:fld>
            <a:endParaRPr lang="en-US"/>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7BC952E-5D30-0FA8-822D-96C9A8432B80}"/>
                  </a:ext>
                </a:extLst>
              </p:cNvPr>
              <p:cNvSpPr txBox="1"/>
              <p:nvPr/>
            </p:nvSpPr>
            <p:spPr>
              <a:xfrm>
                <a:off x="6095206" y="3136415"/>
                <a:ext cx="5758128" cy="2352888"/>
              </a:xfrm>
              <a:prstGeom prst="rect">
                <a:avLst/>
              </a:prstGeom>
              <a:noFill/>
            </p:spPr>
            <p:txBody>
              <a:bodyPr wrap="square" anchor="t">
                <a:spAutoFit/>
              </a:bodyPr>
              <a:lstStyle/>
              <a:p>
                <a:pPr marL="285750" indent="-285750">
                  <a:buClr>
                    <a:srgbClr val="00549F"/>
                  </a:buClr>
                  <a:buFont typeface="Wingdings" panose="05000000000000000000" pitchFamily="2" charset="2"/>
                  <a:buChar char="n"/>
                </a:pPr>
                <a:r>
                  <a:rPr lang="en-US" altLang="zh-CN" dirty="0">
                    <a:latin typeface="+mn-lt"/>
                  </a:rPr>
                  <a:t>For </a:t>
                </a:r>
                <a14:m>
                  <m:oMath xmlns:m="http://schemas.openxmlformats.org/officeDocument/2006/math">
                    <m:r>
                      <a:rPr lang="zh-CN" altLang="en-US" i="1">
                        <a:latin typeface="Cambria Math" panose="02040503050406030204" pitchFamily="18" charset="0"/>
                      </a:rPr>
                      <m:t>𝐼</m:t>
                    </m:r>
                  </m:oMath>
                </a14:m>
                <a:r>
                  <a:rPr lang="en-US" altLang="zh-CN" dirty="0">
                    <a:latin typeface="+mn-lt"/>
                  </a:rPr>
                  <a:t> &gt; 0, Discharge:</a:t>
                </a:r>
                <a:endParaRPr lang="en-US" altLang="zh-CN" i="1" dirty="0">
                  <a:latin typeface="Cambria Math" panose="02040503050406030204" pitchFamily="18" charset="0"/>
                </a:endParaRPr>
              </a:p>
              <a:p>
                <a:pPr>
                  <a:lnSpc>
                    <a:spcPct val="150000"/>
                  </a:lnSpc>
                  <a:buClr>
                    <a:srgbClr val="00549F"/>
                  </a:buClr>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𝑢</m:t>
                      </m:r>
                      <m:r>
                        <a:rPr lang="en-US" altLang="zh-CN" b="0" i="1" baseline="-25000" smtClean="0">
                          <a:latin typeface="Cambria Math" panose="02040503050406030204" pitchFamily="18" charset="0"/>
                        </a:rPr>
                        <m:t>1</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zh-CN" altLang="en-US" i="1">
                          <a:latin typeface="Cambria Math" panose="02040503050406030204" pitchFamily="18" charset="0"/>
                        </a:rPr>
                        <m:t>=</m:t>
                      </m:r>
                      <m:r>
                        <a:rPr lang="zh-CN" altLang="en-US" i="1">
                          <a:latin typeface="Cambria Math" panose="02040503050406030204" pitchFamily="18" charset="0"/>
                        </a:rPr>
                        <m:t>𝐼</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en-US" altLang="zh-CN" b="0" i="1" smtClean="0">
                              <a:latin typeface="Cambria Math" panose="02040503050406030204" pitchFamily="18" charset="0"/>
                            </a:rPr>
                            <m:t>1</m:t>
                          </m:r>
                        </m:sub>
                      </m:sSub>
                      <m:sSup>
                        <m:sSupPr>
                          <m:ctrlPr>
                            <a:rPr lang="zh-CN" altLang="en-US" i="1">
                              <a:latin typeface="Cambria Math" panose="02040503050406030204" pitchFamily="18" charset="0"/>
                            </a:rPr>
                          </m:ctrlPr>
                        </m:sSupPr>
                        <m:e>
                          <m:r>
                            <a:rPr lang="en-US" altLang="zh-CN" i="1">
                              <a:latin typeface="Cambria Math" panose="02040503050406030204" pitchFamily="18" charset="0"/>
                            </a:rPr>
                            <m:t>(1−</m:t>
                          </m:r>
                          <m:r>
                            <a:rPr lang="zh-CN" altLang="en-US" i="1">
                              <a:latin typeface="Cambria Math" panose="02040503050406030204" pitchFamily="18" charset="0"/>
                            </a:rPr>
                            <m:t>𝑒</m:t>
                          </m:r>
                        </m:e>
                        <m:sup>
                          <m:r>
                            <a:rPr lang="zh-CN" altLang="en-US" i="1">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𝑡</m:t>
                              </m:r>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𝜏</m:t>
                                  </m:r>
                                </m:e>
                                <m:sub>
                                  <m:r>
                                    <a:rPr lang="en-US" altLang="zh-CN" b="0" i="1" smtClean="0">
                                      <a:latin typeface="Cambria Math" panose="02040503050406030204" pitchFamily="18" charset="0"/>
                                    </a:rPr>
                                    <m:t>1</m:t>
                                  </m:r>
                                </m:sub>
                              </m:sSub>
                            </m:den>
                          </m:f>
                        </m:sup>
                      </m:sSup>
                      <m:r>
                        <a:rPr lang="en-US" altLang="zh-CN" i="1">
                          <a:latin typeface="Cambria Math" panose="02040503050406030204" pitchFamily="18" charset="0"/>
                        </a:rPr>
                        <m:t>)</m:t>
                      </m:r>
                    </m:oMath>
                  </m:oMathPara>
                </a14:m>
                <a:endParaRPr lang="en-US" altLang="zh-CN" i="1" dirty="0">
                  <a:latin typeface="Cambria Math" panose="02040503050406030204" pitchFamily="18" charset="0"/>
                </a:endParaRPr>
              </a:p>
              <a:p>
                <a:pPr>
                  <a:lnSpc>
                    <a:spcPct val="150000"/>
                  </a:lnSpc>
                  <a:buClr>
                    <a:srgbClr val="00549F"/>
                  </a:buClr>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𝑢</m:t>
                      </m:r>
                      <m:r>
                        <a:rPr lang="en-US" altLang="zh-CN" b="0" i="1" baseline="-25000" smtClean="0">
                          <a:latin typeface="Cambria Math" panose="02040503050406030204" pitchFamily="18" charset="0"/>
                        </a:rPr>
                        <m:t>2</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en-US" altLang="zh-CN" i="1">
                          <a:latin typeface="Cambria Math" panose="02040503050406030204" pitchFamily="18" charset="0"/>
                        </a:rPr>
                        <m:t>=</m:t>
                      </m:r>
                      <m:r>
                        <a:rPr lang="zh-CN" altLang="en-US" i="1">
                          <a:latin typeface="Cambria Math" panose="02040503050406030204" pitchFamily="18" charset="0"/>
                        </a:rPr>
                        <m:t>𝐼</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en-US" altLang="zh-CN" b="0" i="1" smtClean="0">
                              <a:latin typeface="Cambria Math" panose="02040503050406030204" pitchFamily="18" charset="0"/>
                            </a:rPr>
                            <m:t>2</m:t>
                          </m:r>
                        </m:sub>
                      </m:sSub>
                      <m:sSup>
                        <m:sSupPr>
                          <m:ctrlPr>
                            <a:rPr lang="zh-CN" altLang="en-US" i="1">
                              <a:latin typeface="Cambria Math" panose="02040503050406030204" pitchFamily="18" charset="0"/>
                            </a:rPr>
                          </m:ctrlPr>
                        </m:sSupPr>
                        <m:e>
                          <m:r>
                            <a:rPr lang="en-US" altLang="zh-CN" i="1">
                              <a:latin typeface="Cambria Math" panose="02040503050406030204" pitchFamily="18" charset="0"/>
                            </a:rPr>
                            <m:t>(1−</m:t>
                          </m:r>
                          <m:r>
                            <a:rPr lang="zh-CN" altLang="en-US" i="1">
                              <a:latin typeface="Cambria Math" panose="02040503050406030204" pitchFamily="18" charset="0"/>
                            </a:rPr>
                            <m:t>𝑒</m:t>
                          </m:r>
                        </m:e>
                        <m:sup>
                          <m:r>
                            <a:rPr lang="zh-CN" altLang="en-US" i="1">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𝑡</m:t>
                              </m:r>
                            </m:num>
                            <m:den>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𝜏</m:t>
                                  </m:r>
                                </m:e>
                                <m:sub>
                                  <m:r>
                                    <a:rPr lang="en-US" altLang="zh-CN" b="0" i="1" smtClean="0">
                                      <a:latin typeface="Cambria Math" panose="02040503050406030204" pitchFamily="18" charset="0"/>
                                    </a:rPr>
                                    <m:t>2</m:t>
                                  </m:r>
                                </m:sub>
                              </m:sSub>
                            </m:den>
                          </m:f>
                        </m:sup>
                      </m:sSup>
                      <m:r>
                        <a:rPr lang="en-US" altLang="zh-CN" i="1">
                          <a:latin typeface="Cambria Math" panose="02040503050406030204" pitchFamily="18" charset="0"/>
                        </a:rPr>
                        <m:t>)</m:t>
                      </m:r>
                    </m:oMath>
                  </m:oMathPara>
                </a14:m>
                <a:endParaRPr lang="en-US" altLang="zh-CN" i="1" dirty="0"/>
              </a:p>
              <a:p>
                <a:pPr>
                  <a:lnSpc>
                    <a:spcPct val="150000"/>
                  </a:lnSpc>
                  <a:buClr>
                    <a:srgbClr val="00549F"/>
                  </a:buClr>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𝑢</m:t>
                      </m:r>
                      <m:r>
                        <m:rPr>
                          <m:sty m:val="p"/>
                        </m:rPr>
                        <a:rPr lang="en-US" altLang="zh-CN" i="1" baseline="-25000">
                          <a:latin typeface="Cambria Math" panose="02040503050406030204" pitchFamily="18" charset="0"/>
                        </a:rPr>
                        <m:t>t</m:t>
                      </m:r>
                      <m: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𝑢</m:t>
                          </m:r>
                        </m:e>
                        <m:sub>
                          <m:r>
                            <a:rPr lang="zh-CN" altLang="en-US" i="1">
                              <a:latin typeface="Cambria Math" panose="02040503050406030204" pitchFamily="18" charset="0"/>
                            </a:rPr>
                            <m:t>𝑜𝑐</m:t>
                          </m:r>
                        </m:sub>
                      </m:sSub>
                      <m:r>
                        <a:rPr lang="en-US" altLang="zh-CN" i="1">
                          <a:latin typeface="Cambria Math" panose="02040503050406030204" pitchFamily="18" charset="0"/>
                        </a:rPr>
                        <m:t> − </m:t>
                      </m:r>
                      <m:r>
                        <a:rPr lang="zh-CN" altLang="en-US" i="1">
                          <a:latin typeface="Cambria Math" panose="02040503050406030204" pitchFamily="18" charset="0"/>
                        </a:rPr>
                        <m:t>𝐼</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en-US" altLang="zh-CN" i="1">
                              <a:latin typeface="Cambria Math" panose="02040503050406030204" pitchFamily="18" charset="0"/>
                            </a:rPr>
                            <m:t>0</m:t>
                          </m:r>
                        </m:sub>
                      </m:sSub>
                      <m:r>
                        <m:rPr>
                          <m:nor/>
                        </m:rPr>
                        <a:rPr lang="en-US" altLang="zh-CN" dirty="0"/>
                        <m:t> −</m:t>
                      </m:r>
                      <m:r>
                        <m:rPr>
                          <m:nor/>
                        </m:rPr>
                        <a:rPr lang="zh-CN" altLang="en-US" dirty="0"/>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𝑢</m:t>
                          </m:r>
                        </m:e>
                        <m:sub>
                          <m:r>
                            <a:rPr lang="en-US" altLang="zh-CN" i="1">
                              <a:latin typeface="Cambria Math" panose="02040503050406030204" pitchFamily="18" charset="0"/>
                            </a:rPr>
                            <m:t>1</m:t>
                          </m:r>
                        </m:sub>
                      </m:sSub>
                      <m:r>
                        <m:rPr>
                          <m:nor/>
                        </m:rPr>
                        <a:rPr lang="zh-CN" altLang="en-US" dirty="0"/>
                        <m:t> </m:t>
                      </m:r>
                      <m:r>
                        <m:rPr>
                          <m:nor/>
                        </m:rPr>
                        <a:rPr lang="en-US" altLang="zh-CN" dirty="0"/>
                        <m:t>−</m:t>
                      </m:r>
                      <m:r>
                        <m:rPr>
                          <m:nor/>
                        </m:rPr>
                        <a:rPr lang="zh-CN" altLang="en-US" dirty="0"/>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𝑢</m:t>
                          </m:r>
                        </m:e>
                        <m:sub>
                          <m:r>
                            <a:rPr lang="en-US" altLang="zh-CN" i="1">
                              <a:latin typeface="Cambria Math" panose="02040503050406030204" pitchFamily="18" charset="0"/>
                            </a:rPr>
                            <m:t>2</m:t>
                          </m:r>
                        </m:sub>
                      </m:sSub>
                    </m:oMath>
                  </m:oMathPara>
                </a14:m>
                <a:endParaRPr lang="en-US" altLang="zh-CN" i="1" dirty="0"/>
              </a:p>
              <a:p>
                <a:pPr>
                  <a:buClr>
                    <a:srgbClr val="00549F"/>
                  </a:buClr>
                </a:pPr>
                <a:endParaRPr lang="en-US" altLang="zh-CN" i="1" dirty="0"/>
              </a:p>
            </p:txBody>
          </p:sp>
        </mc:Choice>
        <mc:Fallback xmlns="">
          <p:sp>
            <p:nvSpPr>
              <p:cNvPr id="16" name="文本框 15">
                <a:extLst>
                  <a:ext uri="{FF2B5EF4-FFF2-40B4-BE49-F238E27FC236}">
                    <a16:creationId xmlns:a16="http://schemas.microsoft.com/office/drawing/2014/main" id="{87BC952E-5D30-0FA8-822D-96C9A8432B80}"/>
                  </a:ext>
                </a:extLst>
              </p:cNvPr>
              <p:cNvSpPr txBox="1">
                <a:spLocks noRot="1" noChangeAspect="1" noMove="1" noResize="1" noEditPoints="1" noAdjustHandles="1" noChangeArrowheads="1" noChangeShapeType="1" noTextEdit="1"/>
              </p:cNvSpPr>
              <p:nvPr/>
            </p:nvSpPr>
            <p:spPr>
              <a:xfrm>
                <a:off x="6095206" y="3136415"/>
                <a:ext cx="5758128" cy="2352888"/>
              </a:xfrm>
              <a:prstGeom prst="rect">
                <a:avLst/>
              </a:prstGeom>
              <a:blipFill>
                <a:blip r:embed="rId4"/>
                <a:stretch>
                  <a:fillRect l="-742" t="-15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46172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1D65-92E7-246B-DCFA-93DED79066D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A4C8A5-0304-F7E6-7BEE-DE8850AAA08C}"/>
              </a:ext>
            </a:extLst>
          </p:cNvPr>
          <p:cNvSpPr>
            <a:spLocks noGrp="1"/>
          </p:cNvSpPr>
          <p:nvPr>
            <p:ph type="title"/>
          </p:nvPr>
        </p:nvSpPr>
        <p:spPr/>
        <p:txBody>
          <a:bodyPr/>
          <a:lstStyle/>
          <a:p>
            <a:r>
              <a:rPr lang="en-US" altLang="zh-CN" dirty="0"/>
              <a:t>Table of contents</a:t>
            </a:r>
            <a:endParaRPr lang="zh-CN" altLang="en-US" dirty="0"/>
          </a:p>
        </p:txBody>
      </p:sp>
      <p:sp>
        <p:nvSpPr>
          <p:cNvPr id="3" name="内容占位符 2">
            <a:extLst>
              <a:ext uri="{FF2B5EF4-FFF2-40B4-BE49-F238E27FC236}">
                <a16:creationId xmlns:a16="http://schemas.microsoft.com/office/drawing/2014/main" id="{57D91DD9-7A24-6AFD-92A9-66B2310571D8}"/>
              </a:ext>
            </a:extLst>
          </p:cNvPr>
          <p:cNvSpPr>
            <a:spLocks noGrp="1"/>
          </p:cNvSpPr>
          <p:nvPr>
            <p:ph idx="1"/>
          </p:nvPr>
        </p:nvSpPr>
        <p:spPr/>
        <p:txBody>
          <a:bodyPr/>
          <a:lstStyle/>
          <a:p>
            <a:pPr>
              <a:lnSpc>
                <a:spcPct val="200000"/>
              </a:lnSpc>
            </a:pPr>
            <a:r>
              <a:rPr lang="en-US" altLang="zh-CN" dirty="0"/>
              <a:t>Research Background &amp; Objectives</a:t>
            </a:r>
          </a:p>
          <a:p>
            <a:pPr>
              <a:lnSpc>
                <a:spcPct val="200000"/>
              </a:lnSpc>
            </a:pPr>
            <a:r>
              <a:rPr lang="en-US" altLang="zh-CN" dirty="0"/>
              <a:t>Literature Review</a:t>
            </a:r>
          </a:p>
          <a:p>
            <a:pPr>
              <a:lnSpc>
                <a:spcPct val="200000"/>
              </a:lnSpc>
            </a:pPr>
            <a:r>
              <a:rPr lang="en-US" altLang="zh-CN" dirty="0"/>
              <a:t>Data Processing and Resistance Extraction Progress</a:t>
            </a:r>
          </a:p>
          <a:p>
            <a:pPr>
              <a:lnSpc>
                <a:spcPct val="200000"/>
              </a:lnSpc>
            </a:pPr>
            <a:r>
              <a:rPr lang="en-US" altLang="zh-CN" b="1" dirty="0">
                <a:solidFill>
                  <a:schemeClr val="accent4"/>
                </a:solidFill>
              </a:rPr>
              <a:t>Preliminary Findings and Current Problems </a:t>
            </a:r>
          </a:p>
          <a:p>
            <a:pPr>
              <a:lnSpc>
                <a:spcPct val="200000"/>
              </a:lnSpc>
            </a:pPr>
            <a:r>
              <a:rPr lang="en-US" altLang="zh-CN" dirty="0"/>
              <a:t>Next-stage Research Plan</a:t>
            </a:r>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A805CAA1-61F2-587C-CAAB-B4C1AFF70CB2}"/>
              </a:ext>
            </a:extLst>
          </p:cNvPr>
          <p:cNvSpPr>
            <a:spLocks noGrp="1"/>
          </p:cNvSpPr>
          <p:nvPr>
            <p:ph type="dt" sz="half" idx="10"/>
          </p:nvPr>
        </p:nvSpPr>
        <p:spPr/>
        <p:txBody>
          <a:bodyPr/>
          <a:lstStyle/>
          <a:p>
            <a:r>
              <a:rPr lang="de-DE" altLang="zh-CN" dirty="0"/>
              <a:t>09.07.2026</a:t>
            </a:r>
          </a:p>
          <a:p>
            <a:pPr algn="l"/>
            <a:endParaRPr lang="de-DE" dirty="0"/>
          </a:p>
        </p:txBody>
      </p:sp>
      <p:sp>
        <p:nvSpPr>
          <p:cNvPr id="5" name="页脚占位符 4">
            <a:extLst>
              <a:ext uri="{FF2B5EF4-FFF2-40B4-BE49-F238E27FC236}">
                <a16:creationId xmlns:a16="http://schemas.microsoft.com/office/drawing/2014/main" id="{1EA08A49-3B4A-27DE-7595-73AA327DD9C0}"/>
              </a:ext>
            </a:extLst>
          </p:cNvPr>
          <p:cNvSpPr>
            <a:spLocks noGrp="1"/>
          </p:cNvSpPr>
          <p:nvPr>
            <p:ph type="ftr" sz="quarter" idx="11"/>
          </p:nvPr>
        </p:nvSpPr>
        <p:spPr/>
        <p:txBody>
          <a:bodyPr/>
          <a:lstStyle/>
          <a:p>
            <a:r>
              <a:rPr lang="en-US" altLang="zh-CN" dirty="0"/>
              <a:t>Yida Cheng</a:t>
            </a:r>
          </a:p>
        </p:txBody>
      </p:sp>
      <p:sp>
        <p:nvSpPr>
          <p:cNvPr id="6" name="灯片编号占位符 5">
            <a:extLst>
              <a:ext uri="{FF2B5EF4-FFF2-40B4-BE49-F238E27FC236}">
                <a16:creationId xmlns:a16="http://schemas.microsoft.com/office/drawing/2014/main" id="{BD16F522-FC68-CBED-BD76-D9E0B319B329}"/>
              </a:ext>
            </a:extLst>
          </p:cNvPr>
          <p:cNvSpPr>
            <a:spLocks noGrp="1"/>
          </p:cNvSpPr>
          <p:nvPr>
            <p:ph type="sldNum" sz="quarter" idx="12"/>
          </p:nvPr>
        </p:nvSpPr>
        <p:spPr/>
        <p:txBody>
          <a:bodyPr/>
          <a:lstStyle/>
          <a:p>
            <a:fld id="{4D01E63C-D794-4429-8564-635E6253AC5C}" type="slidenum">
              <a:rPr lang="en-US" smtClean="0"/>
              <a:pPr/>
              <a:t>12</a:t>
            </a:fld>
            <a:endParaRPr lang="en-US" dirty="0"/>
          </a:p>
        </p:txBody>
      </p:sp>
    </p:spTree>
    <p:extLst>
      <p:ext uri="{BB962C8B-B14F-4D97-AF65-F5344CB8AC3E}">
        <p14:creationId xmlns:p14="http://schemas.microsoft.com/office/powerpoint/2010/main" val="65954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46403-2601-B391-5516-F233E2AB1CC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E72BE12-ECB3-14C3-7504-0B5C01A05C3B}"/>
              </a:ext>
            </a:extLst>
          </p:cNvPr>
          <p:cNvSpPr>
            <a:spLocks noGrp="1"/>
          </p:cNvSpPr>
          <p:nvPr>
            <p:ph type="title"/>
          </p:nvPr>
        </p:nvSpPr>
        <p:spPr/>
        <p:txBody>
          <a:bodyPr/>
          <a:lstStyle/>
          <a:p>
            <a:r>
              <a:rPr lang="en-US" altLang="zh-CN" dirty="0"/>
              <a:t>Preliminary results</a:t>
            </a:r>
            <a:endParaRPr lang="zh-CN" altLang="zh-CN" dirty="0"/>
          </a:p>
        </p:txBody>
      </p:sp>
      <p:sp>
        <p:nvSpPr>
          <p:cNvPr id="4" name="Datumsplatzhalter 3">
            <a:extLst>
              <a:ext uri="{FF2B5EF4-FFF2-40B4-BE49-F238E27FC236}">
                <a16:creationId xmlns:a16="http://schemas.microsoft.com/office/drawing/2014/main" id="{1F9CDF5A-2A7B-D506-8279-F44DB6E6741A}"/>
              </a:ext>
            </a:extLst>
          </p:cNvPr>
          <p:cNvSpPr>
            <a:spLocks noGrp="1"/>
          </p:cNvSpPr>
          <p:nvPr>
            <p:ph type="dt" sz="half" idx="10"/>
          </p:nvPr>
        </p:nvSpPr>
        <p:spPr/>
        <p:txBody>
          <a:bodyPr/>
          <a:lstStyle/>
          <a:p>
            <a:pPr algn="l"/>
            <a:r>
              <a:rPr lang="de-DE"/>
              <a:t>09.07.2026</a:t>
            </a:r>
            <a:endParaRPr lang="de-DE" dirty="0"/>
          </a:p>
        </p:txBody>
      </p:sp>
      <p:sp>
        <p:nvSpPr>
          <p:cNvPr id="5" name="Fußzeilenplatzhalter 4">
            <a:extLst>
              <a:ext uri="{FF2B5EF4-FFF2-40B4-BE49-F238E27FC236}">
                <a16:creationId xmlns:a16="http://schemas.microsoft.com/office/drawing/2014/main" id="{C1CE6943-DBB5-6F87-9195-4023A201EE54}"/>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7FB8457C-433D-FF1C-526A-ADE819A5D502}"/>
              </a:ext>
            </a:extLst>
          </p:cNvPr>
          <p:cNvSpPr>
            <a:spLocks noGrp="1"/>
          </p:cNvSpPr>
          <p:nvPr>
            <p:ph type="sldNum" sz="quarter" idx="12"/>
          </p:nvPr>
        </p:nvSpPr>
        <p:spPr/>
        <p:txBody>
          <a:bodyPr/>
          <a:lstStyle/>
          <a:p>
            <a:fld id="{4D01E63C-D794-4429-8564-635E6253AC5C}" type="slidenum">
              <a:rPr lang="en-US" smtClean="0"/>
              <a:pPr/>
              <a:t>13</a:t>
            </a:fld>
            <a:endParaRPr lang="en-US" dirty="0"/>
          </a:p>
        </p:txBody>
      </p:sp>
      <p:sp>
        <p:nvSpPr>
          <p:cNvPr id="9" name="内容占位符 8">
            <a:extLst>
              <a:ext uri="{FF2B5EF4-FFF2-40B4-BE49-F238E27FC236}">
                <a16:creationId xmlns:a16="http://schemas.microsoft.com/office/drawing/2014/main" id="{3239DBBA-C6F6-4A61-2250-D874FCD9A483}"/>
              </a:ext>
            </a:extLst>
          </p:cNvPr>
          <p:cNvSpPr>
            <a:spLocks noGrp="1"/>
          </p:cNvSpPr>
          <p:nvPr>
            <p:ph idx="1"/>
          </p:nvPr>
        </p:nvSpPr>
        <p:spPr/>
        <p:txBody>
          <a:bodyPr/>
          <a:lstStyle/>
          <a:p>
            <a:r>
              <a:rPr lang="zh-CN" altLang="zh-CN" dirty="0"/>
              <a:t>R</a:t>
            </a:r>
            <a:r>
              <a:rPr lang="zh-CN" altLang="zh-CN" baseline="-25000" dirty="0"/>
              <a:t>0</a:t>
            </a:r>
            <a:r>
              <a:rPr lang="en-US" altLang="zh-CN" baseline="-25000" dirty="0"/>
              <a:t>  </a:t>
            </a:r>
            <a:r>
              <a:rPr lang="en-US" altLang="zh-CN" dirty="0"/>
              <a:t>results</a:t>
            </a:r>
            <a:endParaRPr lang="zh-CN" altLang="en-US" dirty="0"/>
          </a:p>
        </p:txBody>
      </p:sp>
      <p:pic>
        <p:nvPicPr>
          <p:cNvPr id="7" name="图片 6">
            <a:extLst>
              <a:ext uri="{FF2B5EF4-FFF2-40B4-BE49-F238E27FC236}">
                <a16:creationId xmlns:a16="http://schemas.microsoft.com/office/drawing/2014/main" id="{D4E5F27C-ED92-3CCE-DF6F-6C7B248EAB1C}"/>
              </a:ext>
            </a:extLst>
          </p:cNvPr>
          <p:cNvPicPr>
            <a:picLocks noChangeAspect="1"/>
          </p:cNvPicPr>
          <p:nvPr/>
        </p:nvPicPr>
        <p:blipFill>
          <a:blip r:embed="rId3"/>
          <a:stretch>
            <a:fillRect/>
          </a:stretch>
        </p:blipFill>
        <p:spPr>
          <a:xfrm>
            <a:off x="383950" y="1539551"/>
            <a:ext cx="10695482" cy="4278193"/>
          </a:xfrm>
          <a:prstGeom prst="rect">
            <a:avLst/>
          </a:prstGeom>
        </p:spPr>
      </p:pic>
    </p:spTree>
    <p:extLst>
      <p:ext uri="{BB962C8B-B14F-4D97-AF65-F5344CB8AC3E}">
        <p14:creationId xmlns:p14="http://schemas.microsoft.com/office/powerpoint/2010/main" val="378072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824FB-0D69-5AD2-3F29-DC441EC9D5A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4D8EA3-F37A-B708-966E-9EC2EF43AC0C}"/>
              </a:ext>
            </a:extLst>
          </p:cNvPr>
          <p:cNvSpPr>
            <a:spLocks noGrp="1"/>
          </p:cNvSpPr>
          <p:nvPr>
            <p:ph type="title"/>
          </p:nvPr>
        </p:nvSpPr>
        <p:spPr/>
        <p:txBody>
          <a:bodyPr/>
          <a:lstStyle/>
          <a:p>
            <a:r>
              <a:rPr lang="en-US" altLang="zh-CN" dirty="0"/>
              <a:t>Preliminary results</a:t>
            </a:r>
            <a:endParaRPr lang="zh-CN" altLang="zh-CN" dirty="0"/>
          </a:p>
        </p:txBody>
      </p:sp>
      <p:sp>
        <p:nvSpPr>
          <p:cNvPr id="4" name="Datumsplatzhalter 3">
            <a:extLst>
              <a:ext uri="{FF2B5EF4-FFF2-40B4-BE49-F238E27FC236}">
                <a16:creationId xmlns:a16="http://schemas.microsoft.com/office/drawing/2014/main" id="{6D9207B1-8AB1-AEEF-24F8-F2629B7C54BE}"/>
              </a:ext>
            </a:extLst>
          </p:cNvPr>
          <p:cNvSpPr>
            <a:spLocks noGrp="1"/>
          </p:cNvSpPr>
          <p:nvPr>
            <p:ph type="dt" sz="half" idx="10"/>
          </p:nvPr>
        </p:nvSpPr>
        <p:spPr/>
        <p:txBody>
          <a:bodyPr/>
          <a:lstStyle/>
          <a:p>
            <a:pPr algn="l"/>
            <a:r>
              <a:rPr lang="de-DE" dirty="0"/>
              <a:t>09.07.2026</a:t>
            </a:r>
          </a:p>
        </p:txBody>
      </p:sp>
      <p:sp>
        <p:nvSpPr>
          <p:cNvPr id="5" name="Fußzeilenplatzhalter 4">
            <a:extLst>
              <a:ext uri="{FF2B5EF4-FFF2-40B4-BE49-F238E27FC236}">
                <a16:creationId xmlns:a16="http://schemas.microsoft.com/office/drawing/2014/main" id="{9D634260-B96B-8859-3D90-A0B518BFB379}"/>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1936283F-285B-8C0F-7CCD-534D3CEF56D8}"/>
              </a:ext>
            </a:extLst>
          </p:cNvPr>
          <p:cNvSpPr>
            <a:spLocks noGrp="1"/>
          </p:cNvSpPr>
          <p:nvPr>
            <p:ph type="sldNum" sz="quarter" idx="12"/>
          </p:nvPr>
        </p:nvSpPr>
        <p:spPr/>
        <p:txBody>
          <a:bodyPr/>
          <a:lstStyle/>
          <a:p>
            <a:fld id="{4D01E63C-D794-4429-8564-635E6253AC5C}" type="slidenum">
              <a:rPr lang="en-US" smtClean="0"/>
              <a:pPr/>
              <a:t>14</a:t>
            </a:fld>
            <a:endParaRPr lang="en-US" dirty="0"/>
          </a:p>
        </p:txBody>
      </p:sp>
      <p:sp>
        <p:nvSpPr>
          <p:cNvPr id="9" name="内容占位符 8">
            <a:extLst>
              <a:ext uri="{FF2B5EF4-FFF2-40B4-BE49-F238E27FC236}">
                <a16:creationId xmlns:a16="http://schemas.microsoft.com/office/drawing/2014/main" id="{32C6DEFE-A781-A7D8-D4CB-CFB0355A1313}"/>
              </a:ext>
            </a:extLst>
          </p:cNvPr>
          <p:cNvSpPr>
            <a:spLocks noGrp="1"/>
          </p:cNvSpPr>
          <p:nvPr>
            <p:ph idx="1"/>
          </p:nvPr>
        </p:nvSpPr>
        <p:spPr/>
        <p:txBody>
          <a:bodyPr/>
          <a:lstStyle/>
          <a:p>
            <a:r>
              <a:rPr lang="zh-CN" altLang="zh-CN" dirty="0"/>
              <a:t>R</a:t>
            </a:r>
            <a:r>
              <a:rPr lang="en-US" altLang="zh-CN" baseline="-25000" dirty="0"/>
              <a:t>1  </a:t>
            </a:r>
            <a:r>
              <a:rPr lang="en-US" altLang="zh-CN" dirty="0"/>
              <a:t>results</a:t>
            </a:r>
            <a:endParaRPr lang="zh-CN" altLang="en-US" dirty="0"/>
          </a:p>
        </p:txBody>
      </p:sp>
      <p:pic>
        <p:nvPicPr>
          <p:cNvPr id="8" name="图片 7">
            <a:extLst>
              <a:ext uri="{FF2B5EF4-FFF2-40B4-BE49-F238E27FC236}">
                <a16:creationId xmlns:a16="http://schemas.microsoft.com/office/drawing/2014/main" id="{E82FF1B6-96D2-5181-154D-4526FFD36BF0}"/>
              </a:ext>
            </a:extLst>
          </p:cNvPr>
          <p:cNvPicPr>
            <a:picLocks noChangeAspect="1"/>
          </p:cNvPicPr>
          <p:nvPr/>
        </p:nvPicPr>
        <p:blipFill>
          <a:blip r:embed="rId3"/>
          <a:stretch>
            <a:fillRect/>
          </a:stretch>
        </p:blipFill>
        <p:spPr>
          <a:xfrm>
            <a:off x="383950" y="1570610"/>
            <a:ext cx="10781662" cy="4312665"/>
          </a:xfrm>
          <a:prstGeom prst="rect">
            <a:avLst/>
          </a:prstGeom>
        </p:spPr>
      </p:pic>
    </p:spTree>
    <p:extLst>
      <p:ext uri="{BB962C8B-B14F-4D97-AF65-F5344CB8AC3E}">
        <p14:creationId xmlns:p14="http://schemas.microsoft.com/office/powerpoint/2010/main" val="426763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7683F-A457-C015-8EBE-7CA4BA60E21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0BAE48C-2AE8-1C5A-8B2A-97A3C120A316}"/>
              </a:ext>
            </a:extLst>
          </p:cNvPr>
          <p:cNvSpPr>
            <a:spLocks noGrp="1"/>
          </p:cNvSpPr>
          <p:nvPr>
            <p:ph type="title"/>
          </p:nvPr>
        </p:nvSpPr>
        <p:spPr/>
        <p:txBody>
          <a:bodyPr/>
          <a:lstStyle/>
          <a:p>
            <a:r>
              <a:rPr lang="en-US" altLang="zh-CN" dirty="0"/>
              <a:t>Preliminary results</a:t>
            </a:r>
            <a:endParaRPr lang="zh-CN" altLang="zh-CN" dirty="0"/>
          </a:p>
        </p:txBody>
      </p:sp>
      <p:sp>
        <p:nvSpPr>
          <p:cNvPr id="4" name="Datumsplatzhalter 3">
            <a:extLst>
              <a:ext uri="{FF2B5EF4-FFF2-40B4-BE49-F238E27FC236}">
                <a16:creationId xmlns:a16="http://schemas.microsoft.com/office/drawing/2014/main" id="{5C3953F6-7828-F548-F06B-BF4477C04BDC}"/>
              </a:ext>
            </a:extLst>
          </p:cNvPr>
          <p:cNvSpPr>
            <a:spLocks noGrp="1"/>
          </p:cNvSpPr>
          <p:nvPr>
            <p:ph type="dt" sz="half" idx="10"/>
          </p:nvPr>
        </p:nvSpPr>
        <p:spPr/>
        <p:txBody>
          <a:bodyPr/>
          <a:lstStyle/>
          <a:p>
            <a:pPr algn="l"/>
            <a:r>
              <a:rPr lang="de-DE" dirty="0"/>
              <a:t>09.07.2026</a:t>
            </a:r>
          </a:p>
        </p:txBody>
      </p:sp>
      <p:sp>
        <p:nvSpPr>
          <p:cNvPr id="5" name="Fußzeilenplatzhalter 4">
            <a:extLst>
              <a:ext uri="{FF2B5EF4-FFF2-40B4-BE49-F238E27FC236}">
                <a16:creationId xmlns:a16="http://schemas.microsoft.com/office/drawing/2014/main" id="{79C1A686-DF5E-B498-3F0F-41135B1545B4}"/>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23FD731C-87AA-6A0B-3253-9F3D38031737}"/>
              </a:ext>
            </a:extLst>
          </p:cNvPr>
          <p:cNvSpPr>
            <a:spLocks noGrp="1"/>
          </p:cNvSpPr>
          <p:nvPr>
            <p:ph type="sldNum" sz="quarter" idx="12"/>
          </p:nvPr>
        </p:nvSpPr>
        <p:spPr/>
        <p:txBody>
          <a:bodyPr/>
          <a:lstStyle/>
          <a:p>
            <a:fld id="{4D01E63C-D794-4429-8564-635E6253AC5C}" type="slidenum">
              <a:rPr lang="en-US" smtClean="0"/>
              <a:pPr/>
              <a:t>15</a:t>
            </a:fld>
            <a:endParaRPr lang="en-US" dirty="0"/>
          </a:p>
        </p:txBody>
      </p:sp>
      <p:sp>
        <p:nvSpPr>
          <p:cNvPr id="9" name="内容占位符 8">
            <a:extLst>
              <a:ext uri="{FF2B5EF4-FFF2-40B4-BE49-F238E27FC236}">
                <a16:creationId xmlns:a16="http://schemas.microsoft.com/office/drawing/2014/main" id="{AA5F01F5-9F21-30A9-75BA-1E243356BCAC}"/>
              </a:ext>
            </a:extLst>
          </p:cNvPr>
          <p:cNvSpPr>
            <a:spLocks noGrp="1"/>
          </p:cNvSpPr>
          <p:nvPr>
            <p:ph idx="1"/>
          </p:nvPr>
        </p:nvSpPr>
        <p:spPr/>
        <p:txBody>
          <a:bodyPr/>
          <a:lstStyle/>
          <a:p>
            <a:r>
              <a:rPr lang="zh-CN" altLang="zh-CN" dirty="0"/>
              <a:t>R</a:t>
            </a:r>
            <a:r>
              <a:rPr lang="en-US" altLang="zh-CN" baseline="-25000" dirty="0"/>
              <a:t>2  </a:t>
            </a:r>
            <a:r>
              <a:rPr lang="en-US" altLang="zh-CN" dirty="0"/>
              <a:t>results</a:t>
            </a:r>
            <a:endParaRPr lang="zh-CN" altLang="en-US" dirty="0"/>
          </a:p>
        </p:txBody>
      </p:sp>
      <p:pic>
        <p:nvPicPr>
          <p:cNvPr id="8" name="图片 7">
            <a:extLst>
              <a:ext uri="{FF2B5EF4-FFF2-40B4-BE49-F238E27FC236}">
                <a16:creationId xmlns:a16="http://schemas.microsoft.com/office/drawing/2014/main" id="{C44DFE00-2C78-316E-E751-89CF2987D739}"/>
              </a:ext>
            </a:extLst>
          </p:cNvPr>
          <p:cNvPicPr>
            <a:picLocks noChangeAspect="1"/>
          </p:cNvPicPr>
          <p:nvPr/>
        </p:nvPicPr>
        <p:blipFill>
          <a:blip r:embed="rId3"/>
          <a:stretch>
            <a:fillRect/>
          </a:stretch>
        </p:blipFill>
        <p:spPr>
          <a:xfrm>
            <a:off x="383949" y="1538734"/>
            <a:ext cx="10678791" cy="4271516"/>
          </a:xfrm>
          <a:prstGeom prst="rect">
            <a:avLst/>
          </a:prstGeom>
        </p:spPr>
      </p:pic>
    </p:spTree>
    <p:extLst>
      <p:ext uri="{BB962C8B-B14F-4D97-AF65-F5344CB8AC3E}">
        <p14:creationId xmlns:p14="http://schemas.microsoft.com/office/powerpoint/2010/main" val="4051886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C455E-C60A-1AEB-F54B-263AE1A609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A383DD-2517-734F-BC88-B431AD392175}"/>
              </a:ext>
            </a:extLst>
          </p:cNvPr>
          <p:cNvSpPr>
            <a:spLocks noGrp="1"/>
          </p:cNvSpPr>
          <p:nvPr>
            <p:ph type="title"/>
          </p:nvPr>
        </p:nvSpPr>
        <p:spPr/>
        <p:txBody>
          <a:bodyPr/>
          <a:lstStyle/>
          <a:p>
            <a:r>
              <a:rPr lang="zh-CN" altLang="zh-CN" dirty="0"/>
              <a:t>Current Problems and Key Observations</a:t>
            </a:r>
          </a:p>
        </p:txBody>
      </p:sp>
      <p:sp>
        <p:nvSpPr>
          <p:cNvPr id="4" name="Datumsplatzhalter 3">
            <a:extLst>
              <a:ext uri="{FF2B5EF4-FFF2-40B4-BE49-F238E27FC236}">
                <a16:creationId xmlns:a16="http://schemas.microsoft.com/office/drawing/2014/main" id="{F2848477-571D-5840-90D8-4345774F9299}"/>
              </a:ext>
            </a:extLst>
          </p:cNvPr>
          <p:cNvSpPr>
            <a:spLocks noGrp="1"/>
          </p:cNvSpPr>
          <p:nvPr>
            <p:ph type="dt" sz="half" idx="10"/>
          </p:nvPr>
        </p:nvSpPr>
        <p:spPr/>
        <p:txBody>
          <a:bodyPr/>
          <a:lstStyle/>
          <a:p>
            <a:pPr algn="l"/>
            <a:r>
              <a:rPr lang="de-DE" dirty="0"/>
              <a:t>09.07.2026</a:t>
            </a:r>
          </a:p>
        </p:txBody>
      </p:sp>
      <p:sp>
        <p:nvSpPr>
          <p:cNvPr id="5" name="Fußzeilenplatzhalter 4">
            <a:extLst>
              <a:ext uri="{FF2B5EF4-FFF2-40B4-BE49-F238E27FC236}">
                <a16:creationId xmlns:a16="http://schemas.microsoft.com/office/drawing/2014/main" id="{7D83629F-DFD7-C366-4FDD-EFB867E3AD61}"/>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7B49E79B-D7AD-8B8E-5B38-81788A61B550}"/>
              </a:ext>
            </a:extLst>
          </p:cNvPr>
          <p:cNvSpPr>
            <a:spLocks noGrp="1"/>
          </p:cNvSpPr>
          <p:nvPr>
            <p:ph type="sldNum" sz="quarter" idx="12"/>
          </p:nvPr>
        </p:nvSpPr>
        <p:spPr/>
        <p:txBody>
          <a:bodyPr/>
          <a:lstStyle/>
          <a:p>
            <a:fld id="{4D01E63C-D794-4429-8564-635E6253AC5C}" type="slidenum">
              <a:rPr lang="en-US" smtClean="0"/>
              <a:pPr/>
              <a:t>16</a:t>
            </a:fld>
            <a:endParaRPr lang="en-US" dirty="0"/>
          </a:p>
        </p:txBody>
      </p:sp>
      <p:sp>
        <p:nvSpPr>
          <p:cNvPr id="9" name="内容占位符 8">
            <a:extLst>
              <a:ext uri="{FF2B5EF4-FFF2-40B4-BE49-F238E27FC236}">
                <a16:creationId xmlns:a16="http://schemas.microsoft.com/office/drawing/2014/main" id="{3F6A40B8-24F2-EEFB-FB90-058CFFCA3028}"/>
              </a:ext>
            </a:extLst>
          </p:cNvPr>
          <p:cNvSpPr>
            <a:spLocks noGrp="1"/>
          </p:cNvSpPr>
          <p:nvPr>
            <p:ph idx="1"/>
          </p:nvPr>
        </p:nvSpPr>
        <p:spPr/>
        <p:txBody>
          <a:bodyPr/>
          <a:lstStyle/>
          <a:p>
            <a:pPr>
              <a:lnSpc>
                <a:spcPct val="150000"/>
              </a:lnSpc>
            </a:pPr>
            <a:r>
              <a:rPr lang="en-US" altLang="zh-CN" dirty="0"/>
              <a:t>R</a:t>
            </a:r>
            <a:r>
              <a:rPr lang="en-US" altLang="zh-CN" baseline="-25000" dirty="0"/>
              <a:t>0</a:t>
            </a:r>
            <a:r>
              <a:rPr lang="en-US" altLang="zh-CN" dirty="0"/>
              <a:t> includes a portion of the polarization resistance.</a:t>
            </a:r>
          </a:p>
          <a:p>
            <a:pPr marL="0" indent="0">
              <a:lnSpc>
                <a:spcPct val="150000"/>
              </a:lnSpc>
              <a:buNone/>
            </a:pPr>
            <a:r>
              <a:rPr lang="zh-CN" altLang="zh-CN" dirty="0">
                <a:solidFill>
                  <a:schemeClr val="accent1">
                    <a:lumMod val="60000"/>
                    <a:lumOff val="40000"/>
                  </a:schemeClr>
                </a:solidFill>
              </a:rPr>
              <a:t>This may lead to an overestimation of the pure ohmic resistance.</a:t>
            </a:r>
            <a:endParaRPr lang="en-US" altLang="zh-CN" dirty="0">
              <a:solidFill>
                <a:schemeClr val="accent1">
                  <a:lumMod val="60000"/>
                  <a:lumOff val="40000"/>
                </a:schemeClr>
              </a:solidFill>
            </a:endParaRPr>
          </a:p>
          <a:p>
            <a:pPr marL="0" indent="0">
              <a:buNone/>
            </a:pPr>
            <a:endParaRPr lang="en-US" altLang="zh-CN" dirty="0"/>
          </a:p>
          <a:p>
            <a:pPr>
              <a:lnSpc>
                <a:spcPct val="150000"/>
              </a:lnSpc>
            </a:pPr>
            <a:r>
              <a:rPr lang="en-US" altLang="zh-CN" dirty="0"/>
              <a:t>SOC-dependent τ₂ bounds were applied to stabilize the RC fitting and separate fast/slow relaxation dynamics.</a:t>
            </a:r>
          </a:p>
          <a:p>
            <a:pPr>
              <a:lnSpc>
                <a:spcPct val="150000"/>
              </a:lnSpc>
            </a:pPr>
            <a:endParaRPr lang="en-US" altLang="zh-CN" dirty="0"/>
          </a:p>
          <a:p>
            <a:pPr>
              <a:lnSpc>
                <a:spcPct val="150000"/>
              </a:lnSpc>
            </a:pPr>
            <a:r>
              <a:rPr lang="en-US" altLang="zh-CN" dirty="0"/>
              <a:t>For 10% SOC discharge, τ₂ frequently reaches the 600 s upper bound.</a:t>
            </a:r>
          </a:p>
          <a:p>
            <a:pPr marL="0" indent="0">
              <a:lnSpc>
                <a:spcPct val="150000"/>
              </a:lnSpc>
              <a:buNone/>
            </a:pPr>
            <a:r>
              <a:rPr lang="en-US" altLang="zh-CN" dirty="0">
                <a:solidFill>
                  <a:schemeClr val="accent1">
                    <a:lumMod val="60000"/>
                    <a:lumOff val="40000"/>
                  </a:schemeClr>
                </a:solidFill>
              </a:rPr>
              <a:t>This suggests limited identifiability of the slow RC branch rather than a precise τ₂ estimate.</a:t>
            </a:r>
            <a:endParaRPr lang="zh-CN" altLang="en-US" dirty="0">
              <a:solidFill>
                <a:schemeClr val="accent1">
                  <a:lumMod val="60000"/>
                  <a:lumOff val="40000"/>
                </a:schemeClr>
              </a:solidFill>
            </a:endParaRPr>
          </a:p>
        </p:txBody>
      </p:sp>
    </p:spTree>
    <p:extLst>
      <p:ext uri="{BB962C8B-B14F-4D97-AF65-F5344CB8AC3E}">
        <p14:creationId xmlns:p14="http://schemas.microsoft.com/office/powerpoint/2010/main" val="2012863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82F0-23D4-8A22-1AD1-06329B330A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3FA121-7C71-1B44-38C2-9E56AA6C904A}"/>
              </a:ext>
            </a:extLst>
          </p:cNvPr>
          <p:cNvSpPr>
            <a:spLocks noGrp="1"/>
          </p:cNvSpPr>
          <p:nvPr>
            <p:ph type="title"/>
          </p:nvPr>
        </p:nvSpPr>
        <p:spPr/>
        <p:txBody>
          <a:bodyPr/>
          <a:lstStyle/>
          <a:p>
            <a:r>
              <a:rPr lang="en-US" altLang="zh-CN" dirty="0"/>
              <a:t>Table of contents</a:t>
            </a:r>
            <a:endParaRPr lang="zh-CN" altLang="en-US" dirty="0"/>
          </a:p>
        </p:txBody>
      </p:sp>
      <p:sp>
        <p:nvSpPr>
          <p:cNvPr id="3" name="内容占位符 2">
            <a:extLst>
              <a:ext uri="{FF2B5EF4-FFF2-40B4-BE49-F238E27FC236}">
                <a16:creationId xmlns:a16="http://schemas.microsoft.com/office/drawing/2014/main" id="{03679C2E-AFD5-8614-2ECA-11CF551DD5B6}"/>
              </a:ext>
            </a:extLst>
          </p:cNvPr>
          <p:cNvSpPr>
            <a:spLocks noGrp="1"/>
          </p:cNvSpPr>
          <p:nvPr>
            <p:ph idx="1"/>
          </p:nvPr>
        </p:nvSpPr>
        <p:spPr/>
        <p:txBody>
          <a:bodyPr/>
          <a:lstStyle/>
          <a:p>
            <a:pPr>
              <a:lnSpc>
                <a:spcPct val="200000"/>
              </a:lnSpc>
            </a:pPr>
            <a:r>
              <a:rPr lang="en-US" altLang="zh-CN" dirty="0"/>
              <a:t>Research Background &amp; Objectives</a:t>
            </a:r>
          </a:p>
          <a:p>
            <a:pPr>
              <a:lnSpc>
                <a:spcPct val="200000"/>
              </a:lnSpc>
            </a:pPr>
            <a:r>
              <a:rPr lang="en-US" altLang="zh-CN" dirty="0"/>
              <a:t>Literature Review</a:t>
            </a:r>
          </a:p>
          <a:p>
            <a:pPr>
              <a:lnSpc>
                <a:spcPct val="200000"/>
              </a:lnSpc>
            </a:pPr>
            <a:r>
              <a:rPr lang="en-US" altLang="zh-CN" dirty="0"/>
              <a:t>Data Processing and Resistance Extraction Progress</a:t>
            </a:r>
          </a:p>
          <a:p>
            <a:pPr>
              <a:lnSpc>
                <a:spcPct val="200000"/>
              </a:lnSpc>
            </a:pPr>
            <a:r>
              <a:rPr lang="en-US" altLang="zh-CN" dirty="0"/>
              <a:t>Preliminary Findings and Current Problems </a:t>
            </a:r>
          </a:p>
          <a:p>
            <a:pPr>
              <a:lnSpc>
                <a:spcPct val="200000"/>
              </a:lnSpc>
            </a:pPr>
            <a:r>
              <a:rPr lang="en-US" altLang="zh-CN" b="1" dirty="0">
                <a:solidFill>
                  <a:schemeClr val="accent4"/>
                </a:solidFill>
              </a:rPr>
              <a:t>Next-stage Research Plan</a:t>
            </a:r>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168BA71B-8546-E50A-12FB-7D647CEB45C2}"/>
              </a:ext>
            </a:extLst>
          </p:cNvPr>
          <p:cNvSpPr>
            <a:spLocks noGrp="1"/>
          </p:cNvSpPr>
          <p:nvPr>
            <p:ph type="dt" sz="half" idx="10"/>
          </p:nvPr>
        </p:nvSpPr>
        <p:spPr/>
        <p:txBody>
          <a:bodyPr/>
          <a:lstStyle/>
          <a:p>
            <a:r>
              <a:rPr lang="de-DE" altLang="zh-CN" dirty="0"/>
              <a:t>09.07.2026</a:t>
            </a:r>
          </a:p>
          <a:p>
            <a:pPr algn="l"/>
            <a:endParaRPr lang="de-DE" dirty="0"/>
          </a:p>
        </p:txBody>
      </p:sp>
      <p:sp>
        <p:nvSpPr>
          <p:cNvPr id="5" name="页脚占位符 4">
            <a:extLst>
              <a:ext uri="{FF2B5EF4-FFF2-40B4-BE49-F238E27FC236}">
                <a16:creationId xmlns:a16="http://schemas.microsoft.com/office/drawing/2014/main" id="{2B204A25-9EA3-995B-E15F-679F25B5919C}"/>
              </a:ext>
            </a:extLst>
          </p:cNvPr>
          <p:cNvSpPr>
            <a:spLocks noGrp="1"/>
          </p:cNvSpPr>
          <p:nvPr>
            <p:ph type="ftr" sz="quarter" idx="11"/>
          </p:nvPr>
        </p:nvSpPr>
        <p:spPr/>
        <p:txBody>
          <a:bodyPr/>
          <a:lstStyle/>
          <a:p>
            <a:r>
              <a:rPr lang="en-US" altLang="zh-CN" dirty="0"/>
              <a:t>Yida Cheng</a:t>
            </a:r>
          </a:p>
        </p:txBody>
      </p:sp>
      <p:sp>
        <p:nvSpPr>
          <p:cNvPr id="6" name="灯片编号占位符 5">
            <a:extLst>
              <a:ext uri="{FF2B5EF4-FFF2-40B4-BE49-F238E27FC236}">
                <a16:creationId xmlns:a16="http://schemas.microsoft.com/office/drawing/2014/main" id="{E67A6942-365A-0577-CFCF-E87D545B18E5}"/>
              </a:ext>
            </a:extLst>
          </p:cNvPr>
          <p:cNvSpPr>
            <a:spLocks noGrp="1"/>
          </p:cNvSpPr>
          <p:nvPr>
            <p:ph type="sldNum" sz="quarter" idx="12"/>
          </p:nvPr>
        </p:nvSpPr>
        <p:spPr/>
        <p:txBody>
          <a:bodyPr/>
          <a:lstStyle/>
          <a:p>
            <a:fld id="{4D01E63C-D794-4429-8564-635E6253AC5C}" type="slidenum">
              <a:rPr lang="en-US" smtClean="0"/>
              <a:pPr/>
              <a:t>17</a:t>
            </a:fld>
            <a:endParaRPr lang="en-US" dirty="0"/>
          </a:p>
        </p:txBody>
      </p:sp>
    </p:spTree>
    <p:extLst>
      <p:ext uri="{BB962C8B-B14F-4D97-AF65-F5344CB8AC3E}">
        <p14:creationId xmlns:p14="http://schemas.microsoft.com/office/powerpoint/2010/main" val="3929286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C516-3DDB-1CC0-A971-D024686829B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EB0485-44F5-01CF-657A-B3D56D766EF3}"/>
              </a:ext>
            </a:extLst>
          </p:cNvPr>
          <p:cNvSpPr>
            <a:spLocks noGrp="1"/>
          </p:cNvSpPr>
          <p:nvPr>
            <p:ph type="title"/>
          </p:nvPr>
        </p:nvSpPr>
        <p:spPr/>
        <p:txBody>
          <a:bodyPr/>
          <a:lstStyle/>
          <a:p>
            <a:r>
              <a:rPr lang="zh-CN" altLang="zh-CN" dirty="0"/>
              <a:t>Next-stage Research Plan</a:t>
            </a:r>
          </a:p>
        </p:txBody>
      </p:sp>
      <p:sp>
        <p:nvSpPr>
          <p:cNvPr id="4" name="Datumsplatzhalter 3">
            <a:extLst>
              <a:ext uri="{FF2B5EF4-FFF2-40B4-BE49-F238E27FC236}">
                <a16:creationId xmlns:a16="http://schemas.microsoft.com/office/drawing/2014/main" id="{48D38B8B-34CC-EA52-4E41-A67D4F409C70}"/>
              </a:ext>
            </a:extLst>
          </p:cNvPr>
          <p:cNvSpPr>
            <a:spLocks noGrp="1"/>
          </p:cNvSpPr>
          <p:nvPr>
            <p:ph type="dt" sz="half" idx="10"/>
          </p:nvPr>
        </p:nvSpPr>
        <p:spPr/>
        <p:txBody>
          <a:bodyPr/>
          <a:lstStyle/>
          <a:p>
            <a:pPr algn="l"/>
            <a:r>
              <a:rPr lang="de-DE" dirty="0"/>
              <a:t>09.07.2026</a:t>
            </a:r>
          </a:p>
        </p:txBody>
      </p:sp>
      <p:sp>
        <p:nvSpPr>
          <p:cNvPr id="5" name="Fußzeilenplatzhalter 4">
            <a:extLst>
              <a:ext uri="{FF2B5EF4-FFF2-40B4-BE49-F238E27FC236}">
                <a16:creationId xmlns:a16="http://schemas.microsoft.com/office/drawing/2014/main" id="{F0FE6549-61F4-EBCD-39B2-35356DCCABF0}"/>
              </a:ext>
            </a:extLst>
          </p:cNvPr>
          <p:cNvSpPr>
            <a:spLocks noGrp="1"/>
          </p:cNvSpPr>
          <p:nvPr>
            <p:ph type="ftr" sz="quarter" idx="11"/>
          </p:nvPr>
        </p:nvSpPr>
        <p:spPr/>
        <p:txBody>
          <a:bodyPr/>
          <a:lstStyle/>
          <a:p>
            <a:r>
              <a:rPr lang="en-US"/>
              <a:t>Y</a:t>
            </a:r>
            <a:r>
              <a:rPr lang="en-US" altLang="zh-CN"/>
              <a:t>ida Cheng</a:t>
            </a:r>
            <a:endParaRPr lang="en-US" dirty="0"/>
          </a:p>
        </p:txBody>
      </p:sp>
      <p:sp>
        <p:nvSpPr>
          <p:cNvPr id="6" name="Foliennummernplatzhalter 5">
            <a:extLst>
              <a:ext uri="{FF2B5EF4-FFF2-40B4-BE49-F238E27FC236}">
                <a16:creationId xmlns:a16="http://schemas.microsoft.com/office/drawing/2014/main" id="{2A7DF4AA-034E-4924-CEEB-8F729AA7D1C8}"/>
              </a:ext>
            </a:extLst>
          </p:cNvPr>
          <p:cNvSpPr>
            <a:spLocks noGrp="1"/>
          </p:cNvSpPr>
          <p:nvPr>
            <p:ph type="sldNum" sz="quarter" idx="12"/>
          </p:nvPr>
        </p:nvSpPr>
        <p:spPr/>
        <p:txBody>
          <a:bodyPr/>
          <a:lstStyle/>
          <a:p>
            <a:fld id="{4D01E63C-D794-4429-8564-635E6253AC5C}" type="slidenum">
              <a:rPr lang="en-US" smtClean="0"/>
              <a:pPr/>
              <a:t>18</a:t>
            </a:fld>
            <a:endParaRPr lang="en-US" dirty="0"/>
          </a:p>
        </p:txBody>
      </p:sp>
      <p:sp>
        <p:nvSpPr>
          <p:cNvPr id="7" name="文本框 6">
            <a:extLst>
              <a:ext uri="{FF2B5EF4-FFF2-40B4-BE49-F238E27FC236}">
                <a16:creationId xmlns:a16="http://schemas.microsoft.com/office/drawing/2014/main" id="{550F0326-97EC-07AD-6869-A00A87CAF062}"/>
              </a:ext>
            </a:extLst>
          </p:cNvPr>
          <p:cNvSpPr txBox="1"/>
          <p:nvPr/>
        </p:nvSpPr>
        <p:spPr>
          <a:xfrm>
            <a:off x="383950" y="998730"/>
            <a:ext cx="8759712" cy="2222403"/>
          </a:xfrm>
          <a:prstGeom prst="rect">
            <a:avLst/>
          </a:prstGeom>
          <a:noFill/>
        </p:spPr>
        <p:txBody>
          <a:bodyPr wrap="square">
            <a:spAutoFit/>
          </a:bodyPr>
          <a:lstStyle/>
          <a:p>
            <a:pPr marL="285750" indent="-285750">
              <a:lnSpc>
                <a:spcPct val="200000"/>
              </a:lnSpc>
              <a:buClr>
                <a:srgbClr val="00549F"/>
              </a:buClr>
              <a:buFont typeface="Wingdings" panose="05000000000000000000" pitchFamily="2" charset="2"/>
              <a:buChar char="n"/>
            </a:pPr>
            <a:r>
              <a:rPr lang="zh-CN" altLang="zh-CN" dirty="0"/>
              <a:t>Build MTL dataset from extracted pulse-pause features and labels.</a:t>
            </a:r>
          </a:p>
          <a:p>
            <a:pPr marL="285750" indent="-285750">
              <a:lnSpc>
                <a:spcPct val="200000"/>
              </a:lnSpc>
              <a:buClr>
                <a:srgbClr val="00549F"/>
              </a:buClr>
              <a:buFont typeface="Wingdings" panose="05000000000000000000" pitchFamily="2" charset="2"/>
              <a:buChar char="n"/>
            </a:pPr>
            <a:r>
              <a:rPr lang="zh-CN" altLang="zh-CN" dirty="0"/>
              <a:t>Train and compare single-task vs multi-task models.</a:t>
            </a:r>
          </a:p>
          <a:p>
            <a:pPr marL="285750" indent="-285750">
              <a:lnSpc>
                <a:spcPct val="200000"/>
              </a:lnSpc>
              <a:buClr>
                <a:srgbClr val="00549F"/>
              </a:buClr>
              <a:buFont typeface="Wingdings" panose="05000000000000000000" pitchFamily="2" charset="2"/>
              <a:buChar char="n"/>
            </a:pPr>
            <a:r>
              <a:rPr lang="zh-CN" altLang="zh-CN" dirty="0"/>
              <a:t>Evaluate generalization across SOC, current, and pulse direction.</a:t>
            </a:r>
          </a:p>
          <a:p>
            <a:pPr marL="285750" indent="-285750">
              <a:lnSpc>
                <a:spcPct val="200000"/>
              </a:lnSpc>
              <a:buClr>
                <a:srgbClr val="00549F"/>
              </a:buClr>
              <a:buFont typeface="Wingdings" panose="05000000000000000000" pitchFamily="2" charset="2"/>
              <a:buChar char="n"/>
            </a:pPr>
            <a:r>
              <a:rPr lang="zh-CN" altLang="zh-CN" dirty="0"/>
              <a:t>Investigate how to handle uncertain R₂ labels caused by boundary-active τ₂.</a:t>
            </a:r>
          </a:p>
        </p:txBody>
      </p:sp>
    </p:spTree>
    <p:extLst>
      <p:ext uri="{BB962C8B-B14F-4D97-AF65-F5344CB8AC3E}">
        <p14:creationId xmlns:p14="http://schemas.microsoft.com/office/powerpoint/2010/main" val="2560089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40073-13A5-E636-67D8-AE1E4A62F0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B59A045-0D74-9165-3F8F-872A101F9343}"/>
              </a:ext>
            </a:extLst>
          </p:cNvPr>
          <p:cNvSpPr>
            <a:spLocks noGrp="1"/>
          </p:cNvSpPr>
          <p:nvPr>
            <p:ph type="title"/>
          </p:nvPr>
        </p:nvSpPr>
        <p:spPr>
          <a:xfrm>
            <a:off x="383950" y="201600"/>
            <a:ext cx="11422513" cy="543600"/>
          </a:xfrm>
        </p:spPr>
        <p:txBody>
          <a:bodyPr lIns="0" tIns="0" rIns="0" bIns="0" anchor="b" anchorCtr="0">
            <a:normAutofit fontScale="90000"/>
          </a:bodyPr>
          <a:lstStyle/>
          <a:p>
            <a:r>
              <a:rPr lang="zh-CN" altLang="zh-CN" dirty="0"/>
              <a:t>Multi-Task Learning Baselines: Fixed Sharing and Health-Oriented Auxiliary Learning</a:t>
            </a:r>
          </a:p>
        </p:txBody>
      </p:sp>
      <p:pic>
        <p:nvPicPr>
          <p:cNvPr id="10" name="图片 9">
            <a:extLst>
              <a:ext uri="{FF2B5EF4-FFF2-40B4-BE49-F238E27FC236}">
                <a16:creationId xmlns:a16="http://schemas.microsoft.com/office/drawing/2014/main" id="{BDE433C3-4940-7837-E297-855B9C105EBE}"/>
              </a:ext>
            </a:extLst>
          </p:cNvPr>
          <p:cNvPicPr>
            <a:picLocks noChangeAspect="1"/>
          </p:cNvPicPr>
          <p:nvPr/>
        </p:nvPicPr>
        <p:blipFill>
          <a:blip r:embed="rId3"/>
          <a:stretch>
            <a:fillRect/>
          </a:stretch>
        </p:blipFill>
        <p:spPr>
          <a:xfrm>
            <a:off x="379151" y="1745184"/>
            <a:ext cx="5620068" cy="2655481"/>
          </a:xfrm>
          <a:prstGeom prst="rect">
            <a:avLst/>
          </a:prstGeom>
          <a:noFill/>
        </p:spPr>
      </p:pic>
      <p:sp>
        <p:nvSpPr>
          <p:cNvPr id="7" name="文本框 6">
            <a:extLst>
              <a:ext uri="{FF2B5EF4-FFF2-40B4-BE49-F238E27FC236}">
                <a16:creationId xmlns:a16="http://schemas.microsoft.com/office/drawing/2014/main" id="{A1651FCC-760E-7A79-5A6E-9747E1649B38}"/>
              </a:ext>
            </a:extLst>
          </p:cNvPr>
          <p:cNvSpPr txBox="1"/>
          <p:nvPr/>
        </p:nvSpPr>
        <p:spPr>
          <a:xfrm>
            <a:off x="6191194" y="1151999"/>
            <a:ext cx="5620068" cy="4731275"/>
          </a:xfrm>
          <a:prstGeom prst="rect">
            <a:avLst/>
          </a:prstGeom>
        </p:spPr>
        <p:txBody>
          <a:bodyPr lIns="0" tIns="0" rIns="0" bIns="0">
            <a:normAutofit fontScale="92500" lnSpcReduction="20000"/>
          </a:bodyPr>
          <a:lstStyle/>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r>
              <a:rPr lang="en-US" altLang="zh-CN" dirty="0">
                <a:latin typeface="Arial" panose="020B0604020202020204" pitchFamily="34" charset="0"/>
                <a:cs typeface="Arial" panose="020B0604020202020204" pitchFamily="34" charset="0"/>
              </a:rPr>
              <a:t>Shared-bottom MTL:</a:t>
            </a:r>
          </a:p>
          <a:p>
            <a:pPr marL="285750" indent="-285750" defTabSz="215900" eaLnBrk="1" hangingPunct="1">
              <a:lnSpc>
                <a:spcPct val="150000"/>
              </a:lnSpc>
              <a:spcBef>
                <a:spcPts val="0"/>
              </a:spcBef>
              <a:spcAft>
                <a:spcPts val="450"/>
              </a:spcAft>
              <a:buClr>
                <a:schemeClr val="tx2"/>
              </a:buClr>
              <a:buSzPct val="100000"/>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Shared encoder learns common degradation representation; task-specific heads predict SOH, R</a:t>
            </a:r>
            <a:r>
              <a:rPr lang="en-US" altLang="zh-CN" sz="1600" baseline="-25000" dirty="0">
                <a:latin typeface="Arial" panose="020B0604020202020204" pitchFamily="34" charset="0"/>
                <a:cs typeface="Arial" panose="020B0604020202020204" pitchFamily="34" charset="0"/>
              </a:rPr>
              <a:t>0</a:t>
            </a:r>
            <a:r>
              <a:rPr lang="en-US" altLang="zh-CN" sz="1600" dirty="0">
                <a:latin typeface="Arial" panose="020B0604020202020204" pitchFamily="34" charset="0"/>
                <a:cs typeface="Arial" panose="020B0604020202020204" pitchFamily="34" charset="0"/>
              </a:rPr>
              <a:t>, R</a:t>
            </a:r>
            <a:r>
              <a:rPr lang="en-US" altLang="zh-CN" sz="1600" baseline="-25000" dirty="0">
                <a:latin typeface="Arial" panose="020B0604020202020204" pitchFamily="34" charset="0"/>
                <a:cs typeface="Arial" panose="020B0604020202020204" pitchFamily="34" charset="0"/>
              </a:rPr>
              <a:t>1</a:t>
            </a:r>
            <a:r>
              <a:rPr lang="en-US" altLang="zh-CN" sz="1600" dirty="0">
                <a:latin typeface="Arial" panose="020B0604020202020204" pitchFamily="34" charset="0"/>
                <a:cs typeface="Arial" panose="020B0604020202020204" pitchFamily="34" charset="0"/>
              </a:rPr>
              <a:t>, R</a:t>
            </a:r>
            <a:r>
              <a:rPr lang="en-US" altLang="zh-CN" sz="1600" baseline="-25000" dirty="0">
                <a:latin typeface="Arial" panose="020B0604020202020204" pitchFamily="34" charset="0"/>
                <a:cs typeface="Arial" panose="020B0604020202020204" pitchFamily="34" charset="0"/>
              </a:rPr>
              <a:t>2.</a:t>
            </a:r>
          </a:p>
          <a:p>
            <a:pPr marL="285750" indent="-285750" defTabSz="215900" eaLnBrk="1" hangingPunct="1">
              <a:lnSpc>
                <a:spcPct val="150000"/>
              </a:lnSpc>
              <a:spcBef>
                <a:spcPts val="0"/>
              </a:spcBef>
              <a:spcAft>
                <a:spcPts val="450"/>
              </a:spcAft>
              <a:buClr>
                <a:schemeClr val="tx2"/>
              </a:buClr>
              <a:buSzPct val="100000"/>
              <a:buFont typeface="Arial" panose="020B0604020202020204" pitchFamily="34" charset="0"/>
              <a:buChar char="□"/>
              <a:tabLst>
                <a:tab pos="215900" algn="l"/>
              </a:tabLst>
            </a:pPr>
            <a:r>
              <a:rPr lang="zh-CN" altLang="zh-CN" sz="1600" dirty="0"/>
              <a:t>Assumes that a fixed shared representation is useful for all tasks across SOC and pulse conditions.</a:t>
            </a:r>
            <a:endParaRPr lang="en-US" altLang="zh-CN" sz="1600" dirty="0"/>
          </a:p>
          <a:p>
            <a:pPr marL="285750" indent="-285750" defTabSz="215900" eaLnBrk="1" hangingPunct="1">
              <a:lnSpc>
                <a:spcPct val="150000"/>
              </a:lnSpc>
              <a:spcBef>
                <a:spcPts val="0"/>
              </a:spcBef>
              <a:spcAft>
                <a:spcPts val="450"/>
              </a:spcAft>
              <a:buClr>
                <a:schemeClr val="tx2"/>
              </a:buClr>
              <a:buSzPct val="100000"/>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Baseline architecture — simple, low parameter count, suited to limited sample size.</a:t>
            </a:r>
          </a:p>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endParaRPr lang="en-US" altLang="zh-CN" sz="1600" dirty="0">
              <a:latin typeface="Arial" panose="020B0604020202020204" pitchFamily="34" charset="0"/>
              <a:cs typeface="Arial" panose="020B0604020202020204" pitchFamily="34" charset="0"/>
            </a:endParaRPr>
          </a:p>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endParaRPr lang="en-US" altLang="zh-CN" sz="1600" dirty="0">
              <a:latin typeface="Arial" panose="020B0604020202020204" pitchFamily="34" charset="0"/>
              <a:cs typeface="Arial" panose="020B0604020202020204" pitchFamily="34" charset="0"/>
            </a:endParaRPr>
          </a:p>
          <a:p>
            <a:pPr defTabSz="215900" eaLnBrk="1" hangingPunct="1">
              <a:lnSpc>
                <a:spcPct val="90000"/>
              </a:lnSpc>
              <a:spcBef>
                <a:spcPts val="0"/>
              </a:spcBef>
              <a:spcAft>
                <a:spcPts val="450"/>
              </a:spcAft>
              <a:buClr>
                <a:schemeClr val="tx2"/>
              </a:buClr>
              <a:tabLst>
                <a:tab pos="215900" algn="l"/>
              </a:tabLst>
            </a:pPr>
            <a:endParaRPr lang="en-US" altLang="zh-CN" sz="1600" dirty="0">
              <a:latin typeface="Arial" panose="020B0604020202020204" pitchFamily="34" charset="0"/>
              <a:cs typeface="Arial" panose="020B0604020202020204" pitchFamily="34" charset="0"/>
            </a:endParaRPr>
          </a:p>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r>
              <a:rPr lang="en-US" altLang="zh-CN" dirty="0">
                <a:latin typeface="Arial" panose="020B0604020202020204" pitchFamily="34" charset="0"/>
                <a:cs typeface="Arial" panose="020B0604020202020204" pitchFamily="34" charset="0"/>
              </a:rPr>
              <a:t>Auxiliary MTL:</a:t>
            </a:r>
          </a:p>
          <a:p>
            <a:pPr marL="285750" indent="-285750" defTabSz="215900" eaLnBrk="1" hangingPunct="1">
              <a:lnSpc>
                <a:spcPct val="160000"/>
              </a:lnSpc>
              <a:spcBef>
                <a:spcPts val="0"/>
              </a:spcBef>
              <a:spcAft>
                <a:spcPts val="450"/>
              </a:spcAft>
              <a:buClr>
                <a:schemeClr val="tx2"/>
              </a:buClr>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Reframes the four tasks as unequal: SOH as primary task, R</a:t>
            </a:r>
            <a:r>
              <a:rPr lang="en-US" altLang="zh-CN" sz="1600" baseline="-25000" dirty="0">
                <a:latin typeface="Arial" panose="020B0604020202020204" pitchFamily="34" charset="0"/>
                <a:cs typeface="Arial" panose="020B0604020202020204" pitchFamily="34" charset="0"/>
              </a:rPr>
              <a:t>0</a:t>
            </a:r>
            <a:r>
              <a:rPr lang="en-US" altLang="zh-CN" sz="1600" dirty="0">
                <a:latin typeface="Arial" panose="020B0604020202020204" pitchFamily="34" charset="0"/>
                <a:cs typeface="Arial" panose="020B0604020202020204" pitchFamily="34" charset="0"/>
              </a:rPr>
              <a:t>, R</a:t>
            </a:r>
            <a:r>
              <a:rPr lang="en-US" altLang="zh-CN" sz="1600" baseline="-25000" dirty="0">
                <a:latin typeface="Arial" panose="020B0604020202020204" pitchFamily="34" charset="0"/>
                <a:cs typeface="Arial" panose="020B0604020202020204" pitchFamily="34" charset="0"/>
              </a:rPr>
              <a:t>1</a:t>
            </a:r>
            <a:r>
              <a:rPr lang="en-US" altLang="zh-CN" sz="1600" dirty="0">
                <a:latin typeface="Arial" panose="020B0604020202020204" pitchFamily="34" charset="0"/>
                <a:cs typeface="Arial" panose="020B0604020202020204" pitchFamily="34" charset="0"/>
              </a:rPr>
              <a:t>, R</a:t>
            </a:r>
            <a:r>
              <a:rPr lang="en-US" altLang="zh-CN" sz="1600" baseline="-25000" dirty="0">
                <a:latin typeface="Arial" panose="020B0604020202020204" pitchFamily="34" charset="0"/>
                <a:cs typeface="Arial" panose="020B0604020202020204" pitchFamily="34" charset="0"/>
              </a:rPr>
              <a:t>2 </a:t>
            </a:r>
            <a:r>
              <a:rPr lang="en-US" altLang="zh-CN" sz="1600" dirty="0">
                <a:latin typeface="Arial" panose="020B0604020202020204" pitchFamily="34" charset="0"/>
                <a:cs typeface="Arial" panose="020B0604020202020204" pitchFamily="34" charset="0"/>
              </a:rPr>
              <a:t>as auxiliary tasks.</a:t>
            </a:r>
          </a:p>
          <a:p>
            <a:pPr marL="285750" indent="-285750" defTabSz="215900" eaLnBrk="1" hangingPunct="1">
              <a:lnSpc>
                <a:spcPct val="160000"/>
              </a:lnSpc>
              <a:spcBef>
                <a:spcPts val="0"/>
              </a:spcBef>
              <a:spcAft>
                <a:spcPts val="450"/>
              </a:spcAft>
              <a:buClr>
                <a:schemeClr val="tx2"/>
              </a:buClr>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Auxiliary tasks (pulse-derived signals) regularize the shared representation used to predict the primary task (SOH).</a:t>
            </a:r>
          </a:p>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endParaRPr lang="en-US" altLang="zh-CN" sz="1600" dirty="0">
              <a:latin typeface="Arial" panose="020B0604020202020204" pitchFamily="34" charset="0"/>
              <a:cs typeface="Arial" panose="020B0604020202020204" pitchFamily="34" charset="0"/>
            </a:endParaRPr>
          </a:p>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endParaRPr lang="en-US" altLang="zh-CN" sz="1600" dirty="0">
              <a:latin typeface="Arial" panose="020B0604020202020204" pitchFamily="34" charset="0"/>
              <a:cs typeface="Arial" panose="020B0604020202020204" pitchFamily="34" charset="0"/>
            </a:endParaRPr>
          </a:p>
          <a:p>
            <a:pPr marL="215900" indent="-215900" defTabSz="215900" eaLnBrk="1" hangingPunct="1">
              <a:lnSpc>
                <a:spcPct val="90000"/>
              </a:lnSpc>
              <a:spcBef>
                <a:spcPts val="0"/>
              </a:spcBef>
              <a:spcAft>
                <a:spcPts val="450"/>
              </a:spcAft>
              <a:buClr>
                <a:schemeClr val="tx2"/>
              </a:buClr>
              <a:buFont typeface="Arial" panose="020B0604020202020204" pitchFamily="34" charset="0"/>
              <a:buChar char="■"/>
              <a:tabLst>
                <a:tab pos="215900" algn="l"/>
              </a:tabLst>
            </a:pPr>
            <a:endParaRPr lang="en-US" altLang="zh-CN" sz="1600" dirty="0">
              <a:latin typeface="Arial" panose="020B0604020202020204" pitchFamily="34" charset="0"/>
              <a:cs typeface="Arial" panose="020B0604020202020204" pitchFamily="34" charset="0"/>
            </a:endParaRPr>
          </a:p>
        </p:txBody>
      </p:sp>
      <p:sp>
        <p:nvSpPr>
          <p:cNvPr id="4" name="Datumsplatzhalter 3">
            <a:extLst>
              <a:ext uri="{FF2B5EF4-FFF2-40B4-BE49-F238E27FC236}">
                <a16:creationId xmlns:a16="http://schemas.microsoft.com/office/drawing/2014/main" id="{7A4126F8-F689-D357-2765-C9C5358E1DA1}"/>
              </a:ext>
            </a:extLst>
          </p:cNvPr>
          <p:cNvSpPr>
            <a:spLocks noGrp="1"/>
          </p:cNvSpPr>
          <p:nvPr>
            <p:ph type="dt" sz="half" idx="14"/>
          </p:nvPr>
        </p:nvSpPr>
        <p:spPr>
          <a:xfrm>
            <a:off x="935480" y="6361350"/>
            <a:ext cx="5668062" cy="524824"/>
          </a:xfrm>
        </p:spPr>
        <p:txBody>
          <a:bodyPr vert="horz" lIns="0" tIns="0" rIns="0" bIns="0" rtlCol="0" anchor="t">
            <a:normAutofit/>
          </a:bodyPr>
          <a:lstStyle/>
          <a:p>
            <a:pPr>
              <a:spcAft>
                <a:spcPts val="600"/>
              </a:spcAft>
            </a:pPr>
            <a:r>
              <a:rPr lang="de-DE"/>
              <a:t>09.07.2026</a:t>
            </a:r>
          </a:p>
        </p:txBody>
      </p:sp>
      <p:sp>
        <p:nvSpPr>
          <p:cNvPr id="5" name="Fußzeilenplatzhalter 4">
            <a:extLst>
              <a:ext uri="{FF2B5EF4-FFF2-40B4-BE49-F238E27FC236}">
                <a16:creationId xmlns:a16="http://schemas.microsoft.com/office/drawing/2014/main" id="{009A0481-1D27-2D80-AC94-0E33261C44C1}"/>
              </a:ext>
            </a:extLst>
          </p:cNvPr>
          <p:cNvSpPr>
            <a:spLocks noGrp="1"/>
          </p:cNvSpPr>
          <p:nvPr>
            <p:ph type="ftr" sz="quarter" idx="15"/>
          </p:nvPr>
        </p:nvSpPr>
        <p:spPr>
          <a:xfrm>
            <a:off x="1818425" y="6361350"/>
            <a:ext cx="4391428" cy="524824"/>
          </a:xfrm>
        </p:spPr>
        <p:txBody>
          <a:bodyPr vert="horz" lIns="0" tIns="0" rIns="0" bIns="0" rtlCol="0" anchor="t">
            <a:normAutofit/>
          </a:bodyPr>
          <a:lstStyle/>
          <a:p>
            <a:pPr>
              <a:spcAft>
                <a:spcPts val="600"/>
              </a:spcAft>
            </a:pPr>
            <a:r>
              <a:rPr lang="en-US" b="0" kern="1200">
                <a:latin typeface="Arial" charset="0"/>
                <a:ea typeface="+mn-ea"/>
                <a:cs typeface="+mn-cs"/>
              </a:rPr>
              <a:t>Y</a:t>
            </a:r>
            <a:r>
              <a:rPr lang="en-US" altLang="zh-CN" b="0" kern="1200">
                <a:latin typeface="Arial" charset="0"/>
                <a:ea typeface="+mn-ea"/>
                <a:cs typeface="+mn-cs"/>
              </a:rPr>
              <a:t>ida Cheng</a:t>
            </a:r>
            <a:endParaRPr lang="en-US" b="0" kern="1200">
              <a:latin typeface="Arial" charset="0"/>
              <a:ea typeface="+mn-ea"/>
              <a:cs typeface="+mn-cs"/>
            </a:endParaRPr>
          </a:p>
        </p:txBody>
      </p:sp>
      <p:sp>
        <p:nvSpPr>
          <p:cNvPr id="6" name="Foliennummernplatzhalter 5">
            <a:extLst>
              <a:ext uri="{FF2B5EF4-FFF2-40B4-BE49-F238E27FC236}">
                <a16:creationId xmlns:a16="http://schemas.microsoft.com/office/drawing/2014/main" id="{32323787-0025-E527-B450-CDF3498B73E2}"/>
              </a:ext>
            </a:extLst>
          </p:cNvPr>
          <p:cNvSpPr>
            <a:spLocks noGrp="1"/>
          </p:cNvSpPr>
          <p:nvPr>
            <p:ph type="sldNum" sz="quarter" idx="16"/>
          </p:nvPr>
        </p:nvSpPr>
        <p:spPr>
          <a:xfrm>
            <a:off x="383950" y="6361350"/>
            <a:ext cx="974273" cy="396000"/>
          </a:xfrm>
        </p:spPr>
        <p:txBody>
          <a:bodyPr vert="horz" lIns="0" tIns="0" rIns="0" bIns="0" rtlCol="0" anchor="t">
            <a:normAutofit/>
          </a:bodyPr>
          <a:lstStyle/>
          <a:p>
            <a:pPr>
              <a:spcAft>
                <a:spcPts val="600"/>
              </a:spcAft>
            </a:pPr>
            <a:fld id="{4D01E63C-D794-4429-8564-635E6253AC5C}" type="slidenum">
              <a:rPr lang="en-US" smtClean="0"/>
              <a:pPr>
                <a:spcAft>
                  <a:spcPts val="600"/>
                </a:spcAft>
              </a:pPr>
              <a:t>19</a:t>
            </a:fld>
            <a:endParaRPr lang="en-US"/>
          </a:p>
        </p:txBody>
      </p:sp>
      <p:sp>
        <p:nvSpPr>
          <p:cNvPr id="12" name="文本框 11">
            <a:extLst>
              <a:ext uri="{FF2B5EF4-FFF2-40B4-BE49-F238E27FC236}">
                <a16:creationId xmlns:a16="http://schemas.microsoft.com/office/drawing/2014/main" id="{9B170229-0E73-068C-0E89-D7BDDF338C83}"/>
              </a:ext>
            </a:extLst>
          </p:cNvPr>
          <p:cNvSpPr txBox="1"/>
          <p:nvPr/>
        </p:nvSpPr>
        <p:spPr>
          <a:xfrm>
            <a:off x="691160" y="4718067"/>
            <a:ext cx="4173147" cy="646331"/>
          </a:xfrm>
          <a:prstGeom prst="rect">
            <a:avLst/>
          </a:prstGeom>
          <a:noFill/>
        </p:spPr>
        <p:txBody>
          <a:bodyPr wrap="square">
            <a:spAutoFit/>
          </a:bodyPr>
          <a:lstStyle/>
          <a:p>
            <a:pPr marL="342900" indent="-342900">
              <a:buAutoNum type="alphaLcParenBoth"/>
            </a:pPr>
            <a:r>
              <a:rPr lang="zh-CN" altLang="zh-CN" sz="1200" dirty="0"/>
              <a:t>Hard parameter sharing</a:t>
            </a:r>
            <a:r>
              <a:rPr lang="en-US" altLang="zh-CN" sz="1200" dirty="0">
                <a:latin typeface="Arial" panose="020B0604020202020204" pitchFamily="34" charset="0"/>
                <a:cs typeface="Arial" panose="020B0604020202020204" pitchFamily="34" charset="0"/>
              </a:rPr>
              <a:t>(Shared-bottom MTL)</a:t>
            </a:r>
            <a:endParaRPr lang="en-US" altLang="zh-CN" sz="1200" dirty="0"/>
          </a:p>
          <a:p>
            <a:pPr marL="342900" indent="-342900">
              <a:buAutoNum type="alphaLcParenBoth"/>
            </a:pPr>
            <a:r>
              <a:rPr lang="zh-CN" altLang="zh-CN" sz="1200" dirty="0"/>
              <a:t>Auxiliary learning</a:t>
            </a:r>
            <a:endParaRPr lang="en-US" altLang="zh-CN" sz="1200" dirty="0"/>
          </a:p>
          <a:p>
            <a:pPr marL="342900" indent="-342900">
              <a:buAutoNum type="alphaLcParenBoth"/>
            </a:pPr>
            <a:r>
              <a:rPr lang="zh-CN" altLang="zh-CN" sz="1200" dirty="0"/>
              <a:t>Soft parameter sharing</a:t>
            </a:r>
            <a:endParaRPr lang="en-US" altLang="zh-CN" sz="1200" dirty="0"/>
          </a:p>
        </p:txBody>
      </p:sp>
      <p:sp>
        <p:nvSpPr>
          <p:cNvPr id="14" name="文本框 13">
            <a:extLst>
              <a:ext uri="{FF2B5EF4-FFF2-40B4-BE49-F238E27FC236}">
                <a16:creationId xmlns:a16="http://schemas.microsoft.com/office/drawing/2014/main" id="{CBBC0743-A2A2-0EC2-87C5-158DA662A219}"/>
              </a:ext>
            </a:extLst>
          </p:cNvPr>
          <p:cNvSpPr txBox="1"/>
          <p:nvPr/>
        </p:nvSpPr>
        <p:spPr>
          <a:xfrm>
            <a:off x="4158328" y="5999201"/>
            <a:ext cx="7648135" cy="246221"/>
          </a:xfrm>
          <a:prstGeom prst="rect">
            <a:avLst/>
          </a:prstGeom>
          <a:noFill/>
        </p:spPr>
        <p:txBody>
          <a:bodyPr wrap="square">
            <a:spAutoFit/>
          </a:bodyPr>
          <a:lstStyle/>
          <a:p>
            <a:pPr algn="r"/>
            <a:r>
              <a:rPr lang="zh-CN" altLang="zh-CN" sz="1000" dirty="0"/>
              <a:t>Auxiliary Learning for Deep Multi-task Learning</a:t>
            </a:r>
            <a:r>
              <a:rPr lang="en-US" altLang="zh-CN" sz="1000" dirty="0"/>
              <a:t>,</a:t>
            </a:r>
            <a:r>
              <a:rPr lang="zh-CN" altLang="zh-CN" sz="1000" dirty="0"/>
              <a:t> Liu, Y.</a:t>
            </a:r>
            <a:r>
              <a:rPr lang="en-US" altLang="zh-CN" sz="1000" dirty="0"/>
              <a:t> et al., 2019</a:t>
            </a:r>
            <a:endParaRPr lang="zh-CN" altLang="en-US" sz="1000" dirty="0"/>
          </a:p>
        </p:txBody>
      </p:sp>
    </p:spTree>
    <p:extLst>
      <p:ext uri="{BB962C8B-B14F-4D97-AF65-F5344CB8AC3E}">
        <p14:creationId xmlns:p14="http://schemas.microsoft.com/office/powerpoint/2010/main" val="685495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F588-462F-8044-C266-6B0E9BA2883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179B95E-C5E6-BDAA-D932-E8F86C273D1B}"/>
              </a:ext>
            </a:extLst>
          </p:cNvPr>
          <p:cNvSpPr>
            <a:spLocks noGrp="1"/>
          </p:cNvSpPr>
          <p:nvPr>
            <p:ph type="title"/>
          </p:nvPr>
        </p:nvSpPr>
        <p:spPr>
          <a:xfrm>
            <a:off x="383950" y="201600"/>
            <a:ext cx="11422513" cy="543600"/>
          </a:xfrm>
        </p:spPr>
        <p:txBody>
          <a:bodyPr lIns="0" tIns="0" rIns="0" bIns="0" anchor="b" anchorCtr="0">
            <a:normAutofit/>
          </a:bodyPr>
          <a:lstStyle/>
          <a:p>
            <a:r>
              <a:rPr lang="zh-CN" altLang="zh-CN" dirty="0"/>
              <a:t>Multi-task Learning for Battery Health Prediction</a:t>
            </a:r>
          </a:p>
        </p:txBody>
      </p:sp>
      <p:pic>
        <p:nvPicPr>
          <p:cNvPr id="8" name="图片 7">
            <a:extLst>
              <a:ext uri="{FF2B5EF4-FFF2-40B4-BE49-F238E27FC236}">
                <a16:creationId xmlns:a16="http://schemas.microsoft.com/office/drawing/2014/main" id="{0B5C1476-0250-C8E1-7110-05A87CAF810F}"/>
              </a:ext>
            </a:extLst>
          </p:cNvPr>
          <p:cNvPicPr>
            <a:picLocks noChangeAspect="1"/>
          </p:cNvPicPr>
          <p:nvPr/>
        </p:nvPicPr>
        <p:blipFill>
          <a:blip r:embed="rId3"/>
          <a:stretch>
            <a:fillRect/>
          </a:stretch>
        </p:blipFill>
        <p:spPr>
          <a:xfrm>
            <a:off x="383950" y="1452262"/>
            <a:ext cx="5620068" cy="4130749"/>
          </a:xfrm>
          <a:prstGeom prst="rect">
            <a:avLst/>
          </a:prstGeom>
          <a:noFill/>
        </p:spPr>
      </p:pic>
      <p:sp>
        <p:nvSpPr>
          <p:cNvPr id="7" name="文本框 6">
            <a:extLst>
              <a:ext uri="{FF2B5EF4-FFF2-40B4-BE49-F238E27FC236}">
                <a16:creationId xmlns:a16="http://schemas.microsoft.com/office/drawing/2014/main" id="{F3180E43-3BAC-7A64-D300-7112FE94B555}"/>
              </a:ext>
            </a:extLst>
          </p:cNvPr>
          <p:cNvSpPr txBox="1"/>
          <p:nvPr/>
        </p:nvSpPr>
        <p:spPr>
          <a:xfrm>
            <a:off x="6191194" y="2053652"/>
            <a:ext cx="5620068" cy="3829622"/>
          </a:xfrm>
          <a:prstGeom prst="rect">
            <a:avLst/>
          </a:prstGeom>
        </p:spPr>
        <p:txBody>
          <a:bodyPr lIns="0" tIns="0" rIns="0" bIns="0">
            <a:normAutofit/>
          </a:bodyPr>
          <a:lstStyle/>
          <a:p>
            <a:pPr marL="215900" indent="-215900" defTabSz="215900" eaLnBrk="1" hangingPunct="1">
              <a:spcBef>
                <a:spcPts val="0"/>
              </a:spcBef>
              <a:spcAft>
                <a:spcPts val="450"/>
              </a:spcAft>
              <a:buClr>
                <a:schemeClr val="tx2"/>
              </a:buClr>
              <a:buFont typeface="Arial" panose="020B0604020202020204" pitchFamily="34" charset="0"/>
              <a:buChar char="■"/>
              <a:tabLst>
                <a:tab pos="215900" algn="l"/>
              </a:tabLst>
            </a:pPr>
            <a:r>
              <a:rPr lang="en-US" altLang="zh-CN" dirty="0" err="1">
                <a:latin typeface="Arial" panose="020B0604020202020204" pitchFamily="34" charset="0"/>
                <a:cs typeface="Arial" panose="020B0604020202020204" pitchFamily="34" charset="0"/>
              </a:rPr>
              <a:t>MMoE</a:t>
            </a:r>
            <a:r>
              <a:rPr lang="en-US" altLang="zh-CN" dirty="0">
                <a:latin typeface="Arial" panose="020B0604020202020204" pitchFamily="34" charset="0"/>
                <a:cs typeface="Arial" panose="020B0604020202020204" pitchFamily="34" charset="0"/>
              </a:rPr>
              <a:t>(Multi-gate Mixture-of-Experts):</a:t>
            </a:r>
          </a:p>
          <a:p>
            <a:pPr marL="285750" indent="-285750" defTabSz="215900" eaLnBrk="1" hangingPunct="1">
              <a:lnSpc>
                <a:spcPct val="150000"/>
              </a:lnSpc>
              <a:spcBef>
                <a:spcPts val="0"/>
              </a:spcBef>
              <a:spcAft>
                <a:spcPts val="450"/>
              </a:spcAft>
              <a:buClr>
                <a:schemeClr val="tx2"/>
              </a:buClr>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Multiple-experts model different aging and operating-condition patterns.</a:t>
            </a:r>
          </a:p>
          <a:p>
            <a:pPr marL="285750" indent="-285750" defTabSz="215900" eaLnBrk="1" hangingPunct="1">
              <a:lnSpc>
                <a:spcPct val="150000"/>
              </a:lnSpc>
              <a:spcBef>
                <a:spcPts val="0"/>
              </a:spcBef>
              <a:spcAft>
                <a:spcPts val="450"/>
              </a:spcAft>
              <a:buClr>
                <a:schemeClr val="tx2"/>
              </a:buClr>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Task-specific gates adaptively select experts according to SOC and excitation conditions, reducing negative transfer.</a:t>
            </a:r>
          </a:p>
          <a:p>
            <a:pPr marL="285750" indent="-285750" defTabSz="215900" eaLnBrk="1" hangingPunct="1">
              <a:lnSpc>
                <a:spcPct val="150000"/>
              </a:lnSpc>
              <a:spcBef>
                <a:spcPts val="0"/>
              </a:spcBef>
              <a:spcAft>
                <a:spcPts val="450"/>
              </a:spcAft>
              <a:buClr>
                <a:schemeClr val="tx2"/>
              </a:buClr>
              <a:buFont typeface="Arial" panose="020B0604020202020204" pitchFamily="34" charset="0"/>
              <a:buChar char="□"/>
              <a:tabLst>
                <a:tab pos="215900" algn="l"/>
              </a:tabLst>
            </a:pPr>
            <a:r>
              <a:rPr lang="en-US" altLang="zh-CN" sz="1600" dirty="0">
                <a:latin typeface="Arial" panose="020B0604020202020204" pitchFamily="34" charset="0"/>
                <a:cs typeface="Arial" panose="020B0604020202020204" pitchFamily="34" charset="0"/>
              </a:rPr>
              <a:t>Therefore, the degree of feature sharing can vary with SOC, current magnitude, and charge/discharge direction.</a:t>
            </a:r>
          </a:p>
          <a:p>
            <a:pPr marL="285750" indent="-285750" defTabSz="215900" eaLnBrk="1" hangingPunct="1">
              <a:lnSpc>
                <a:spcPct val="150000"/>
              </a:lnSpc>
              <a:spcBef>
                <a:spcPts val="0"/>
              </a:spcBef>
              <a:spcAft>
                <a:spcPts val="450"/>
              </a:spcAft>
              <a:buClr>
                <a:schemeClr val="tx2"/>
              </a:buClr>
              <a:buFont typeface="Arial" panose="020B0604020202020204" pitchFamily="34" charset="0"/>
              <a:buChar char="□"/>
              <a:tabLst>
                <a:tab pos="215900" algn="l"/>
              </a:tabLst>
            </a:pPr>
            <a:endParaRPr lang="en-US" altLang="zh-CN" sz="1600" dirty="0">
              <a:latin typeface="Arial" panose="020B0604020202020204" pitchFamily="34" charset="0"/>
              <a:cs typeface="Arial" panose="020B0604020202020204" pitchFamily="34" charset="0"/>
            </a:endParaRPr>
          </a:p>
          <a:p>
            <a:pPr marL="215900" indent="-215900" defTabSz="215900" eaLnBrk="1" hangingPunct="1">
              <a:spcBef>
                <a:spcPts val="0"/>
              </a:spcBef>
              <a:spcAft>
                <a:spcPts val="450"/>
              </a:spcAft>
              <a:buClr>
                <a:schemeClr val="tx2"/>
              </a:buClr>
              <a:buFont typeface="Arial" panose="020B0604020202020204" pitchFamily="34" charset="0"/>
              <a:buChar char="■"/>
              <a:tabLst>
                <a:tab pos="215900" algn="l"/>
              </a:tabLst>
            </a:pPr>
            <a:endParaRPr lang="en-US" altLang="zh-CN" sz="2000" dirty="0">
              <a:latin typeface="Arial" panose="020B0604020202020204" pitchFamily="34" charset="0"/>
              <a:cs typeface="Arial" panose="020B0604020202020204" pitchFamily="34" charset="0"/>
            </a:endParaRPr>
          </a:p>
        </p:txBody>
      </p:sp>
      <p:sp>
        <p:nvSpPr>
          <p:cNvPr id="4" name="Datumsplatzhalter 3">
            <a:extLst>
              <a:ext uri="{FF2B5EF4-FFF2-40B4-BE49-F238E27FC236}">
                <a16:creationId xmlns:a16="http://schemas.microsoft.com/office/drawing/2014/main" id="{8AE215F5-7F45-F029-55F0-1775ECA0C2F7}"/>
              </a:ext>
            </a:extLst>
          </p:cNvPr>
          <p:cNvSpPr>
            <a:spLocks noGrp="1"/>
          </p:cNvSpPr>
          <p:nvPr>
            <p:ph type="dt" sz="half" idx="14"/>
          </p:nvPr>
        </p:nvSpPr>
        <p:spPr>
          <a:xfrm>
            <a:off x="935480" y="6361350"/>
            <a:ext cx="5668062" cy="524824"/>
          </a:xfrm>
        </p:spPr>
        <p:txBody>
          <a:bodyPr vert="horz" lIns="0" tIns="0" rIns="0" bIns="0" rtlCol="0" anchor="t">
            <a:normAutofit/>
          </a:bodyPr>
          <a:lstStyle/>
          <a:p>
            <a:pPr>
              <a:spcAft>
                <a:spcPts val="600"/>
              </a:spcAft>
            </a:pPr>
            <a:r>
              <a:rPr lang="de-DE" dirty="0"/>
              <a:t>09.07.2026</a:t>
            </a:r>
            <a:endParaRPr lang="de-DE"/>
          </a:p>
        </p:txBody>
      </p:sp>
      <p:sp>
        <p:nvSpPr>
          <p:cNvPr id="5" name="Fußzeilenplatzhalter 4">
            <a:extLst>
              <a:ext uri="{FF2B5EF4-FFF2-40B4-BE49-F238E27FC236}">
                <a16:creationId xmlns:a16="http://schemas.microsoft.com/office/drawing/2014/main" id="{7E95D7C4-AE4A-E63D-F571-A4C5A4D55E28}"/>
              </a:ext>
            </a:extLst>
          </p:cNvPr>
          <p:cNvSpPr>
            <a:spLocks noGrp="1"/>
          </p:cNvSpPr>
          <p:nvPr>
            <p:ph type="ftr" sz="quarter" idx="15"/>
          </p:nvPr>
        </p:nvSpPr>
        <p:spPr>
          <a:xfrm>
            <a:off x="1818425" y="6361350"/>
            <a:ext cx="4391428" cy="524824"/>
          </a:xfrm>
        </p:spPr>
        <p:txBody>
          <a:bodyPr vert="horz" lIns="0" tIns="0" rIns="0" bIns="0" rtlCol="0" anchor="t">
            <a:normAutofit/>
          </a:bodyPr>
          <a:lstStyle/>
          <a:p>
            <a:pPr>
              <a:spcAft>
                <a:spcPts val="600"/>
              </a:spcAft>
            </a:pPr>
            <a:r>
              <a:rPr lang="en-US" b="0" kern="1200">
                <a:latin typeface="Arial" charset="0"/>
                <a:ea typeface="+mn-ea"/>
                <a:cs typeface="+mn-cs"/>
              </a:rPr>
              <a:t>Y</a:t>
            </a:r>
            <a:r>
              <a:rPr lang="en-US" altLang="zh-CN" b="0" kern="1200">
                <a:latin typeface="Arial" charset="0"/>
                <a:ea typeface="+mn-ea"/>
                <a:cs typeface="+mn-cs"/>
              </a:rPr>
              <a:t>ida Cheng</a:t>
            </a:r>
            <a:endParaRPr lang="en-US" b="0" kern="1200">
              <a:latin typeface="Arial" charset="0"/>
              <a:ea typeface="+mn-ea"/>
              <a:cs typeface="+mn-cs"/>
            </a:endParaRPr>
          </a:p>
        </p:txBody>
      </p:sp>
      <p:sp>
        <p:nvSpPr>
          <p:cNvPr id="6" name="Foliennummernplatzhalter 5">
            <a:extLst>
              <a:ext uri="{FF2B5EF4-FFF2-40B4-BE49-F238E27FC236}">
                <a16:creationId xmlns:a16="http://schemas.microsoft.com/office/drawing/2014/main" id="{82F10B22-3478-F680-7115-9805E0190CE3}"/>
              </a:ext>
            </a:extLst>
          </p:cNvPr>
          <p:cNvSpPr>
            <a:spLocks noGrp="1"/>
          </p:cNvSpPr>
          <p:nvPr>
            <p:ph type="sldNum" sz="quarter" idx="16"/>
          </p:nvPr>
        </p:nvSpPr>
        <p:spPr>
          <a:xfrm>
            <a:off x="383950" y="6361350"/>
            <a:ext cx="974273" cy="396000"/>
          </a:xfrm>
        </p:spPr>
        <p:txBody>
          <a:bodyPr vert="horz" lIns="0" tIns="0" rIns="0" bIns="0" rtlCol="0" anchor="t">
            <a:normAutofit/>
          </a:bodyPr>
          <a:lstStyle/>
          <a:p>
            <a:pPr>
              <a:spcAft>
                <a:spcPts val="600"/>
              </a:spcAft>
            </a:pPr>
            <a:fld id="{4D01E63C-D794-4429-8564-635E6253AC5C}" type="slidenum">
              <a:rPr lang="en-US" smtClean="0"/>
              <a:pPr>
                <a:spcAft>
                  <a:spcPts val="600"/>
                </a:spcAft>
              </a:pPr>
              <a:t>20</a:t>
            </a:fld>
            <a:endParaRPr lang="en-US"/>
          </a:p>
        </p:txBody>
      </p:sp>
      <p:sp>
        <p:nvSpPr>
          <p:cNvPr id="10" name="文本框 9">
            <a:extLst>
              <a:ext uri="{FF2B5EF4-FFF2-40B4-BE49-F238E27FC236}">
                <a16:creationId xmlns:a16="http://schemas.microsoft.com/office/drawing/2014/main" id="{4DE877AB-DFEE-B642-9A09-A1571BF4878E}"/>
              </a:ext>
            </a:extLst>
          </p:cNvPr>
          <p:cNvSpPr txBox="1"/>
          <p:nvPr/>
        </p:nvSpPr>
        <p:spPr>
          <a:xfrm>
            <a:off x="5712963" y="5849070"/>
            <a:ext cx="6093500" cy="246221"/>
          </a:xfrm>
          <a:prstGeom prst="rect">
            <a:avLst/>
          </a:prstGeom>
          <a:noFill/>
        </p:spPr>
        <p:txBody>
          <a:bodyPr wrap="square">
            <a:spAutoFit/>
          </a:bodyPr>
          <a:lstStyle/>
          <a:p>
            <a:r>
              <a:rPr lang="zh-CN" altLang="zh-CN" sz="1000" dirty="0">
                <a:latin typeface="+mn-lt"/>
              </a:rPr>
              <a:t>Modeling Task Relationships in Multi-task Learning with Multi-gate Mixture-of-Experts.</a:t>
            </a:r>
            <a:r>
              <a:rPr lang="zh-CN" altLang="zh-CN" sz="1000" dirty="0"/>
              <a:t> Ma, J.</a:t>
            </a:r>
            <a:r>
              <a:rPr lang="en-US" altLang="zh-CN" sz="1000" dirty="0"/>
              <a:t> et al.,2018 </a:t>
            </a:r>
            <a:endParaRPr lang="zh-CN" altLang="en-US" sz="1000" dirty="0">
              <a:latin typeface="+mn-lt"/>
            </a:endParaRPr>
          </a:p>
        </p:txBody>
      </p:sp>
    </p:spTree>
    <p:extLst>
      <p:ext uri="{BB962C8B-B14F-4D97-AF65-F5344CB8AC3E}">
        <p14:creationId xmlns:p14="http://schemas.microsoft.com/office/powerpoint/2010/main" val="5906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716F4179-C0C3-2BF8-CA46-674EB02C6FBF}"/>
              </a:ext>
            </a:extLst>
          </p:cNvPr>
          <p:cNvSpPr/>
          <p:nvPr/>
        </p:nvSpPr>
        <p:spPr>
          <a:xfrm>
            <a:off x="316523" y="2028092"/>
            <a:ext cx="11641015" cy="40092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err="1">
              <a:solidFill>
                <a:schemeClr val="tx1"/>
              </a:solidFill>
            </a:endParaRPr>
          </a:p>
        </p:txBody>
      </p:sp>
    </p:spTree>
    <p:extLst>
      <p:ext uri="{BB962C8B-B14F-4D97-AF65-F5344CB8AC3E}">
        <p14:creationId xmlns:p14="http://schemas.microsoft.com/office/powerpoint/2010/main" val="3014084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F6108-19B1-F5EC-0E50-13F1FD635840}"/>
            </a:ext>
          </a:extLst>
        </p:cNvPr>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F7F3CB9F-E0B3-AA49-1ADB-1B49FEF8E53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47" imgH="348" progId="TCLayout.ActiveDocument.1">
                  <p:embed/>
                </p:oleObj>
              </mc:Choice>
              <mc:Fallback>
                <p:oleObj name="think-cell Folie" r:id="rId4" imgW="347" imgH="348" progId="TCLayout.ActiveDocument.1">
                  <p:embed/>
                  <p:pic>
                    <p:nvPicPr>
                      <p:cNvPr id="7" name="Objekt 6" hidden="1">
                        <a:extLst>
                          <a:ext uri="{FF2B5EF4-FFF2-40B4-BE49-F238E27FC236}">
                            <a16:creationId xmlns:a16="http://schemas.microsoft.com/office/drawing/2014/main" id="{124D5214-AF52-D402-D540-81F3159D4F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7739EBE2-7C42-FAF2-F2D8-391AF44F57FB}"/>
              </a:ext>
            </a:extLst>
          </p:cNvPr>
          <p:cNvSpPr>
            <a:spLocks noGrp="1"/>
          </p:cNvSpPr>
          <p:nvPr>
            <p:ph type="ctrTitle"/>
          </p:nvPr>
        </p:nvSpPr>
        <p:spPr>
          <a:xfrm>
            <a:off x="383950" y="2725724"/>
            <a:ext cx="11563408" cy="1274776"/>
          </a:xfrm>
        </p:spPr>
        <p:txBody>
          <a:bodyPr/>
          <a:lstStyle/>
          <a:p>
            <a:r>
              <a:rPr lang="de-DE" sz="2800" dirty="0"/>
              <a:t>M</a:t>
            </a:r>
            <a:r>
              <a:rPr lang="en-US" altLang="zh-CN" sz="2800" dirty="0"/>
              <a:t>id-term presentation</a:t>
            </a:r>
            <a:r>
              <a:rPr lang="de-DE" sz="2800" dirty="0"/>
              <a:t>: </a:t>
            </a:r>
            <a:r>
              <a:rPr lang="en-US" altLang="zh-CN" sz="2800" dirty="0"/>
              <a:t>From Time-Series Parameter Extraction to Multi-Task Learning</a:t>
            </a:r>
            <a:endParaRPr lang="de-DE" sz="2800" dirty="0"/>
          </a:p>
        </p:txBody>
      </p:sp>
      <p:sp>
        <p:nvSpPr>
          <p:cNvPr id="3" name="Untertitel 2">
            <a:extLst>
              <a:ext uri="{FF2B5EF4-FFF2-40B4-BE49-F238E27FC236}">
                <a16:creationId xmlns:a16="http://schemas.microsoft.com/office/drawing/2014/main" id="{86DCE39B-BDA8-8B43-A9B5-C396C2B5F505}"/>
              </a:ext>
            </a:extLst>
          </p:cNvPr>
          <p:cNvSpPr>
            <a:spLocks noGrp="1"/>
          </p:cNvSpPr>
          <p:nvPr>
            <p:ph type="subTitle" idx="1"/>
          </p:nvPr>
        </p:nvSpPr>
        <p:spPr/>
        <p:txBody>
          <a:bodyPr/>
          <a:lstStyle/>
          <a:p>
            <a:r>
              <a:rPr lang="en-US" altLang="zh-CN" dirty="0"/>
              <a:t>State-of-Charge-Resolved Multi-Parameter Degradation Analysis on Li-Ion Batteries</a:t>
            </a:r>
            <a:endParaRPr lang="de-DE" dirty="0"/>
          </a:p>
        </p:txBody>
      </p:sp>
      <p:sp>
        <p:nvSpPr>
          <p:cNvPr id="5" name="Datumsplatzhalter 4">
            <a:extLst>
              <a:ext uri="{FF2B5EF4-FFF2-40B4-BE49-F238E27FC236}">
                <a16:creationId xmlns:a16="http://schemas.microsoft.com/office/drawing/2014/main" id="{13B2C68D-D288-D25B-DE27-C7B02C385C93}"/>
              </a:ext>
            </a:extLst>
          </p:cNvPr>
          <p:cNvSpPr>
            <a:spLocks noGrp="1"/>
          </p:cNvSpPr>
          <p:nvPr>
            <p:ph type="dt" sz="half" idx="12"/>
          </p:nvPr>
        </p:nvSpPr>
        <p:spPr/>
        <p:txBody>
          <a:bodyPr/>
          <a:lstStyle/>
          <a:p>
            <a:r>
              <a:rPr lang="de-DE" dirty="0"/>
              <a:t>09.07.2026</a:t>
            </a:r>
          </a:p>
        </p:txBody>
      </p:sp>
      <p:sp>
        <p:nvSpPr>
          <p:cNvPr id="6" name="Fußzeilenplatzhalter 3">
            <a:extLst>
              <a:ext uri="{FF2B5EF4-FFF2-40B4-BE49-F238E27FC236}">
                <a16:creationId xmlns:a16="http://schemas.microsoft.com/office/drawing/2014/main" id="{DBD3C5BB-37BD-F48A-CE51-E28948F4047D}"/>
              </a:ext>
            </a:extLst>
          </p:cNvPr>
          <p:cNvSpPr>
            <a:spLocks noGrp="1"/>
          </p:cNvSpPr>
          <p:nvPr>
            <p:ph type="ftr" sz="quarter" idx="11"/>
          </p:nvPr>
        </p:nvSpPr>
        <p:spPr>
          <a:xfrm>
            <a:off x="384175" y="5218113"/>
            <a:ext cx="11425238" cy="525462"/>
          </a:xfrm>
        </p:spPr>
        <p:txBody>
          <a:bodyPr/>
          <a:lstStyle/>
          <a:p>
            <a:r>
              <a:rPr lang="de-DE" altLang="zh-CN" b="1" dirty="0"/>
              <a:t>Author:</a:t>
            </a:r>
            <a:r>
              <a:rPr lang="de-DE" altLang="zh-CN" dirty="0"/>
              <a:t> </a:t>
            </a:r>
            <a:r>
              <a:rPr lang="en-US" dirty="0"/>
              <a:t>Yida Cheng</a:t>
            </a:r>
          </a:p>
          <a:p>
            <a:r>
              <a:rPr lang="de-DE" altLang="zh-CN" b="1" dirty="0"/>
              <a:t>Supervisor:</a:t>
            </a:r>
            <a:r>
              <a:rPr lang="de-DE" altLang="zh-CN" dirty="0"/>
              <a:t> </a:t>
            </a:r>
            <a:r>
              <a:rPr lang="de-DE" altLang="zh-CN" dirty="0" err="1"/>
              <a:t>Zijuan</a:t>
            </a:r>
            <a:r>
              <a:rPr lang="de-DE" altLang="zh-CN" dirty="0"/>
              <a:t> Hong, </a:t>
            </a:r>
            <a:r>
              <a:rPr lang="de-DE" altLang="zh-CN" dirty="0" err="1"/>
              <a:t>M.Sc</a:t>
            </a:r>
            <a:r>
              <a:rPr lang="de-DE" altLang="zh-CN" dirty="0"/>
              <a:t>.</a:t>
            </a:r>
            <a:endParaRPr lang="en-US" dirty="0"/>
          </a:p>
        </p:txBody>
      </p:sp>
    </p:spTree>
    <p:extLst>
      <p:ext uri="{BB962C8B-B14F-4D97-AF65-F5344CB8AC3E}">
        <p14:creationId xmlns:p14="http://schemas.microsoft.com/office/powerpoint/2010/main" val="34644541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RL 16zu9">
  <a:themeElements>
    <a:clrScheme name="Benutzerdefiniert 4">
      <a:dk1>
        <a:sysClr val="windowText" lastClr="000000"/>
      </a:dk1>
      <a:lt1>
        <a:sysClr val="window" lastClr="FFFFFF"/>
      </a:lt1>
      <a:dk2>
        <a:srgbClr val="00549F"/>
      </a:dk2>
      <a:lt2>
        <a:srgbClr val="8EBAE5"/>
      </a:lt2>
      <a:accent1>
        <a:srgbClr val="00549F"/>
      </a:accent1>
      <a:accent2>
        <a:srgbClr val="0098A1"/>
      </a:accent2>
      <a:accent3>
        <a:srgbClr val="57AB27"/>
      </a:accent3>
      <a:accent4>
        <a:srgbClr val="F6A800"/>
      </a:accent4>
      <a:accent5>
        <a:srgbClr val="CC071E"/>
      </a:accent5>
      <a:accent6>
        <a:srgbClr val="612158"/>
      </a:accent6>
      <a:hlink>
        <a:srgbClr val="00549F"/>
      </a:hlink>
      <a:folHlink>
        <a:srgbClr val="8EBAE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tx2"/>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CARL_PowerPoint-Vorlage_2.pptx" id="{BA423DF6-6F0A-4C7E-B2E7-6BE2B6176750}" vid="{3F50A1A7-06E2-4B6B-A0E2-B50FB05A0614}"/>
    </a:ext>
  </a:extLst>
</a:theme>
</file>

<file path=ppt/theme/theme2.xml><?xml version="1.0" encoding="utf-8"?>
<a:theme xmlns:a="http://schemas.openxmlformats.org/drawingml/2006/main" name="CARL English">
  <a:themeElements>
    <a:clrScheme name="Benutzerdefiniert 1">
      <a:dk1>
        <a:sysClr val="windowText" lastClr="000000"/>
      </a:dk1>
      <a:lt1>
        <a:sysClr val="window" lastClr="FFFFFF"/>
      </a:lt1>
      <a:dk2>
        <a:srgbClr val="00549F"/>
      </a:dk2>
      <a:lt2>
        <a:srgbClr val="8EBAE5"/>
      </a:lt2>
      <a:accent1>
        <a:srgbClr val="00549F"/>
      </a:accent1>
      <a:accent2>
        <a:srgbClr val="0098A1"/>
      </a:accent2>
      <a:accent3>
        <a:srgbClr val="57AB27"/>
      </a:accent3>
      <a:accent4>
        <a:srgbClr val="F6A800"/>
      </a:accent4>
      <a:accent5>
        <a:srgbClr val="CC071E"/>
      </a:accent5>
      <a:accent6>
        <a:srgbClr val="612158"/>
      </a:accent6>
      <a:hlink>
        <a:srgbClr val="00549F"/>
      </a:hlink>
      <a:folHlink>
        <a:srgbClr val="8EBAE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tx2"/>
          </a:solidFill>
        </a:ln>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CARL_PowerPoint-Vorlage_2.pptx" id="{BA423DF6-6F0A-4C7E-B2E7-6BE2B6176750}" vid="{A32FB5A4-9454-4FD2-8226-C36188667BB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CARL</Template>
  <TotalTime>8614</TotalTime>
  <Words>2583</Words>
  <Application>Microsoft Office PowerPoint</Application>
  <PresentationFormat>自定义</PresentationFormat>
  <Paragraphs>269</Paragraphs>
  <Slides>22</Slides>
  <Notes>21</Notes>
  <HiddenSlides>0</HiddenSlides>
  <MMClips>0</MMClips>
  <ScaleCrop>false</ScaleCrop>
  <HeadingPairs>
    <vt:vector size="8" baseType="variant">
      <vt:variant>
        <vt:lpstr>已用的字体</vt:lpstr>
      </vt:variant>
      <vt:variant>
        <vt:i4>5</vt:i4>
      </vt:variant>
      <vt:variant>
        <vt:lpstr>主题</vt:lpstr>
      </vt:variant>
      <vt:variant>
        <vt:i4>2</vt:i4>
      </vt:variant>
      <vt:variant>
        <vt:lpstr>嵌入 OLE 服务器</vt:lpstr>
      </vt:variant>
      <vt:variant>
        <vt:i4>1</vt:i4>
      </vt:variant>
      <vt:variant>
        <vt:lpstr>幻灯片标题</vt:lpstr>
      </vt:variant>
      <vt:variant>
        <vt:i4>22</vt:i4>
      </vt:variant>
    </vt:vector>
  </HeadingPairs>
  <TitlesOfParts>
    <vt:vector size="30" baseType="lpstr">
      <vt:lpstr>Arial</vt:lpstr>
      <vt:lpstr>Calibri</vt:lpstr>
      <vt:lpstr>Cambria Math</vt:lpstr>
      <vt:lpstr>Symbol</vt:lpstr>
      <vt:lpstr>Wingdings</vt:lpstr>
      <vt:lpstr>CARL 16zu9</vt:lpstr>
      <vt:lpstr>CARL English</vt:lpstr>
      <vt:lpstr>think-cell Folie</vt:lpstr>
      <vt:lpstr>Mid-term presentation: From Time-Series Parameter Extraction to Multi-Task Learning</vt:lpstr>
      <vt:lpstr>Table of contents</vt:lpstr>
      <vt:lpstr>Thesis topic and motivation</vt:lpstr>
      <vt:lpstr>Objectives</vt:lpstr>
      <vt:lpstr>Gantt Bilder</vt:lpstr>
      <vt:lpstr>Table of contents</vt:lpstr>
      <vt:lpstr>Literature Review: From Battery Aging Mechanisms to 2RC Parameter Extraction</vt:lpstr>
      <vt:lpstr>Table of contents</vt:lpstr>
      <vt:lpstr>Data processing：From Raw Time Series to Pulse-Pause Pairs</vt:lpstr>
      <vt:lpstr>R0 Calculation: Instantaneous Ohmic Resistance</vt:lpstr>
      <vt:lpstr>Second-order RC model for resistance extraction</vt:lpstr>
      <vt:lpstr>Table of contents</vt:lpstr>
      <vt:lpstr>Preliminary results</vt:lpstr>
      <vt:lpstr>Preliminary results</vt:lpstr>
      <vt:lpstr>Preliminary results</vt:lpstr>
      <vt:lpstr>Current Problems and Key Observations</vt:lpstr>
      <vt:lpstr>Table of contents</vt:lpstr>
      <vt:lpstr>Next-stage Research Plan</vt:lpstr>
      <vt:lpstr>Multi-Task Learning Baselines: Fixed Sharing and Health-Oriented Auxiliary Learning</vt:lpstr>
      <vt:lpstr>Multi-task Learning for Battery Health Prediction</vt:lpstr>
      <vt:lpstr>PowerPoint 演示文稿</vt:lpstr>
      <vt:lpstr>Mid-term presentation: From Time-Series Parameter Extraction to Multi-Task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Verwendung der PowerPoint-Vorlage</dc:title>
  <dc:creator>Zijuan Hong</dc:creator>
  <cp:lastModifiedBy>Yida Cheng</cp:lastModifiedBy>
  <cp:revision>131</cp:revision>
  <cp:lastPrinted>2016-04-11T06:30:09Z</cp:lastPrinted>
  <dcterms:created xsi:type="dcterms:W3CDTF">2026-04-21T09:31:11Z</dcterms:created>
  <dcterms:modified xsi:type="dcterms:W3CDTF">2026-07-03T15:09:44Z</dcterms:modified>
</cp:coreProperties>
</file>