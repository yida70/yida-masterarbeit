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9.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10.xml" ContentType="application/vnd.openxmlformats-officedocument.presentationml.tags+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84" r:id="rId1"/>
    <p:sldMasterId id="2147483877" r:id="rId2"/>
  </p:sldMasterIdLst>
  <p:notesMasterIdLst>
    <p:notesMasterId r:id="rId24"/>
  </p:notesMasterIdLst>
  <p:handoutMasterIdLst>
    <p:handoutMasterId r:id="rId25"/>
  </p:handoutMasterIdLst>
  <p:sldIdLst>
    <p:sldId id="285" r:id="rId3"/>
    <p:sldId id="330" r:id="rId4"/>
    <p:sldId id="313" r:id="rId5"/>
    <p:sldId id="325" r:id="rId6"/>
    <p:sldId id="311" r:id="rId7"/>
    <p:sldId id="331" r:id="rId8"/>
    <p:sldId id="314" r:id="rId9"/>
    <p:sldId id="332" r:id="rId10"/>
    <p:sldId id="328" r:id="rId11"/>
    <p:sldId id="334" r:id="rId12"/>
    <p:sldId id="326" r:id="rId13"/>
    <p:sldId id="329" r:id="rId14"/>
    <p:sldId id="320" r:id="rId15"/>
    <p:sldId id="336" r:id="rId16"/>
    <p:sldId id="337" r:id="rId17"/>
    <p:sldId id="316" r:id="rId18"/>
    <p:sldId id="333" r:id="rId19"/>
    <p:sldId id="317" r:id="rId20"/>
    <p:sldId id="338" r:id="rId21"/>
    <p:sldId id="304" r:id="rId22"/>
    <p:sldId id="310" r:id="rId23"/>
  </p:sldIdLst>
  <p:sldSz cx="12190413" cy="6858000"/>
  <p:notesSz cx="6797675" cy="9926638"/>
  <p:custDataLst>
    <p:tags r:id="rId26"/>
  </p:custDataLst>
  <p:defaultTextStyle>
    <a:defPPr>
      <a:defRPr lang="de-DE"/>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1">
          <p15:clr>
            <a:srgbClr val="A4A3A4"/>
          </p15:clr>
        </p15:guide>
        <p15:guide id="2" orient="horz" pos="727">
          <p15:clr>
            <a:srgbClr val="A4A3A4"/>
          </p15:clr>
        </p15:guide>
        <p15:guide id="3" orient="horz" pos="3706">
          <p15:clr>
            <a:srgbClr val="A4A3A4"/>
          </p15:clr>
        </p15:guide>
        <p15:guide id="4" pos="233" userDrawn="1">
          <p15:clr>
            <a:srgbClr val="A4A3A4"/>
          </p15:clr>
        </p15:guide>
        <p15:guide id="5" pos="3784">
          <p15:clr>
            <a:srgbClr val="A4A3A4"/>
          </p15:clr>
        </p15:guide>
        <p15:guide id="6" pos="7443">
          <p15:clr>
            <a:srgbClr val="A4A3A4"/>
          </p15:clr>
        </p15:guide>
        <p15:guide id="7" pos="427">
          <p15:clr>
            <a:srgbClr val="A4A3A4"/>
          </p15:clr>
        </p15:guide>
        <p15:guide id="8" pos="7263">
          <p15:clr>
            <a:srgbClr val="A4A3A4"/>
          </p15:clr>
        </p15:guide>
        <p15:guide id="9" pos="3901">
          <p15:clr>
            <a:srgbClr val="A4A3A4"/>
          </p15:clr>
        </p15:guide>
        <p15:guide id="10" pos="384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49F"/>
    <a:srgbClr val="8EBAE5"/>
    <a:srgbClr val="3366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80743" autoAdjust="0"/>
  </p:normalViewPr>
  <p:slideViewPr>
    <p:cSldViewPr snapToGrid="0">
      <p:cViewPr varScale="1">
        <p:scale>
          <a:sx n="128" d="100"/>
          <a:sy n="128" d="100"/>
        </p:scale>
        <p:origin x="1506" y="126"/>
      </p:cViewPr>
      <p:guideLst>
        <p:guide orient="horz" pos="2161"/>
        <p:guide orient="horz" pos="727"/>
        <p:guide orient="horz" pos="3706"/>
        <p:guide pos="233"/>
        <p:guide pos="3784"/>
        <p:guide pos="7443"/>
        <p:guide pos="427"/>
        <p:guide pos="7263"/>
        <p:guide pos="3901"/>
        <p:guide pos="3841"/>
      </p:guideLst>
    </p:cSldViewPr>
  </p:slideViewPr>
  <p:outlineViewPr>
    <p:cViewPr>
      <p:scale>
        <a:sx n="33" d="100"/>
        <a:sy n="33" d="100"/>
      </p:scale>
      <p:origin x="0" y="-2586"/>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gs" Target="tags/tag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21" tIns="44111" rIns="88221" bIns="44111" rtlCol="0"/>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a:p>
        </p:txBody>
      </p:sp>
      <p:sp>
        <p:nvSpPr>
          <p:cNvPr id="3" name="Datumsplatzhalter 2"/>
          <p:cNvSpPr>
            <a:spLocks noGrp="1"/>
          </p:cNvSpPr>
          <p:nvPr>
            <p:ph type="dt" sz="quarter" idx="1"/>
          </p:nvPr>
        </p:nvSpPr>
        <p:spPr>
          <a:xfrm>
            <a:off x="3850294" y="1"/>
            <a:ext cx="2945862" cy="497333"/>
          </a:xfrm>
          <a:prstGeom prst="rect">
            <a:avLst/>
          </a:prstGeom>
        </p:spPr>
        <p:txBody>
          <a:bodyPr vert="horz" lIns="88221" tIns="44111" rIns="88221" bIns="44111" rtlCol="0"/>
          <a:lstStyle>
            <a:lvl1pPr algn="r" eaLnBrk="1" fontAlgn="auto" hangingPunct="1">
              <a:spcBef>
                <a:spcPts val="0"/>
              </a:spcBef>
              <a:spcAft>
                <a:spcPts val="0"/>
              </a:spcAft>
              <a:defRPr sz="1000">
                <a:latin typeface="Arial" pitchFamily="34" charset="0"/>
                <a:cs typeface="Arial" pitchFamily="34" charset="0"/>
              </a:defRPr>
            </a:lvl1pPr>
          </a:lstStyle>
          <a:p>
            <a:pPr>
              <a:defRPr/>
            </a:pPr>
            <a:fld id="{497B89D5-5017-4396-A2CE-F1C12124EE0F}" type="datetimeFigureOut">
              <a:rPr lang="de-DE"/>
              <a:pPr>
                <a:defRPr/>
              </a:pPr>
              <a:t>01.07.2026</a:t>
            </a:fld>
            <a:endParaRPr lang="de-DE" dirty="0"/>
          </a:p>
        </p:txBody>
      </p:sp>
      <p:sp>
        <p:nvSpPr>
          <p:cNvPr id="4" name="Fußzeilenplatzhalter 3"/>
          <p:cNvSpPr>
            <a:spLocks noGrp="1"/>
          </p:cNvSpPr>
          <p:nvPr>
            <p:ph type="ftr" sz="quarter" idx="2"/>
          </p:nvPr>
        </p:nvSpPr>
        <p:spPr>
          <a:xfrm>
            <a:off x="0" y="9429305"/>
            <a:ext cx="2945862" cy="497333"/>
          </a:xfrm>
          <a:prstGeom prst="rect">
            <a:avLst/>
          </a:prstGeom>
        </p:spPr>
        <p:txBody>
          <a:bodyPr vert="horz" lIns="88221" tIns="44111" rIns="88221" bIns="44111" rtlCol="0" anchor="b"/>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a:p>
        </p:txBody>
      </p:sp>
      <p:sp>
        <p:nvSpPr>
          <p:cNvPr id="5" name="Foliennummernplatzhalter 4"/>
          <p:cNvSpPr>
            <a:spLocks noGrp="1"/>
          </p:cNvSpPr>
          <p:nvPr>
            <p:ph type="sldNum" sz="quarter" idx="3"/>
          </p:nvPr>
        </p:nvSpPr>
        <p:spPr>
          <a:xfrm>
            <a:off x="3850294" y="9429305"/>
            <a:ext cx="2945862" cy="497333"/>
          </a:xfrm>
          <a:prstGeom prst="rect">
            <a:avLst/>
          </a:prstGeom>
        </p:spPr>
        <p:txBody>
          <a:bodyPr vert="horz" wrap="square" lIns="88221" tIns="44111" rIns="88221" bIns="44111" numCol="1" anchor="b" anchorCtr="0" compatLnSpc="1">
            <a:prstTxWarp prst="textNoShape">
              <a:avLst/>
            </a:prstTxWarp>
          </a:bodyPr>
          <a:lstStyle>
            <a:lvl1pPr algn="r" eaLnBrk="1" hangingPunct="1">
              <a:defRPr sz="1000" smtClean="0">
                <a:latin typeface="Arial" pitchFamily="34" charset="0"/>
                <a:cs typeface="Arial" pitchFamily="34" charset="0"/>
              </a:defRPr>
            </a:lvl1pPr>
          </a:lstStyle>
          <a:p>
            <a:pPr>
              <a:defRPr/>
            </a:pPr>
            <a:fld id="{248FB1AA-A6AA-4E9E-8BA1-59AC7FC9D727}" type="slidenum">
              <a:rPr lang="de-DE" altLang="de-DE"/>
              <a:pPr>
                <a:defRPr/>
              </a:pPr>
              <a:t>‹#›</a:t>
            </a:fld>
            <a:endParaRPr lang="de-DE" altLang="de-DE"/>
          </a:p>
        </p:txBody>
      </p:sp>
    </p:spTree>
    <p:extLst>
      <p:ext uri="{BB962C8B-B14F-4D97-AF65-F5344CB8AC3E}">
        <p14:creationId xmlns:p14="http://schemas.microsoft.com/office/powerpoint/2010/main" val="61966642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21" tIns="44111" rIns="88221" bIns="44111" rtlCol="0"/>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a:p>
        </p:txBody>
      </p:sp>
      <p:sp>
        <p:nvSpPr>
          <p:cNvPr id="3" name="Datumsplatzhalter 2"/>
          <p:cNvSpPr>
            <a:spLocks noGrp="1"/>
          </p:cNvSpPr>
          <p:nvPr>
            <p:ph type="dt" idx="1"/>
          </p:nvPr>
        </p:nvSpPr>
        <p:spPr>
          <a:xfrm>
            <a:off x="3850294" y="1"/>
            <a:ext cx="2945862" cy="497333"/>
          </a:xfrm>
          <a:prstGeom prst="rect">
            <a:avLst/>
          </a:prstGeom>
        </p:spPr>
        <p:txBody>
          <a:bodyPr vert="horz" lIns="88221" tIns="44111" rIns="88221" bIns="44111" rtlCol="0"/>
          <a:lstStyle>
            <a:lvl1pPr algn="r" eaLnBrk="1" fontAlgn="auto" hangingPunct="1">
              <a:spcBef>
                <a:spcPts val="0"/>
              </a:spcBef>
              <a:spcAft>
                <a:spcPts val="0"/>
              </a:spcAft>
              <a:defRPr sz="1000">
                <a:latin typeface="+mn-lt"/>
              </a:defRPr>
            </a:lvl1pPr>
          </a:lstStyle>
          <a:p>
            <a:pPr>
              <a:defRPr/>
            </a:pPr>
            <a:fld id="{4EEC745E-66A0-4F49-903C-36561B63B5F1}" type="datetimeFigureOut">
              <a:rPr lang="de-DE"/>
              <a:pPr>
                <a:defRPr/>
              </a:pPr>
              <a:t>01.07.2026</a:t>
            </a:fld>
            <a:endParaRPr lang="de-DE" dirty="0"/>
          </a:p>
        </p:txBody>
      </p:sp>
      <p:sp>
        <p:nvSpPr>
          <p:cNvPr id="4" name="Folienbildplatzhalt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88221" tIns="44111" rIns="88221" bIns="44111" rtlCol="0" anchor="ctr"/>
          <a:lstStyle/>
          <a:p>
            <a:pPr lvl="0"/>
            <a:endParaRPr lang="de-DE" noProof="0"/>
          </a:p>
        </p:txBody>
      </p:sp>
      <p:sp>
        <p:nvSpPr>
          <p:cNvPr id="5" name="Notizenplatzhalter 4"/>
          <p:cNvSpPr>
            <a:spLocks noGrp="1"/>
          </p:cNvSpPr>
          <p:nvPr>
            <p:ph type="body" sz="quarter" idx="3"/>
          </p:nvPr>
        </p:nvSpPr>
        <p:spPr>
          <a:xfrm>
            <a:off x="679464" y="4777782"/>
            <a:ext cx="5438748" cy="3907834"/>
          </a:xfrm>
          <a:prstGeom prst="rect">
            <a:avLst/>
          </a:prstGeom>
        </p:spPr>
        <p:txBody>
          <a:bodyPr vert="horz" lIns="88221" tIns="44111" rIns="88221" bIns="44111" rtlCol="0"/>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6" name="Fußzeilenplatzhalter 5"/>
          <p:cNvSpPr>
            <a:spLocks noGrp="1"/>
          </p:cNvSpPr>
          <p:nvPr>
            <p:ph type="ftr" sz="quarter" idx="4"/>
          </p:nvPr>
        </p:nvSpPr>
        <p:spPr>
          <a:xfrm>
            <a:off x="0" y="9429305"/>
            <a:ext cx="2945862" cy="497333"/>
          </a:xfrm>
          <a:prstGeom prst="rect">
            <a:avLst/>
          </a:prstGeom>
        </p:spPr>
        <p:txBody>
          <a:bodyPr vert="horz" lIns="88221" tIns="44111" rIns="88221" bIns="44111" rtlCol="0" anchor="b"/>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a:p>
        </p:txBody>
      </p:sp>
      <p:sp>
        <p:nvSpPr>
          <p:cNvPr id="7" name="Foliennummernplatzhalter 6"/>
          <p:cNvSpPr>
            <a:spLocks noGrp="1"/>
          </p:cNvSpPr>
          <p:nvPr>
            <p:ph type="sldNum" sz="quarter" idx="5"/>
          </p:nvPr>
        </p:nvSpPr>
        <p:spPr>
          <a:xfrm>
            <a:off x="3850294" y="9429305"/>
            <a:ext cx="2945862" cy="497333"/>
          </a:xfrm>
          <a:prstGeom prst="rect">
            <a:avLst/>
          </a:prstGeom>
        </p:spPr>
        <p:txBody>
          <a:bodyPr vert="horz" wrap="square" lIns="88221" tIns="44111" rIns="88221" bIns="44111" numCol="1" anchor="b" anchorCtr="0" compatLnSpc="1">
            <a:prstTxWarp prst="textNoShape">
              <a:avLst/>
            </a:prstTxWarp>
          </a:bodyPr>
          <a:lstStyle>
            <a:lvl1pPr algn="r" eaLnBrk="1" hangingPunct="1">
              <a:defRPr sz="1000" smtClean="0">
                <a:latin typeface="Arial" pitchFamily="34" charset="0"/>
                <a:cs typeface="Arial" pitchFamily="34" charset="0"/>
              </a:defRPr>
            </a:lvl1pPr>
          </a:lstStyle>
          <a:p>
            <a:pPr>
              <a:defRPr/>
            </a:pPr>
            <a:fld id="{0DA392A4-A5B0-45A3-B126-38BB4DB33CBB}" type="slidenum">
              <a:rPr lang="de-DE" altLang="de-DE"/>
              <a:pPr>
                <a:defRPr/>
              </a:pPr>
              <a:t>‹#›</a:t>
            </a:fld>
            <a:endParaRPr lang="de-DE" altLang="de-DE"/>
          </a:p>
        </p:txBody>
      </p:sp>
    </p:spTree>
    <p:extLst>
      <p:ext uri="{BB962C8B-B14F-4D97-AF65-F5344CB8AC3E}">
        <p14:creationId xmlns:p14="http://schemas.microsoft.com/office/powerpoint/2010/main" val="1167964405"/>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1pPr>
    <a:lvl2pPr marL="457200"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2pPr>
    <a:lvl3pPr marL="914400"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3pPr>
    <a:lvl4pPr marL="1371600"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4pPr>
    <a:lvl5pPr marL="1828800"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655013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4606F-4097-3A0E-E040-B27958C20EF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5491970-A7F8-1626-9CF5-B4A8EEBD57C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95D4655-CD0B-7630-9BCE-FF2369A5DCE0}"/>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420744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83B77-D181-D8DA-5266-9D52DFD296D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236E6BF-C692-9BB1-4141-55503B0D5A6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49047C9-2C1E-ACF9-2768-364719480DF9}"/>
              </a:ext>
            </a:extLst>
          </p:cNvPr>
          <p:cNvSpPr>
            <a:spLocks noGrp="1"/>
          </p:cNvSpPr>
          <p:nvPr>
            <p:ph type="body" idx="1"/>
          </p:nvPr>
        </p:nvSpPr>
        <p:spPr/>
        <p:txBody>
          <a:bodyPr/>
          <a:lstStyle/>
          <a:p>
            <a:r>
              <a:rPr lang="en-US" altLang="zh-CN" dirty="0"/>
              <a:t>My thesis focuses on state-of-charge-resolved degradation analysis of lithium-ion batteries.</a:t>
            </a:r>
          </a:p>
          <a:p>
            <a:endParaRPr lang="en-US" altLang="zh-CN" dirty="0"/>
          </a:p>
          <a:p>
            <a:r>
              <a:rPr lang="en-US" altLang="zh-CN" dirty="0"/>
              <a:t>In battery aging, the degradation is not only reflected by capacity fade, but also by resistance growth. </a:t>
            </a:r>
          </a:p>
          <a:p>
            <a:r>
              <a:rPr lang="en-US" altLang="zh-CN" dirty="0"/>
              <a:t>Therefore, only using capacity or SOH may not be sufficient to describe the internal degradation behavior of the cell.</a:t>
            </a:r>
          </a:p>
          <a:p>
            <a:endParaRPr lang="en-US" altLang="zh-CN" dirty="0"/>
          </a:p>
          <a:p>
            <a:r>
              <a:rPr lang="en-US" altLang="zh-CN" dirty="0"/>
              <a:t>The figure on the right shows a typical pulse-relaxation voltage response. </a:t>
            </a:r>
          </a:p>
          <a:p>
            <a:r>
              <a:rPr lang="en-US" altLang="zh-CN" dirty="0"/>
              <a:t>From this curve, the instantaneous voltage drop can be used to estimate the ohmic resistance R0, while the following relaxation behavior can be further described by R1 and R2 in a second-order RC model.</a:t>
            </a:r>
          </a:p>
          <a:p>
            <a:endParaRPr lang="en-US" altLang="zh-CN" dirty="0"/>
          </a:p>
          <a:p>
            <a:r>
              <a:rPr lang="en-US" altLang="zh-CN" dirty="0"/>
              <a:t>The motivation of this work is to extract these resistance-related parameters at 10%, 50% and 90% SOC levels, and analyze how they evolve with aging.</a:t>
            </a:r>
          </a:p>
          <a:p>
            <a:endParaRPr lang="en-US" altLang="zh-CN" dirty="0"/>
          </a:p>
          <a:p>
            <a:r>
              <a:rPr lang="en-US" altLang="zh-CN" dirty="0"/>
              <a:t>In the next step, these extracted parameters will be used as input features for multi-task learning models, in order to predict battery health and compare degradation patterns across different battery chemistries.</a:t>
            </a:r>
            <a:endParaRPr lang="zh-CN" altLang="en-US" dirty="0"/>
          </a:p>
        </p:txBody>
      </p:sp>
    </p:spTree>
    <p:extLst>
      <p:ext uri="{BB962C8B-B14F-4D97-AF65-F5344CB8AC3E}">
        <p14:creationId xmlns:p14="http://schemas.microsoft.com/office/powerpoint/2010/main" val="41303632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6175835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982968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A15E8-8481-8165-AD04-AD93A974504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C015DD9-F15B-56FB-F239-8A5BBC5F34A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161B423-ECE6-7AF6-1BE3-8F1EBE074954}"/>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405894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57B03-3F95-EE1F-55DF-CAF70698448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FD1B7C-B856-9A14-D323-127FAF39D35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3E04F2B-69CD-5F8B-8FF9-BBEF2211FE84}"/>
              </a:ext>
            </a:extLst>
          </p:cNvPr>
          <p:cNvSpPr>
            <a:spLocks noGrp="1"/>
          </p:cNvSpPr>
          <p:nvPr>
            <p:ph type="body" idx="1"/>
          </p:nvPr>
        </p:nvSpPr>
        <p:spPr/>
        <p:txBody>
          <a:bodyPr/>
          <a:lstStyle/>
          <a:p>
            <a:r>
              <a:rPr lang="en-US" altLang="zh-CN" dirty="0"/>
              <a:t>This slide explains the connection between battery aging and 2RC model parameter extraction.</a:t>
            </a:r>
          </a:p>
          <a:p>
            <a:endParaRPr lang="en-US" altLang="zh-CN" dirty="0"/>
          </a:p>
          <a:p>
            <a:r>
              <a:rPr lang="en-US" altLang="zh-CN" dirty="0"/>
              <a:t>Battery aging is caused by several coupled degradation mechanisms, including SEI growth, lithium plating, active material loss. These internal mechanisms are difficult to measure directly, but their effects appear at the cell level as capacity fade, resistance growth, and slower voltage relaxation.</a:t>
            </a:r>
          </a:p>
          <a:p>
            <a:endParaRPr lang="en-US" altLang="zh-CN" dirty="0"/>
          </a:p>
          <a:p>
            <a:r>
              <a:rPr lang="en-US" altLang="zh-CN" dirty="0"/>
              <a:t>To describe these external voltage responses, this thesis uses a time-domain 2RC Thevenin model. R-zero represents the instantaneous ohmic resistance, while the two RC branches describe fast and slow polarization processes.</a:t>
            </a:r>
          </a:p>
          <a:p>
            <a:endParaRPr lang="en-US" altLang="zh-CN" dirty="0"/>
          </a:p>
          <a:p>
            <a:r>
              <a:rPr lang="en-US" altLang="zh-CN" dirty="0"/>
              <a:t>Therefore, by fitting pulse-pause voltage data, R-zero, R-one, and R-two can be extracted as indicators of the battery’s dynamic behavior under different SOC conditions. This provides the basis for the parameter identification work at 10%, 50%, and 90% SOC.</a:t>
            </a:r>
            <a:endParaRPr lang="zh-CN" altLang="en-US" dirty="0"/>
          </a:p>
        </p:txBody>
      </p:sp>
    </p:spTree>
    <p:extLst>
      <p:ext uri="{BB962C8B-B14F-4D97-AF65-F5344CB8AC3E}">
        <p14:creationId xmlns:p14="http://schemas.microsoft.com/office/powerpoint/2010/main" val="38181111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C3CE3-0B41-85E7-10F7-44EB203A026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FFB94F0-B571-5B42-2988-98D13843C7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EE2EB2-BCEA-762E-1C92-321CDF312180}"/>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7857268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6A794-D04E-8127-AC44-A6441FEBBAD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F695CA-9B2F-702C-0D97-2F7D3401217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0E5B2EE-C1ED-240F-5B2C-B6592469D17D}"/>
              </a:ext>
            </a:extLst>
          </p:cNvPr>
          <p:cNvSpPr>
            <a:spLocks noGrp="1"/>
          </p:cNvSpPr>
          <p:nvPr>
            <p:ph type="body" idx="1"/>
          </p:nvPr>
        </p:nvSpPr>
        <p:spPr/>
        <p:txBody>
          <a:bodyPr/>
          <a:lstStyle/>
          <a:p>
            <a:r>
              <a:rPr lang="zh-CN" altLang="zh-CN" dirty="0"/>
              <a:t>In this step, I process the raw time-series data and convert it into valid pulse-pause pairs for resistance extraction.</a:t>
            </a:r>
            <a:endParaRPr lang="en-US" altLang="zh-CN" dirty="0"/>
          </a:p>
          <a:p>
            <a:endParaRPr lang="zh-CN" altLang="zh-CN" dirty="0"/>
          </a:p>
          <a:p>
            <a:r>
              <a:rPr lang="zh-CN" altLang="zh-CN" dirty="0"/>
              <a:t>First, I read the raw parquet files and extract the SOH information from the file name. Then, the data are sorted by time, and the major cycles are identified based on the time difference between neighboring data points.</a:t>
            </a:r>
            <a:endParaRPr lang="en-US" altLang="zh-CN" dirty="0"/>
          </a:p>
          <a:p>
            <a:endParaRPr lang="zh-CN" altLang="zh-CN" dirty="0"/>
          </a:p>
          <a:p>
            <a:r>
              <a:rPr lang="zh-CN" altLang="zh-CN" dirty="0"/>
              <a:t>According to the experimental sequence, these cycles are assigned to three SOC levels: 90%, 50%, and 10%.</a:t>
            </a:r>
            <a:endParaRPr lang="en-US" altLang="zh-CN" dirty="0"/>
          </a:p>
          <a:p>
            <a:endParaRPr lang="zh-CN" altLang="zh-CN" dirty="0"/>
          </a:p>
          <a:p>
            <a:r>
              <a:rPr lang="zh-CN" altLang="zh-CN" dirty="0"/>
              <a:t>After that, I filter the pulse segments. Only stable charging and discharging pulses are kept</a:t>
            </a:r>
            <a:r>
              <a:rPr lang="en-US" altLang="zh-CN" dirty="0"/>
              <a:t>.</a:t>
            </a:r>
          </a:p>
          <a:p>
            <a:endParaRPr lang="zh-CN" altLang="zh-CN" dirty="0"/>
          </a:p>
          <a:p>
            <a:r>
              <a:rPr lang="zh-CN" altLang="zh-CN" dirty="0"/>
              <a:t>Finally, for each valid pulse, I match the last PAUO point before the pulse with the first valid pulse point. This matched PAUO-pulse pair is the basis for the following R0 calculation and second-order RC fitting.</a:t>
            </a:r>
          </a:p>
          <a:p>
            <a:endParaRPr lang="zh-CN" altLang="en-US" dirty="0"/>
          </a:p>
        </p:txBody>
      </p:sp>
    </p:spTree>
    <p:extLst>
      <p:ext uri="{BB962C8B-B14F-4D97-AF65-F5344CB8AC3E}">
        <p14:creationId xmlns:p14="http://schemas.microsoft.com/office/powerpoint/2010/main" val="31836454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E50A6-37E7-072E-C5D9-E30A3E565A2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1C550-E2BE-7A49-FBC2-3FA7D9EF4E3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4767D53-68E8-826B-6479-096BCD058776}"/>
              </a:ext>
            </a:extLst>
          </p:cNvPr>
          <p:cNvSpPr>
            <a:spLocks noGrp="1"/>
          </p:cNvSpPr>
          <p:nvPr>
            <p:ph type="body" idx="1"/>
          </p:nvPr>
        </p:nvSpPr>
        <p:spPr/>
        <p:txBody>
          <a:bodyPr/>
          <a:lstStyle/>
          <a:p>
            <a:r>
              <a:rPr lang="en-US" altLang="zh-CN" dirty="0"/>
              <a:t>After matching each pulse with the previous PAUO point, I calculate the ohmic resistance R0 from the instantaneous voltage and current change at the pulse start.</a:t>
            </a:r>
          </a:p>
          <a:p>
            <a:endParaRPr lang="en-US" altLang="zh-CN" dirty="0"/>
          </a:p>
          <a:p>
            <a:r>
              <a:rPr lang="en-US" altLang="zh-CN" dirty="0"/>
              <a:t>In this figure, the blue curve shows the current and the orange curve shows the voltage. Before the pulse, the current is approximately zero. When the pulse starts, the current jumps to the target level, and the voltage shows an immediate response.</a:t>
            </a:r>
          </a:p>
          <a:p>
            <a:endParaRPr lang="en-US" altLang="zh-CN" dirty="0"/>
          </a:p>
          <a:p>
            <a:r>
              <a:rPr lang="en-US" altLang="zh-CN" dirty="0"/>
              <a:t>I use the last PAUO point before the pulse and the first valid pulse point to calculate R0. The formula is R0 equals the absolute value of delta voltage divided by delta current. The result is multiplied by 1000 and reported in milliohm.</a:t>
            </a:r>
          </a:p>
          <a:p>
            <a:endParaRPr lang="en-US" altLang="zh-CN" dirty="0"/>
          </a:p>
          <a:p>
            <a:r>
              <a:rPr lang="en-US" altLang="zh-CN" dirty="0"/>
              <a:t>This R0 value is then used as the fixed ohmic resistance input for the following second-order RC fitting.</a:t>
            </a:r>
            <a:endParaRPr lang="zh-CN" altLang="en-US" dirty="0"/>
          </a:p>
        </p:txBody>
      </p:sp>
    </p:spTree>
    <p:extLst>
      <p:ext uri="{BB962C8B-B14F-4D97-AF65-F5344CB8AC3E}">
        <p14:creationId xmlns:p14="http://schemas.microsoft.com/office/powerpoint/2010/main" val="4046236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This slide shows the second-order </a:t>
            </a:r>
            <a:r>
              <a:rPr lang="en-US" altLang="zh-CN" dirty="0" err="1"/>
              <a:t>Thévenin</a:t>
            </a:r>
            <a:r>
              <a:rPr lang="en-US" altLang="zh-CN" dirty="0"/>
              <a:t> equivalent circuit model used for resistance extraction.</a:t>
            </a:r>
          </a:p>
          <a:p>
            <a:endParaRPr lang="en-US" altLang="zh-CN" dirty="0"/>
          </a:p>
          <a:p>
            <a:r>
              <a:rPr lang="en-US" altLang="zh-CN" dirty="0"/>
              <a:t>R0 describes the instantaneous ohmic response and is fixed from the previous R0 calculation. The two RC branches describe the dynamic relaxation behavior after the pulse. R1C1 captures the faster relaxation component, while R2C2 captures the slower relaxation component.</a:t>
            </a:r>
          </a:p>
          <a:p>
            <a:endParaRPr lang="en-US" altLang="zh-CN" dirty="0"/>
          </a:p>
          <a:p>
            <a:r>
              <a:rPr lang="en-US" altLang="zh-CN" dirty="0"/>
              <a:t>The equations on the right are written for the discharge-positive current convention. Therefore, during discharge, the terminal voltage is the open-circuit voltage minus the ohmic drop and the two polarization voltages.</a:t>
            </a:r>
          </a:p>
          <a:p>
            <a:endParaRPr lang="en-US" altLang="zh-CN" dirty="0"/>
          </a:p>
          <a:p>
            <a:r>
              <a:rPr lang="en-US" altLang="zh-CN" dirty="0"/>
              <a:t>In the fitting step, R1, R2, tau1 and tau2 are identified from the pulse-pause voltage curve and later used as SOC-resolved degradation features.</a:t>
            </a:r>
            <a:endParaRPr lang="zh-CN" altLang="en-US" dirty="0"/>
          </a:p>
        </p:txBody>
      </p:sp>
    </p:spTree>
    <p:extLst>
      <p:ext uri="{BB962C8B-B14F-4D97-AF65-F5344CB8AC3E}">
        <p14:creationId xmlns:p14="http://schemas.microsoft.com/office/powerpoint/2010/main" val="23520512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D1090-6CA2-E752-0258-6DB2BC43588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FA32B3-2286-F64D-015C-BF030062B39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49D9E1-76B2-6646-73DB-8A5E78F97244}"/>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4812317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C1F68-088B-9FD2-F45F-7CD1A1612E2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5E58894-CEC5-9345-D7F3-F5D358D2272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78BDCBD-A991-A7E9-66DE-E87C259F8ADD}"/>
              </a:ext>
            </a:extLst>
          </p:cNvPr>
          <p:cNvSpPr>
            <a:spLocks noGrp="1"/>
          </p:cNvSpPr>
          <p:nvPr>
            <p:ph type="body" idx="1"/>
          </p:nvPr>
        </p:nvSpPr>
        <p:spPr/>
        <p:txBody>
          <a:bodyPr/>
          <a:lstStyle/>
          <a:p>
            <a:r>
              <a:rPr lang="en-US" altLang="zh-CN" dirty="0"/>
              <a:t>These three figures show the identified resistance parameters R-zero, R-one, and R-two as a function of SOH under different SOC levels and pulse conditions.</a:t>
            </a:r>
          </a:p>
          <a:p>
            <a:endParaRPr lang="en-US" altLang="zh-CN" dirty="0"/>
          </a:p>
          <a:p>
            <a:r>
              <a:rPr lang="en-US" altLang="zh-CN" dirty="0"/>
              <a:t>The x-axis represents SOH. Since SOH decreases from left to right, the right side of each plot corresponds to a more aged battery condition. The three subplots in each figure correspond to 10%, 50%, and 90% SOC, respectively. Within each SOC group, different curves represent different pulse directions and current magnitudes.</a:t>
            </a:r>
          </a:p>
          <a:p>
            <a:endParaRPr lang="en-US" altLang="zh-CN" dirty="0"/>
          </a:p>
          <a:p>
            <a:endParaRPr lang="en-US" altLang="zh-CN" dirty="0"/>
          </a:p>
          <a:p>
            <a:r>
              <a:rPr lang="en-US" altLang="zh-CN" dirty="0"/>
              <a:t>First, for R-zero, which represents the instantaneous ohmic resistance, a clear increasing trend can be observed as SOH decreases.</a:t>
            </a:r>
          </a:p>
          <a:p>
            <a:endParaRPr lang="en-US" altLang="zh-CN" dirty="0"/>
          </a:p>
          <a:p>
            <a:r>
              <a:rPr lang="en-US" altLang="zh-CN" dirty="0"/>
              <a:t>This trend appears at all three SOC levels, indicating that battery aging leads to an increase in ohmic resistance. At 10% and 50% SOC, the curves are relatively consistent between different pulse conditions, which suggests that R-zero can be identified quite robustly.</a:t>
            </a:r>
          </a:p>
          <a:p>
            <a:endParaRPr lang="en-US" altLang="zh-CN" dirty="0"/>
          </a:p>
          <a:p>
            <a:r>
              <a:rPr lang="en-US" altLang="zh-CN" dirty="0"/>
              <a:t>However, at 90% SOC, the R-zero values are generally higher and show stronger fluctuations, especially in the lower SOH range. This means that the ohmic resistance is not only affected by aging, but also becomes more sensitive to SOC and excitation conditions at high SOC.</a:t>
            </a:r>
            <a:endParaRPr lang="zh-CN" altLang="en-US" dirty="0"/>
          </a:p>
        </p:txBody>
      </p:sp>
    </p:spTree>
    <p:extLst>
      <p:ext uri="{BB962C8B-B14F-4D97-AF65-F5344CB8AC3E}">
        <p14:creationId xmlns:p14="http://schemas.microsoft.com/office/powerpoint/2010/main" val="13716260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31E1D-8A05-B781-F397-B0536CDFEF8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11B9F70-47CF-6371-00E7-3456813E27C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691C948-E6DE-08E2-F5C8-8D10C07D4D96}"/>
              </a:ext>
            </a:extLst>
          </p:cNvPr>
          <p:cNvSpPr>
            <a:spLocks noGrp="1"/>
          </p:cNvSpPr>
          <p:nvPr>
            <p:ph type="body" idx="1"/>
          </p:nvPr>
        </p:nvSpPr>
        <p:spPr/>
        <p:txBody>
          <a:bodyPr/>
          <a:lstStyle/>
          <a:p>
            <a:r>
              <a:rPr lang="zh-CN" altLang="zh-CN" dirty="0"/>
              <a:t>The second figure shows R-one, which represents the fast polarization resistance in the 2RC model.</a:t>
            </a:r>
            <a:endParaRPr lang="en-US" altLang="zh-CN" dirty="0"/>
          </a:p>
          <a:p>
            <a:endParaRPr lang="zh-CN" altLang="zh-CN" dirty="0"/>
          </a:p>
          <a:p>
            <a:r>
              <a:rPr lang="zh-CN" altLang="zh-CN" dirty="0"/>
              <a:t>Compared with R-zero, R-one shows stronger dependence on SOC and pulse direction. At 10% SOC, the discharge pulse at 3.0 A gives consistently higher R-one values than the charge pulses. At 50% SOC, the overall R-one values are lower, but the discharge case still shows more fluctuation.</a:t>
            </a:r>
            <a:endParaRPr lang="en-US" altLang="zh-CN" dirty="0"/>
          </a:p>
          <a:p>
            <a:endParaRPr lang="zh-CN" altLang="zh-CN" dirty="0"/>
          </a:p>
          <a:p>
            <a:r>
              <a:rPr lang="zh-CN" altLang="zh-CN" dirty="0"/>
              <a:t>At 90% SOC, R-one increases significantly as SOH decreases, especially after around 86% SOH. This suggests that the fast polarization process becomes more pronounced in aged cells, particularly under high-SOC conditions.</a:t>
            </a:r>
            <a:endParaRPr lang="en-US" altLang="zh-CN" dirty="0"/>
          </a:p>
          <a:p>
            <a:endParaRPr lang="zh-CN" altLang="zh-CN" dirty="0"/>
          </a:p>
          <a:p>
            <a:r>
              <a:rPr lang="zh-CN" altLang="zh-CN" dirty="0"/>
              <a:t>Therefore, R-one is more sensitive to operating conditions than R-zero, but it still provides useful information about aging-related polarization changes.</a:t>
            </a:r>
            <a:endParaRPr lang="en-US" altLang="zh-CN" dirty="0"/>
          </a:p>
          <a:p>
            <a:endParaRPr lang="zh-CN" altLang="zh-CN" dirty="0"/>
          </a:p>
          <a:p>
            <a:endParaRPr lang="zh-CN" altLang="en-US" dirty="0"/>
          </a:p>
        </p:txBody>
      </p:sp>
    </p:spTree>
    <p:extLst>
      <p:ext uri="{BB962C8B-B14F-4D97-AF65-F5344CB8AC3E}">
        <p14:creationId xmlns:p14="http://schemas.microsoft.com/office/powerpoint/2010/main" val="10417382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62030-F848-A1EB-4E2D-9A5B1FEDC07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B77B682-B1FA-371D-8CD2-62AFB361DF4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8E645D2-D030-0167-A661-08770E61E3D3}"/>
              </a:ext>
            </a:extLst>
          </p:cNvPr>
          <p:cNvSpPr>
            <a:spLocks noGrp="1"/>
          </p:cNvSpPr>
          <p:nvPr>
            <p:ph type="body" idx="1"/>
          </p:nvPr>
        </p:nvSpPr>
        <p:spPr/>
        <p:txBody>
          <a:bodyPr/>
          <a:lstStyle/>
          <a:p>
            <a:r>
              <a:rPr lang="en-US" altLang="zh-CN" dirty="0"/>
              <a:t>The third figure presents R-two, which represents the slow polarization resistance.</a:t>
            </a:r>
          </a:p>
          <a:p>
            <a:endParaRPr lang="en-US" altLang="zh-CN" dirty="0"/>
          </a:p>
          <a:p>
            <a:r>
              <a:rPr lang="en-US" altLang="zh-CN" dirty="0"/>
              <a:t>Among the three resistance parameters, R-two shows the largest variation. At 10% SOC, the discharge pulse at 3.0 A gives much higher R-two values than the other cases. This large difference may indicate that the slow polarization branch is highly sensitive under low-SOC discharge conditions, or that the parameter fitting becomes less robust in this case.</a:t>
            </a:r>
          </a:p>
          <a:p>
            <a:endParaRPr lang="en-US" altLang="zh-CN" dirty="0"/>
          </a:p>
          <a:p>
            <a:r>
              <a:rPr lang="en-US" altLang="zh-CN" dirty="0"/>
              <a:t>At 50% SOC, the discharge case also gives higher R-two values than the charge cases, while at 90% SOC, R-two generally increases with decreasing SOH.</a:t>
            </a:r>
          </a:p>
          <a:p>
            <a:endParaRPr lang="en-US" altLang="zh-CN" dirty="0"/>
          </a:p>
          <a:p>
            <a:r>
              <a:rPr lang="en-US" altLang="zh-CN" dirty="0"/>
              <a:t>Overall, R-two is the most sensitive parameter among the three. It can reflect slow voltage relaxation behavior, but it is also more affected by pulse condition, relaxation time, and fitting uncertainty. </a:t>
            </a:r>
            <a:endParaRPr lang="zh-CN" altLang="en-US" dirty="0"/>
          </a:p>
        </p:txBody>
      </p:sp>
    </p:spTree>
    <p:extLst>
      <p:ext uri="{BB962C8B-B14F-4D97-AF65-F5344CB8AC3E}">
        <p14:creationId xmlns:p14="http://schemas.microsoft.com/office/powerpoint/2010/main" val="6288431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9B6CE-5CE8-8B90-9A57-4BD7D1CD59A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EBDBE7D-B334-75C5-CA39-FDF51F3836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6F1398-88C6-A8F3-EADE-E3AFED48D793}"/>
              </a:ext>
            </a:extLst>
          </p:cNvPr>
          <p:cNvSpPr>
            <a:spLocks noGrp="1"/>
          </p:cNvSpPr>
          <p:nvPr>
            <p:ph type="body" idx="1"/>
          </p:nvPr>
        </p:nvSpPr>
        <p:spPr/>
        <p:txBody>
          <a:bodyPr/>
          <a:lstStyle/>
          <a:p>
            <a:r>
              <a:rPr lang="en-US" altLang="zh-CN" dirty="0"/>
              <a:t>I found that the abnormal R-two values are related to the fitted tau-two. In several cases, tau-two is very close to the predefined bounds, either the lower bound or the upper bound.</a:t>
            </a:r>
          </a:p>
          <a:p>
            <a:endParaRPr lang="en-US" altLang="zh-CN" dirty="0"/>
          </a:p>
          <a:p>
            <a:r>
              <a:rPr lang="en-US" altLang="zh-CN" dirty="0"/>
              <a:t>So I think the issue is that the slow RC branch is not always well identifiable from the available pulse-pause data. The model can still fit the voltage response well, but R-two and tau-two may compensate each other.</a:t>
            </a:r>
          </a:p>
          <a:p>
            <a:endParaRPr lang="en-US" altLang="zh-CN" dirty="0"/>
          </a:p>
          <a:p>
            <a:r>
              <a:rPr lang="en-US" altLang="zh-CN" dirty="0"/>
              <a:t>My question is: should I treat these boundary-active results as unreliable and exclude them from the trend analysis, or should I keep them but clearly mark them as a limitation of the fitting method?</a:t>
            </a:r>
          </a:p>
          <a:p>
            <a:endParaRPr lang="zh-CN" altLang="en-US" dirty="0"/>
          </a:p>
        </p:txBody>
      </p:sp>
    </p:spTree>
    <p:extLst>
      <p:ext uri="{BB962C8B-B14F-4D97-AF65-F5344CB8AC3E}">
        <p14:creationId xmlns:p14="http://schemas.microsoft.com/office/powerpoint/2010/main" val="15342442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301B9-AF71-75D6-5B37-8EC661A734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562DA3B-65CF-5976-D015-0A2DF94C39B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E8A057-936D-C5AE-4073-CE350D02F40D}"/>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06422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E4B8E-7D36-529C-C697-66306A3F3C8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60F3B3C-A3C0-4849-8531-76EED5C0A02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B2BC36E-9FE9-23EE-0364-DE5778326DF8}"/>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7247538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1F5BD-7FB3-8F69-958F-3DAD04931B5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7976DE-3327-E8AE-1535-C8D6E5F3F2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E100CB0-8E38-7DE8-9676-968D067F07C6}"/>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4265180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B11C2-092C-DD1D-4209-3145325A087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46CEFC6-8AEA-569D-086F-136015FEA3F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C3C5F6-7730-BED6-36F3-3BC76ABCC65F}"/>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33313954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oleObject" Target="../embeddings/oleObject2.bin"/><Relationship Id="rId7"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2.emf"/><Relationship Id="rId5" Type="http://schemas.openxmlformats.org/officeDocument/2006/relationships/image" Target="../media/image3.png"/><Relationship Id="rId10" Type="http://schemas.openxmlformats.org/officeDocument/2006/relationships/image" Target="../media/image7.jpeg"/><Relationship Id="rId4" Type="http://schemas.openxmlformats.org/officeDocument/2006/relationships/image" Target="../media/image1.emf"/><Relationship Id="rId9" Type="http://schemas.openxmlformats.org/officeDocument/2006/relationships/image" Target="../media/image6.jpeg"/></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2.emf"/><Relationship Id="rId5" Type="http://schemas.openxmlformats.org/officeDocument/2006/relationships/image" Target="../media/image8.jpeg"/><Relationship Id="rId4"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oleObject" Target="../embeddings/oleObject5.bin"/><Relationship Id="rId7" Type="http://schemas.openxmlformats.org/officeDocument/2006/relationships/image" Target="../media/image4.png"/><Relationship Id="rId2" Type="http://schemas.openxmlformats.org/officeDocument/2006/relationships/slideMaster" Target="../slideMasters/slideMaster2.xml"/><Relationship Id="rId1" Type="http://schemas.openxmlformats.org/officeDocument/2006/relationships/tags" Target="../tags/tag6.xml"/><Relationship Id="rId6" Type="http://schemas.openxmlformats.org/officeDocument/2006/relationships/image" Target="../media/image3.png"/><Relationship Id="rId5" Type="http://schemas.openxmlformats.org/officeDocument/2006/relationships/image" Target="../media/image2.emf"/><Relationship Id="rId10" Type="http://schemas.openxmlformats.org/officeDocument/2006/relationships/image" Target="../media/image7.jpeg"/><Relationship Id="rId4" Type="http://schemas.openxmlformats.org/officeDocument/2006/relationships/image" Target="../media/image1.emf"/><Relationship Id="rId9" Type="http://schemas.openxmlformats.org/officeDocument/2006/relationships/image" Target="../media/image6.jpeg"/></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7.xml"/><Relationship Id="rId6" Type="http://schemas.openxmlformats.org/officeDocument/2006/relationships/image" Target="../media/image10.jpg"/><Relationship Id="rId5" Type="http://schemas.openxmlformats.org/officeDocument/2006/relationships/image" Target="../media/image2.emf"/><Relationship Id="rId4"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8.xml"/><Relationship Id="rId6" Type="http://schemas.openxmlformats.org/officeDocument/2006/relationships/image" Target="../media/image2.emf"/><Relationship Id="rId5" Type="http://schemas.openxmlformats.org/officeDocument/2006/relationships/image" Target="../media/image8.jpeg"/><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elfolie">
    <p:spTree>
      <p:nvGrpSpPr>
        <p:cNvPr id="1" name=""/>
        <p:cNvGrpSpPr/>
        <p:nvPr/>
      </p:nvGrpSpPr>
      <p:grpSpPr>
        <a:xfrm>
          <a:off x="0" y="0"/>
          <a:ext cx="0" cy="0"/>
          <a:chOff x="0" y="0"/>
          <a:chExt cx="0" cy="0"/>
        </a:xfrm>
      </p:grpSpPr>
      <p:graphicFrame>
        <p:nvGraphicFramePr>
          <p:cNvPr id="16" name="Objekt 15" hidden="1">
            <a:extLst>
              <a:ext uri="{FF2B5EF4-FFF2-40B4-BE49-F238E27FC236}">
                <a16:creationId xmlns:a16="http://schemas.microsoft.com/office/drawing/2014/main" id="{AD307316-3F94-D67F-D973-5AE32D14347C}"/>
              </a:ext>
            </a:extLst>
          </p:cNvPr>
          <p:cNvGraphicFramePr>
            <a:graphicFrameLocks noChangeAspect="1"/>
          </p:cNvGraphicFramePr>
          <p:nvPr userDrawn="1">
            <p:custDataLst>
              <p:tags r:id="rId1"/>
            </p:custDataLst>
            <p:extLst>
              <p:ext uri="{D42A27DB-BD31-4B8C-83A1-F6EECF244321}">
                <p14:modId xmlns:p14="http://schemas.microsoft.com/office/powerpoint/2010/main" val="42222824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20" name="Grafik 19">
            <a:extLst>
              <a:ext uri="{FF2B5EF4-FFF2-40B4-BE49-F238E27FC236}">
                <a16:creationId xmlns:a16="http://schemas.microsoft.com/office/drawing/2014/main" id="{88708C0B-D6AC-9BED-61E7-9A367025B73C}"/>
              </a:ext>
            </a:extLst>
          </p:cNvPr>
          <p:cNvPicPr>
            <a:picLocks noChangeAspect="1"/>
          </p:cNvPicPr>
          <p:nvPr userDrawn="1"/>
        </p:nvPicPr>
        <p:blipFill rotWithShape="1">
          <a:blip r:embed="rId5" cstate="hqprint">
            <a:extLst>
              <a:ext uri="{28A0092B-C50C-407E-A947-70E740481C1C}">
                <a14:useLocalDpi xmlns:a14="http://schemas.microsoft.com/office/drawing/2010/main"/>
              </a:ext>
            </a:extLst>
          </a:blip>
          <a:srcRect/>
          <a:stretch/>
        </p:blipFill>
        <p:spPr>
          <a:xfrm>
            <a:off x="9971531" y="-6889"/>
            <a:ext cx="2239901" cy="1902117"/>
          </a:xfrm>
          <a:prstGeom prst="rect">
            <a:avLst/>
          </a:prstGeom>
        </p:spPr>
      </p:pic>
      <p:sp>
        <p:nvSpPr>
          <p:cNvPr id="13" name="Untertitel 2"/>
          <p:cNvSpPr txBox="1">
            <a:spLocks/>
          </p:cNvSpPr>
          <p:nvPr/>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20000"/>
              </a:lnSpc>
            </a:pPr>
            <a:r>
              <a:rPr lang="en-US" sz="1400" b="1" noProof="0" dirty="0">
                <a:solidFill>
                  <a:srgbClr val="00549F"/>
                </a:solidFill>
                <a:latin typeface="+mn-lt"/>
              </a:rPr>
              <a:t>Center for Ageing, Reliability and Lifetime Prediction of Electrochemical and Power Electronic Systems (CARL)</a:t>
            </a:r>
            <a:endParaRPr lang="de-DE" sz="1400" b="1" noProof="0" dirty="0">
              <a:solidFill>
                <a:srgbClr val="00549F"/>
              </a:solidFill>
              <a:latin typeface="+mn-lt"/>
            </a:endParaRPr>
          </a:p>
        </p:txBody>
      </p:sp>
      <p:sp>
        <p:nvSpPr>
          <p:cNvPr id="26" name="Title 1"/>
          <p:cNvSpPr>
            <a:spLocks noGrp="1"/>
          </p:cNvSpPr>
          <p:nvPr>
            <p:ph type="ctrTitle"/>
          </p:nvPr>
        </p:nvSpPr>
        <p:spPr>
          <a:xfrm>
            <a:off x="383950" y="2487599"/>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dirty="0"/>
          </a:p>
        </p:txBody>
      </p:sp>
      <p:sp>
        <p:nvSpPr>
          <p:cNvPr id="27" name="Subtitle 2"/>
          <p:cNvSpPr>
            <a:spLocks noGrp="1"/>
          </p:cNvSpPr>
          <p:nvPr>
            <p:ph type="subTitle" idx="1"/>
          </p:nvPr>
        </p:nvSpPr>
        <p:spPr>
          <a:xfrm>
            <a:off x="383950" y="3857624"/>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28" name="Fußzeilenplatzhalter 2"/>
          <p:cNvSpPr>
            <a:spLocks noGrp="1"/>
          </p:cNvSpPr>
          <p:nvPr>
            <p:ph type="ftr" sz="quarter" idx="11"/>
          </p:nvPr>
        </p:nvSpPr>
        <p:spPr>
          <a:xfrm>
            <a:off x="383950" y="4980225"/>
            <a:ext cx="11425513" cy="524824"/>
          </a:xfrm>
        </p:spPr>
        <p:txBody>
          <a:bodyPr/>
          <a:lstStyle>
            <a:lvl1pPr>
              <a:defRPr sz="2000">
                <a:solidFill>
                  <a:schemeClr val="tx1"/>
                </a:solidFill>
              </a:defRPr>
            </a:lvl1pPr>
          </a:lstStyle>
          <a:p>
            <a:r>
              <a:rPr lang="en-US"/>
              <a:t>Dirk Uwe Sauer</a:t>
            </a:r>
            <a:endParaRPr lang="en-US" dirty="0"/>
          </a:p>
        </p:txBody>
      </p:sp>
      <p:sp>
        <p:nvSpPr>
          <p:cNvPr id="29" name="Datumsplatzhalter 1"/>
          <p:cNvSpPr>
            <a:spLocks noGrp="1"/>
          </p:cNvSpPr>
          <p:nvPr>
            <p:ph type="dt" sz="half" idx="12"/>
          </p:nvPr>
        </p:nvSpPr>
        <p:spPr>
          <a:xfrm>
            <a:off x="383950" y="4675425"/>
            <a:ext cx="11425513" cy="306150"/>
          </a:xfrm>
        </p:spPr>
        <p:txBody>
          <a:bodyPr/>
          <a:lstStyle>
            <a:lvl1pPr algn="l">
              <a:defRPr sz="2000">
                <a:solidFill>
                  <a:schemeClr val="tx1"/>
                </a:solidFill>
              </a:defRPr>
            </a:lvl1pPr>
          </a:lstStyle>
          <a:p>
            <a:pPr algn="l"/>
            <a:fld id="{D7F12259-4066-44C3-AC08-F5ADAE7E0447}" type="datetime1">
              <a:rPr lang="de-DE" smtClean="0"/>
              <a:t>01.07.2026</a:t>
            </a:fld>
            <a:endParaRPr lang="de-DE" dirty="0"/>
          </a:p>
        </p:txBody>
      </p:sp>
      <p:pic>
        <p:nvPicPr>
          <p:cNvPr id="17" name="Grafik 16">
            <a:extLst>
              <a:ext uri="{FF2B5EF4-FFF2-40B4-BE49-F238E27FC236}">
                <a16:creationId xmlns:a16="http://schemas.microsoft.com/office/drawing/2014/main" id="{4DC99CFB-2F20-4630-E9C6-F44AEDF32AFC}"/>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pic>
        <p:nvPicPr>
          <p:cNvPr id="23" name="Grafik 22">
            <a:extLst>
              <a:ext uri="{FF2B5EF4-FFF2-40B4-BE49-F238E27FC236}">
                <a16:creationId xmlns:a16="http://schemas.microsoft.com/office/drawing/2014/main" id="{28FA4D97-39DA-9A01-61AF-D9262A53F369}"/>
              </a:ext>
            </a:extLst>
          </p:cNvPr>
          <p:cNvPicPr>
            <a:picLocks noChangeAspect="1"/>
          </p:cNvPicPr>
          <p:nvPr userDrawn="1"/>
        </p:nvPicPr>
        <p:blipFill>
          <a:blip r:embed="rId7"/>
          <a:stretch>
            <a:fillRect/>
          </a:stretch>
        </p:blipFill>
        <p:spPr>
          <a:xfrm>
            <a:off x="-21020" y="-6889"/>
            <a:ext cx="2798307" cy="1908213"/>
          </a:xfrm>
          <a:prstGeom prst="rect">
            <a:avLst/>
          </a:prstGeom>
        </p:spPr>
      </p:pic>
      <p:pic>
        <p:nvPicPr>
          <p:cNvPr id="24" name="Grafik 23">
            <a:extLst>
              <a:ext uri="{FF2B5EF4-FFF2-40B4-BE49-F238E27FC236}">
                <a16:creationId xmlns:a16="http://schemas.microsoft.com/office/drawing/2014/main" id="{F3CFB95F-A89D-3843-8CBA-C23BB654A6CC}"/>
              </a:ext>
            </a:extLst>
          </p:cNvPr>
          <p:cNvPicPr>
            <a:picLocks noChangeAspect="1"/>
          </p:cNvPicPr>
          <p:nvPr userDrawn="1"/>
        </p:nvPicPr>
        <p:blipFill>
          <a:blip r:embed="rId8" cstate="hqprint">
            <a:extLst>
              <a:ext uri="{28A0092B-C50C-407E-A947-70E740481C1C}">
                <a14:useLocalDpi xmlns:a14="http://schemas.microsoft.com/office/drawing/2010/main"/>
              </a:ext>
            </a:extLst>
          </a:blip>
          <a:stretch>
            <a:fillRect/>
          </a:stretch>
        </p:blipFill>
        <p:spPr>
          <a:xfrm>
            <a:off x="2777287" y="-6889"/>
            <a:ext cx="1436612" cy="1908000"/>
          </a:xfrm>
          <a:prstGeom prst="rect">
            <a:avLst/>
          </a:prstGeom>
        </p:spPr>
      </p:pic>
      <p:pic>
        <p:nvPicPr>
          <p:cNvPr id="30" name="Grafik 29">
            <a:extLst>
              <a:ext uri="{FF2B5EF4-FFF2-40B4-BE49-F238E27FC236}">
                <a16:creationId xmlns:a16="http://schemas.microsoft.com/office/drawing/2014/main" id="{6E1F503F-FD34-9C0E-42EE-5D2F7B3E8EB5}"/>
              </a:ext>
            </a:extLst>
          </p:cNvPr>
          <p:cNvPicPr>
            <a:picLocks noChangeAspect="1"/>
          </p:cNvPicPr>
          <p:nvPr userDrawn="1"/>
        </p:nvPicPr>
        <p:blipFill rotWithShape="1">
          <a:blip r:embed="rId9" cstate="hqprint">
            <a:extLst>
              <a:ext uri="{28A0092B-C50C-407E-A947-70E740481C1C}">
                <a14:useLocalDpi xmlns:a14="http://schemas.microsoft.com/office/drawing/2010/main"/>
              </a:ext>
            </a:extLst>
          </a:blip>
          <a:srcRect/>
          <a:stretch/>
        </p:blipFill>
        <p:spPr>
          <a:xfrm>
            <a:off x="4213899" y="-6889"/>
            <a:ext cx="2491702" cy="1908000"/>
          </a:xfrm>
          <a:prstGeom prst="rect">
            <a:avLst/>
          </a:prstGeom>
        </p:spPr>
      </p:pic>
      <p:pic>
        <p:nvPicPr>
          <p:cNvPr id="32" name="Grafik 31">
            <a:extLst>
              <a:ext uri="{FF2B5EF4-FFF2-40B4-BE49-F238E27FC236}">
                <a16:creationId xmlns:a16="http://schemas.microsoft.com/office/drawing/2014/main" id="{0F1944B5-522B-EF1D-7AB7-135ECE4E8433}"/>
              </a:ext>
            </a:extLst>
          </p:cNvPr>
          <p:cNvPicPr>
            <a:picLocks noChangeAspect="1"/>
          </p:cNvPicPr>
          <p:nvPr userDrawn="1"/>
        </p:nvPicPr>
        <p:blipFill rotWithShape="1">
          <a:blip r:embed="rId10" cstate="hqprint">
            <a:extLst>
              <a:ext uri="{28A0092B-C50C-407E-A947-70E740481C1C}">
                <a14:useLocalDpi xmlns:a14="http://schemas.microsoft.com/office/drawing/2010/main"/>
              </a:ext>
            </a:extLst>
          </a:blip>
          <a:srcRect/>
          <a:stretch/>
        </p:blipFill>
        <p:spPr>
          <a:xfrm>
            <a:off x="6660046" y="-6889"/>
            <a:ext cx="3321996" cy="1908000"/>
          </a:xfrm>
          <a:prstGeom prst="rect">
            <a:avLst/>
          </a:prstGeom>
        </p:spPr>
      </p:pic>
      <p:sp>
        <p:nvSpPr>
          <p:cNvPr id="11" name="Textfeld 10"/>
          <p:cNvSpPr txBox="1"/>
          <p:nvPr userDrawn="1"/>
        </p:nvSpPr>
        <p:spPr>
          <a:xfrm>
            <a:off x="0" y="1845525"/>
            <a:ext cx="12196800" cy="246221"/>
          </a:xfrm>
          <a:prstGeom prst="rect">
            <a:avLst/>
          </a:prstGeom>
          <a:solidFill>
            <a:srgbClr val="00549F"/>
          </a:solidFill>
        </p:spPr>
        <p:txBody>
          <a:bodyPr wrap="square" rtlCol="0" anchor="ctr">
            <a:spAutoFit/>
          </a:bodyPr>
          <a:lstStyle/>
          <a:p>
            <a:pPr algn="ctr"/>
            <a:r>
              <a:rPr lang="de-DE" sz="1000" dirty="0">
                <a:solidFill>
                  <a:schemeClr val="bg1"/>
                </a:solidFill>
              </a:rPr>
              <a:t>Alterung     •     Modelle     •     Diagnostik     •     Packdesign     •     Elektromobilität     •     Stationäre Energiespeicher     •     Energiesystemanalyse</a:t>
            </a:r>
          </a:p>
        </p:txBody>
      </p:sp>
    </p:spTree>
    <p:extLst>
      <p:ext uri="{BB962C8B-B14F-4D97-AF65-F5344CB8AC3E}">
        <p14:creationId xmlns:p14="http://schemas.microsoft.com/office/powerpoint/2010/main" val="4618464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elfolie Variante">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8AA73D90-A9F3-5BD3-A09A-BE1E720DE8A3}"/>
              </a:ext>
            </a:extLst>
          </p:cNvPr>
          <p:cNvGraphicFramePr>
            <a:graphicFrameLocks noChangeAspect="1"/>
          </p:cNvGraphicFramePr>
          <p:nvPr userDrawn="1">
            <p:custDataLst>
              <p:tags r:id="rId1"/>
            </p:custDataLst>
            <p:extLst>
              <p:ext uri="{D42A27DB-BD31-4B8C-83A1-F6EECF244321}">
                <p14:modId xmlns:p14="http://schemas.microsoft.com/office/powerpoint/2010/main" val="42416087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2" name="Grafik 1">
            <a:extLst>
              <a:ext uri="{FF2B5EF4-FFF2-40B4-BE49-F238E27FC236}">
                <a16:creationId xmlns:a16="http://schemas.microsoft.com/office/drawing/2014/main" id="{DC871C23-EF71-3D7F-1DAC-7460442F1BB7}"/>
              </a:ext>
            </a:extLst>
          </p:cNvPr>
          <p:cNvPicPr>
            <a:picLocks noChangeAspect="1"/>
          </p:cNvPicPr>
          <p:nvPr userDrawn="1"/>
        </p:nvPicPr>
        <p:blipFill rotWithShape="1">
          <a:blip r:embed="rId5" cstate="hqprint">
            <a:extLst>
              <a:ext uri="{28A0092B-C50C-407E-A947-70E740481C1C}">
                <a14:useLocalDpi xmlns:a14="http://schemas.microsoft.com/office/drawing/2010/main"/>
              </a:ext>
            </a:extLst>
          </a:blip>
          <a:srcRect/>
          <a:stretch/>
        </p:blipFill>
        <p:spPr>
          <a:xfrm>
            <a:off x="-1588" y="0"/>
            <a:ext cx="12192000" cy="2724150"/>
          </a:xfrm>
          <a:prstGeom prst="rect">
            <a:avLst/>
          </a:prstGeom>
        </p:spPr>
      </p:pic>
      <p:sp>
        <p:nvSpPr>
          <p:cNvPr id="5" name="Title 1"/>
          <p:cNvSpPr>
            <a:spLocks noGrp="1"/>
          </p:cNvSpPr>
          <p:nvPr>
            <p:ph type="ctrTitle"/>
          </p:nvPr>
        </p:nvSpPr>
        <p:spPr>
          <a:xfrm>
            <a:off x="383950" y="2725724"/>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dirty="0"/>
          </a:p>
        </p:txBody>
      </p:sp>
      <p:sp>
        <p:nvSpPr>
          <p:cNvPr id="6" name="Subtitle 2"/>
          <p:cNvSpPr>
            <a:spLocks noGrp="1"/>
          </p:cNvSpPr>
          <p:nvPr>
            <p:ph type="subTitle" idx="1"/>
          </p:nvPr>
        </p:nvSpPr>
        <p:spPr>
          <a:xfrm>
            <a:off x="383950" y="4095749"/>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11" name="Fußzeilenplatzhalter 2"/>
          <p:cNvSpPr>
            <a:spLocks noGrp="1"/>
          </p:cNvSpPr>
          <p:nvPr>
            <p:ph type="ftr" sz="quarter" idx="11"/>
          </p:nvPr>
        </p:nvSpPr>
        <p:spPr>
          <a:xfrm>
            <a:off x="383950" y="5218350"/>
            <a:ext cx="11425513" cy="524824"/>
          </a:xfrm>
        </p:spPr>
        <p:txBody>
          <a:bodyPr/>
          <a:lstStyle>
            <a:lvl1pPr>
              <a:defRPr sz="2000">
                <a:solidFill>
                  <a:schemeClr val="tx1"/>
                </a:solidFill>
              </a:defRPr>
            </a:lvl1pPr>
          </a:lstStyle>
          <a:p>
            <a:r>
              <a:rPr lang="en-US" dirty="0"/>
              <a:t>Dirk Uwe Sauer</a:t>
            </a:r>
          </a:p>
        </p:txBody>
      </p:sp>
      <p:sp>
        <p:nvSpPr>
          <p:cNvPr id="12" name="Datumsplatzhalter 1"/>
          <p:cNvSpPr>
            <a:spLocks noGrp="1"/>
          </p:cNvSpPr>
          <p:nvPr>
            <p:ph type="dt" sz="half" idx="12"/>
          </p:nvPr>
        </p:nvSpPr>
        <p:spPr>
          <a:xfrm>
            <a:off x="383950" y="4913550"/>
            <a:ext cx="11425513" cy="306150"/>
          </a:xfrm>
        </p:spPr>
        <p:txBody>
          <a:bodyPr/>
          <a:lstStyle>
            <a:lvl1pPr algn="l">
              <a:defRPr sz="2000">
                <a:solidFill>
                  <a:schemeClr val="tx1"/>
                </a:solidFill>
              </a:defRPr>
            </a:lvl1pPr>
          </a:lstStyle>
          <a:p>
            <a:pPr algn="l"/>
            <a:fld id="{6D3069C6-0311-4A39-8CC1-DA405FE38D0C}" type="datetime1">
              <a:rPr lang="de-DE" smtClean="0"/>
              <a:t>01.07.2026</a:t>
            </a:fld>
            <a:endParaRPr lang="de-DE" dirty="0"/>
          </a:p>
        </p:txBody>
      </p:sp>
      <p:sp>
        <p:nvSpPr>
          <p:cNvPr id="14" name="Untertitel 2"/>
          <p:cNvSpPr txBox="1">
            <a:spLocks/>
          </p:cNvSpPr>
          <p:nvPr userDrawn="1"/>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20000"/>
              </a:lnSpc>
            </a:pPr>
            <a:r>
              <a:rPr lang="en-US" sz="1400" b="1" noProof="0" dirty="0">
                <a:solidFill>
                  <a:srgbClr val="00549F"/>
                </a:solidFill>
                <a:latin typeface="+mn-lt"/>
              </a:rPr>
              <a:t>Center for Ageing, Reliability and Lifetime Prediction of Electrochemical and Power Electronic Systems (CARL)</a:t>
            </a:r>
            <a:endParaRPr lang="de-DE" sz="1400" b="1" noProof="0" dirty="0">
              <a:solidFill>
                <a:srgbClr val="00549F"/>
              </a:solidFill>
              <a:latin typeface="+mn-lt"/>
            </a:endParaRPr>
          </a:p>
        </p:txBody>
      </p:sp>
      <p:pic>
        <p:nvPicPr>
          <p:cNvPr id="8" name="Grafik 7">
            <a:extLst>
              <a:ext uri="{FF2B5EF4-FFF2-40B4-BE49-F238E27FC236}">
                <a16:creationId xmlns:a16="http://schemas.microsoft.com/office/drawing/2014/main" id="{0FB60AFB-66AE-C17C-7AD7-ACE7A216C0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spTree>
    <p:extLst>
      <p:ext uri="{BB962C8B-B14F-4D97-AF65-F5344CB8AC3E}">
        <p14:creationId xmlns:p14="http://schemas.microsoft.com/office/powerpoint/2010/main" val="148267770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Abschlussfolie">
    <p:spTree>
      <p:nvGrpSpPr>
        <p:cNvPr id="1" name=""/>
        <p:cNvGrpSpPr/>
        <p:nvPr/>
      </p:nvGrpSpPr>
      <p:grpSpPr>
        <a:xfrm>
          <a:off x="0" y="0"/>
          <a:ext cx="0" cy="0"/>
          <a:chOff x="0" y="0"/>
          <a:chExt cx="0" cy="0"/>
        </a:xfrm>
      </p:grpSpPr>
      <p:cxnSp>
        <p:nvCxnSpPr>
          <p:cNvPr id="13" name="Gerader Verbinder 11"/>
          <p:cNvCxnSpPr/>
          <p:nvPr/>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Rechteck 3"/>
          <p:cNvSpPr/>
          <p:nvPr/>
        </p:nvSpPr>
        <p:spPr>
          <a:xfrm>
            <a:off x="6249086" y="2124077"/>
            <a:ext cx="5561876" cy="3754800"/>
          </a:xfrm>
          <a:prstGeom prst="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Rechteck 4"/>
          <p:cNvSpPr/>
          <p:nvPr/>
        </p:nvSpPr>
        <p:spPr>
          <a:xfrm>
            <a:off x="392649" y="2124076"/>
            <a:ext cx="5561876" cy="3756660"/>
          </a:xfrm>
          <a:prstGeom prst="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Title 1"/>
          <p:cNvSpPr txBox="1">
            <a:spLocks/>
          </p:cNvSpPr>
          <p:nvPr/>
        </p:nvSpPr>
        <p:spPr>
          <a:xfrm>
            <a:off x="383068" y="801688"/>
            <a:ext cx="11424279" cy="1004154"/>
          </a:xfrm>
          <a:prstGeom prst="rect">
            <a:avLst/>
          </a:prstGeom>
        </p:spPr>
        <p:txBody>
          <a:bodyPr lIns="0" tIns="0" rIns="0" bIns="0"/>
          <a:lstStyle>
            <a:lvl1pPr algn="l" defTabSz="914400" rtl="0" eaLnBrk="1" latinLnBrk="0" hangingPunct="1">
              <a:lnSpc>
                <a:spcPct val="90000"/>
              </a:lnSpc>
              <a:spcBef>
                <a:spcPct val="0"/>
              </a:spcBef>
              <a:buNone/>
              <a:defRPr sz="3200" b="1" kern="1200" baseline="0">
                <a:solidFill>
                  <a:schemeClr val="tx2"/>
                </a:solidFill>
                <a:latin typeface="Arial" panose="020B0604020202020204" pitchFamily="34" charset="0"/>
                <a:ea typeface="+mj-ea"/>
                <a:cs typeface="Arial" panose="020B0604020202020204" pitchFamily="34" charset="0"/>
              </a:defRPr>
            </a:lvl1pPr>
          </a:lstStyle>
          <a:p>
            <a:pPr fontAlgn="auto">
              <a:spcAft>
                <a:spcPts val="0"/>
              </a:spcAft>
              <a:defRPr/>
            </a:pPr>
            <a:r>
              <a:rPr lang="de-DE" dirty="0">
                <a:solidFill>
                  <a:srgbClr val="00549F"/>
                </a:solidFill>
              </a:rPr>
              <a:t>Vielen Dank</a:t>
            </a:r>
            <a:br>
              <a:rPr lang="de-DE" dirty="0">
                <a:solidFill>
                  <a:srgbClr val="00549F"/>
                </a:solidFill>
              </a:rPr>
            </a:br>
            <a:r>
              <a:rPr lang="de-DE" dirty="0">
                <a:solidFill>
                  <a:srgbClr val="00549F"/>
                </a:solidFill>
              </a:rPr>
              <a:t>für Ihre Aufmerksamkeit</a:t>
            </a:r>
            <a:endParaRPr lang="en-US" dirty="0">
              <a:solidFill>
                <a:srgbClr val="00549F"/>
              </a:solidFill>
            </a:endParaRPr>
          </a:p>
        </p:txBody>
      </p:sp>
      <p:pic>
        <p:nvPicPr>
          <p:cNvPr id="10" name="Grafik 9"/>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955573" y="4878751"/>
            <a:ext cx="952500" cy="952500"/>
          </a:xfrm>
          <a:prstGeom prst="rect">
            <a:avLst/>
          </a:prstGeom>
        </p:spPr>
      </p:pic>
      <p:sp>
        <p:nvSpPr>
          <p:cNvPr id="17" name="Textplatzhalter 3"/>
          <p:cNvSpPr txBox="1">
            <a:spLocks/>
          </p:cNvSpPr>
          <p:nvPr/>
        </p:nvSpPr>
        <p:spPr>
          <a:xfrm>
            <a:off x="392649" y="2133599"/>
            <a:ext cx="5561876" cy="3745278"/>
          </a:xfrm>
          <a:prstGeom prst="rect">
            <a:avLst/>
          </a:prstGeom>
        </p:spPr>
        <p:txBody>
          <a:bodyPr lIns="90000" tIns="36000" rIns="90000" bIns="36000"/>
          <a:lstStyle>
            <a:lvl1pPr marL="0" indent="0" algn="l" defTabSz="216000" rtl="0" eaLnBrk="1" fontAlgn="base" hangingPunct="1">
              <a:lnSpc>
                <a:spcPct val="100000"/>
              </a:lnSpc>
              <a:spcBef>
                <a:spcPts val="0"/>
              </a:spcBef>
              <a:spcAft>
                <a:spcPct val="0"/>
              </a:spcAft>
              <a:buClr>
                <a:schemeClr val="tx2"/>
              </a:buClr>
              <a:buFont typeface="Arial" panose="020B0604020202020204" pitchFamily="34" charset="0"/>
              <a:buNone/>
              <a:tabLst>
                <a:tab pos="216000" algn="l"/>
              </a:tabLst>
              <a:defRPr sz="1600" b="1"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8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Kontakt</a:t>
            </a:r>
            <a:endParaRPr kumimoji="0" lang="de-DE" sz="14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Lehrstuhl für Elektrochemische Energiewandlung</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und Speichersystemtechnik</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Univ.-Prof. Dr. </a:t>
            </a:r>
            <a:r>
              <a:rPr kumimoji="0" lang="de-DE" sz="1400" b="0" i="0" u="none" strike="noStrike" kern="1200" cap="none" spc="0" normalizeH="0" baseline="0" noProof="0" dirty="0" err="1">
                <a:ln>
                  <a:noFill/>
                </a:ln>
                <a:solidFill>
                  <a:sysClr val="windowText" lastClr="000000"/>
                </a:solidFill>
                <a:effectLst/>
                <a:uLnTx/>
                <a:uFillTx/>
                <a:latin typeface="Arial" panose="020B0604020202020204" pitchFamily="34" charset="0"/>
                <a:ea typeface="+mn-ea"/>
                <a:cs typeface="Arial" panose="020B0604020202020204" pitchFamily="34" charset="0"/>
              </a:rPr>
              <a:t>rer</a:t>
            </a: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nat. Dirk Uwe Sauer</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RWTH Aachen University</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Campus-Boulevard 89</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52074 Aachen</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GERMANY</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www.isea.rwth-aachen.de</a:t>
            </a:r>
            <a:endParaRPr kumimoji="0" lang="de-DE" sz="12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20" name="Textplatzhalter 3"/>
          <p:cNvSpPr txBox="1">
            <a:spLocks/>
          </p:cNvSpPr>
          <p:nvPr/>
        </p:nvSpPr>
        <p:spPr>
          <a:xfrm>
            <a:off x="6245471" y="2133599"/>
            <a:ext cx="5561876" cy="3745278"/>
          </a:xfrm>
          <a:prstGeom prst="rect">
            <a:avLst/>
          </a:prstGeom>
        </p:spPr>
        <p:txBody>
          <a:bodyPr lIns="90000" tIns="36000" rIns="90000" bIns="36000"/>
          <a:lstStyle>
            <a:lvl1pPr marL="0" indent="0" algn="l" defTabSz="216000" rtl="0" eaLnBrk="1" fontAlgn="base" hangingPunct="1">
              <a:lnSpc>
                <a:spcPct val="100000"/>
              </a:lnSpc>
              <a:spcBef>
                <a:spcPts val="0"/>
              </a:spcBef>
              <a:spcAft>
                <a:spcPct val="0"/>
              </a:spcAft>
              <a:buClr>
                <a:schemeClr val="tx2"/>
              </a:buClr>
              <a:buFont typeface="Arial" panose="020B0604020202020204" pitchFamily="34" charset="0"/>
              <a:buNone/>
              <a:tabLst>
                <a:tab pos="216000" algn="l"/>
              </a:tabLst>
              <a:defRPr sz="1600" b="1"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8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Wir danken</a:t>
            </a:r>
            <a:endParaRPr kumimoji="0" lang="de-DE" sz="14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24" name="Textplatzhalter 23"/>
          <p:cNvSpPr>
            <a:spLocks noGrp="1"/>
          </p:cNvSpPr>
          <p:nvPr>
            <p:ph type="body" sz="quarter" idx="10" hasCustomPrompt="1"/>
          </p:nvPr>
        </p:nvSpPr>
        <p:spPr>
          <a:xfrm>
            <a:off x="392649" y="2828926"/>
            <a:ext cx="3886694" cy="733425"/>
          </a:xfrm>
          <a:prstGeom prst="rect">
            <a:avLst/>
          </a:prstGeom>
        </p:spPr>
        <p:txBody>
          <a:bodyPr/>
          <a:lstStyle>
            <a:lvl1pPr marL="0" indent="0">
              <a:buNone/>
              <a:defRPr sz="1400" b="0" baseline="0"/>
            </a:lvl1pPr>
          </a:lstStyle>
          <a:p>
            <a:pPr lvl="0"/>
            <a:r>
              <a:rPr lang="en-US" dirty="0"/>
              <a:t>Tel.: +49 241 80-XXXXX</a:t>
            </a:r>
            <a:br>
              <a:rPr lang="en-US" dirty="0"/>
            </a:br>
            <a:r>
              <a:rPr lang="en-US" dirty="0"/>
              <a:t>xxx@isea.rwth-aachen.de</a:t>
            </a:r>
            <a:br>
              <a:rPr lang="en-US" dirty="0"/>
            </a:br>
            <a:r>
              <a:rPr lang="en-US" dirty="0"/>
              <a:t>batteries@isea.rwth-aachen.de</a:t>
            </a:r>
          </a:p>
        </p:txBody>
      </p:sp>
      <p:sp>
        <p:nvSpPr>
          <p:cNvPr id="26" name="Bildplatzhalter 25"/>
          <p:cNvSpPr>
            <a:spLocks noGrp="1"/>
          </p:cNvSpPr>
          <p:nvPr>
            <p:ph type="pic" sz="quarter" idx="11" hasCustomPrompt="1"/>
          </p:nvPr>
        </p:nvSpPr>
        <p:spPr>
          <a:xfrm>
            <a:off x="4811297" y="2124075"/>
            <a:ext cx="1137452" cy="1462628"/>
          </a:xfrm>
          <a:prstGeom prst="rect">
            <a:avLst/>
          </a:prstGeom>
        </p:spPr>
        <p:txBody>
          <a:bodyPr/>
          <a:lstStyle>
            <a:lvl1pPr marL="0" indent="0">
              <a:buNone/>
              <a:defRPr sz="1400" baseline="0"/>
            </a:lvl1pPr>
          </a:lstStyle>
          <a:p>
            <a:r>
              <a:rPr lang="de-DE" dirty="0"/>
              <a:t>Eigenes Foto durch Klicken hinzufügen</a:t>
            </a:r>
            <a:endParaRPr lang="en-US" dirty="0"/>
          </a:p>
        </p:txBody>
      </p:sp>
      <p:sp>
        <p:nvSpPr>
          <p:cNvPr id="28" name="Fußzeilenplatzhalter 27"/>
          <p:cNvSpPr>
            <a:spLocks noGrp="1"/>
          </p:cNvSpPr>
          <p:nvPr>
            <p:ph type="ftr" sz="quarter" idx="13"/>
          </p:nvPr>
        </p:nvSpPr>
        <p:spPr>
          <a:xfrm>
            <a:off x="392649" y="2570401"/>
            <a:ext cx="3886694" cy="334725"/>
          </a:xfrm>
        </p:spPr>
        <p:txBody>
          <a:bodyPr lIns="90000" tIns="90000" rIns="90000" bIns="90000"/>
          <a:lstStyle>
            <a:lvl1pPr>
              <a:defRPr sz="1400" b="1">
                <a:solidFill>
                  <a:schemeClr val="tx1"/>
                </a:solidFill>
              </a:defRPr>
            </a:lvl1pPr>
          </a:lstStyle>
          <a:p>
            <a:r>
              <a:rPr lang="en-US"/>
              <a:t>Dirk Uwe Sauer</a:t>
            </a:r>
            <a:endParaRPr lang="en-US" dirty="0"/>
          </a:p>
        </p:txBody>
      </p:sp>
      <p:sp>
        <p:nvSpPr>
          <p:cNvPr id="31" name="Bildplatzhalter 30"/>
          <p:cNvSpPr>
            <a:spLocks noGrp="1"/>
          </p:cNvSpPr>
          <p:nvPr>
            <p:ph type="pic" sz="quarter" idx="14" hasCustomPrompt="1"/>
          </p:nvPr>
        </p:nvSpPr>
        <p:spPr>
          <a:xfrm>
            <a:off x="6361869" y="2571750"/>
            <a:ext cx="2591663" cy="1548000"/>
          </a:xfrm>
          <a:prstGeom prst="rect">
            <a:avLst/>
          </a:prstGeom>
        </p:spPr>
        <p:txBody>
          <a:bodyPr/>
          <a:lstStyle>
            <a:lvl1pPr>
              <a:defRPr/>
            </a:lvl1pPr>
          </a:lstStyle>
          <a:p>
            <a:r>
              <a:rPr lang="de-DE" dirty="0"/>
              <a:t>Partnerlogo durch Klicken hinzufügen</a:t>
            </a:r>
            <a:endParaRPr lang="en-US" dirty="0"/>
          </a:p>
        </p:txBody>
      </p:sp>
      <p:sp>
        <p:nvSpPr>
          <p:cNvPr id="18" name="Bildplatzhalter 30"/>
          <p:cNvSpPr>
            <a:spLocks noGrp="1"/>
          </p:cNvSpPr>
          <p:nvPr>
            <p:ph type="pic" sz="quarter" idx="15" hasCustomPrompt="1"/>
          </p:nvPr>
        </p:nvSpPr>
        <p:spPr>
          <a:xfrm>
            <a:off x="9092013" y="2571750"/>
            <a:ext cx="2591663" cy="1548000"/>
          </a:xfrm>
          <a:prstGeom prst="rect">
            <a:avLst/>
          </a:prstGeom>
        </p:spPr>
        <p:txBody>
          <a:bodyPr/>
          <a:lstStyle>
            <a:lvl1pPr>
              <a:defRPr/>
            </a:lvl1pPr>
          </a:lstStyle>
          <a:p>
            <a:r>
              <a:rPr lang="de-DE" dirty="0"/>
              <a:t>Partnerlogo durch Klicken hinzufügen</a:t>
            </a:r>
            <a:endParaRPr lang="en-US" dirty="0"/>
          </a:p>
        </p:txBody>
      </p:sp>
      <p:sp>
        <p:nvSpPr>
          <p:cNvPr id="19" name="Bildplatzhalter 30"/>
          <p:cNvSpPr>
            <a:spLocks noGrp="1"/>
          </p:cNvSpPr>
          <p:nvPr>
            <p:ph type="pic" sz="quarter" idx="16" hasCustomPrompt="1"/>
          </p:nvPr>
        </p:nvSpPr>
        <p:spPr>
          <a:xfrm>
            <a:off x="6361869" y="4229100"/>
            <a:ext cx="2591663" cy="1548000"/>
          </a:xfrm>
          <a:prstGeom prst="rect">
            <a:avLst/>
          </a:prstGeom>
        </p:spPr>
        <p:txBody>
          <a:bodyPr/>
          <a:lstStyle>
            <a:lvl1pPr>
              <a:defRPr/>
            </a:lvl1pPr>
          </a:lstStyle>
          <a:p>
            <a:r>
              <a:rPr lang="de-DE" dirty="0"/>
              <a:t>Partnerlogo durch Klicken hinzufügen</a:t>
            </a:r>
            <a:endParaRPr lang="en-US" dirty="0"/>
          </a:p>
        </p:txBody>
      </p:sp>
      <p:sp>
        <p:nvSpPr>
          <p:cNvPr id="21" name="Bildplatzhalter 30"/>
          <p:cNvSpPr>
            <a:spLocks noGrp="1"/>
          </p:cNvSpPr>
          <p:nvPr>
            <p:ph type="pic" sz="quarter" idx="17" hasCustomPrompt="1"/>
          </p:nvPr>
        </p:nvSpPr>
        <p:spPr>
          <a:xfrm>
            <a:off x="9092013" y="4229100"/>
            <a:ext cx="2591663" cy="1548000"/>
          </a:xfrm>
          <a:prstGeom prst="rect">
            <a:avLst/>
          </a:prstGeom>
        </p:spPr>
        <p:txBody>
          <a:bodyPr/>
          <a:lstStyle>
            <a:lvl1pPr>
              <a:defRPr/>
            </a:lvl1pPr>
          </a:lstStyle>
          <a:p>
            <a:r>
              <a:rPr lang="de-DE" dirty="0"/>
              <a:t>Partnerlogo durch Klicken hinzufügen</a:t>
            </a:r>
            <a:endParaRPr lang="en-US" dirty="0"/>
          </a:p>
        </p:txBody>
      </p:sp>
      <p:cxnSp>
        <p:nvCxnSpPr>
          <p:cNvPr id="22" name="Gerader Verbinder 11"/>
          <p:cNvCxnSpPr/>
          <p:nvPr userDrawn="1"/>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Grafik 1">
            <a:extLst>
              <a:ext uri="{FF2B5EF4-FFF2-40B4-BE49-F238E27FC236}">
                <a16:creationId xmlns:a16="http://schemas.microsoft.com/office/drawing/2014/main" id="{B7A9C78E-FFB6-EF79-741D-9244DD08E832}"/>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9137882" y="6205415"/>
            <a:ext cx="2778300" cy="655200"/>
          </a:xfrm>
          <a:prstGeom prst="rect">
            <a:avLst/>
          </a:prstGeom>
        </p:spPr>
      </p:pic>
    </p:spTree>
    <p:extLst>
      <p:ext uri="{BB962C8B-B14F-4D97-AF65-F5344CB8AC3E}">
        <p14:creationId xmlns:p14="http://schemas.microsoft.com/office/powerpoint/2010/main" val="13457799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Mastertitelformat bearbeiten</a:t>
            </a:r>
            <a:endParaRPr lang="en-US" dirty="0"/>
          </a:p>
        </p:txBody>
      </p:sp>
      <p:sp>
        <p:nvSpPr>
          <p:cNvPr id="7" name="Inhaltsplatzhalter 2"/>
          <p:cNvSpPr>
            <a:spLocks noGrp="1"/>
          </p:cNvSpPr>
          <p:nvPr>
            <p:ph idx="1"/>
          </p:nvPr>
        </p:nvSpPr>
        <p:spPr>
          <a:xfrm>
            <a:off x="383950" y="1151999"/>
            <a:ext cx="11422513" cy="4731276"/>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11" name="Datumsplatzhalter 10"/>
          <p:cNvSpPr>
            <a:spLocks noGrp="1"/>
          </p:cNvSpPr>
          <p:nvPr>
            <p:ph type="dt" sz="half" idx="10"/>
          </p:nvPr>
        </p:nvSpPr>
        <p:spPr/>
        <p:txBody>
          <a:bodyPr/>
          <a:lstStyle/>
          <a:p>
            <a:pPr algn="l"/>
            <a:fld id="{F887C18F-21B2-48B8-9586-9343C0AE58EE}" type="datetime1">
              <a:rPr lang="de-DE" smtClean="0"/>
              <a:t>01.07.2026</a:t>
            </a:fld>
            <a:endParaRPr lang="de-DE" dirty="0"/>
          </a:p>
        </p:txBody>
      </p:sp>
      <p:sp>
        <p:nvSpPr>
          <p:cNvPr id="12" name="Fußzeilenplatzhalter 11"/>
          <p:cNvSpPr>
            <a:spLocks noGrp="1"/>
          </p:cNvSpPr>
          <p:nvPr>
            <p:ph type="ftr" sz="quarter" idx="11"/>
          </p:nvPr>
        </p:nvSpPr>
        <p:spPr/>
        <p:txBody>
          <a:bodyPr/>
          <a:lstStyle/>
          <a:p>
            <a:r>
              <a:rPr lang="en-US"/>
              <a:t>Dirk Uwe Sauer</a:t>
            </a:r>
            <a:endParaRPr lang="en-US" dirty="0"/>
          </a:p>
        </p:txBody>
      </p:sp>
      <p:sp>
        <p:nvSpPr>
          <p:cNvPr id="13" name="Foliennummernplatzhalter 12"/>
          <p:cNvSpPr>
            <a:spLocks noGrp="1"/>
          </p:cNvSpPr>
          <p:nvPr>
            <p:ph type="sldNum" sz="quarter" idx="12"/>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40965294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Zwei Inhalte">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Mastertitelformat bearbeiten</a:t>
            </a:r>
            <a:endParaRPr lang="en-US" dirty="0"/>
          </a:p>
        </p:txBody>
      </p:sp>
      <p:sp>
        <p:nvSpPr>
          <p:cNvPr id="10" name="Inhaltsplatzhalter 2"/>
          <p:cNvSpPr>
            <a:spLocks noGrp="1"/>
          </p:cNvSpPr>
          <p:nvPr>
            <p:ph idx="1"/>
          </p:nvPr>
        </p:nvSpPr>
        <p:spPr>
          <a:xfrm>
            <a:off x="383950" y="1151999"/>
            <a:ext cx="5620068"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11" name="Inhaltsplatzhalter 2"/>
          <p:cNvSpPr>
            <a:spLocks noGrp="1"/>
          </p:cNvSpPr>
          <p:nvPr>
            <p:ph idx="13"/>
          </p:nvPr>
        </p:nvSpPr>
        <p:spPr>
          <a:xfrm>
            <a:off x="6191194" y="1151999"/>
            <a:ext cx="5620068"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2" name="Datumsplatzhalter 1"/>
          <p:cNvSpPr>
            <a:spLocks noGrp="1"/>
          </p:cNvSpPr>
          <p:nvPr>
            <p:ph type="dt" sz="half" idx="14"/>
          </p:nvPr>
        </p:nvSpPr>
        <p:spPr/>
        <p:txBody>
          <a:bodyPr/>
          <a:lstStyle/>
          <a:p>
            <a:pPr algn="l"/>
            <a:fld id="{E5AF013B-EAD8-4321-9A97-347E14C68B05}" type="datetime1">
              <a:rPr lang="de-DE" smtClean="0"/>
              <a:t>01.07.2026</a:t>
            </a:fld>
            <a:endParaRPr lang="de-DE" dirty="0"/>
          </a:p>
        </p:txBody>
      </p:sp>
      <p:sp>
        <p:nvSpPr>
          <p:cNvPr id="7" name="Fußzeilenplatzhalter 6"/>
          <p:cNvSpPr>
            <a:spLocks noGrp="1"/>
          </p:cNvSpPr>
          <p:nvPr>
            <p:ph type="ftr" sz="quarter" idx="15"/>
          </p:nvPr>
        </p:nvSpPr>
        <p:spPr/>
        <p:txBody>
          <a:bodyPr/>
          <a:lstStyle/>
          <a:p>
            <a:r>
              <a:rPr lang="en-US"/>
              <a:t>Dirk Uwe Sauer</a:t>
            </a:r>
            <a:endParaRPr lang="en-US" dirty="0"/>
          </a:p>
        </p:txBody>
      </p:sp>
      <p:sp>
        <p:nvSpPr>
          <p:cNvPr id="12" name="Foliennummernplatzhalter 11"/>
          <p:cNvSpPr>
            <a:spLocks noGrp="1"/>
          </p:cNvSpPr>
          <p:nvPr>
            <p:ph type="sldNum" sz="quarter" idx="16"/>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41384569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Nur Titel">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Mastertitelformat bearbeiten</a:t>
            </a:r>
            <a:endParaRPr lang="en-US" dirty="0"/>
          </a:p>
        </p:txBody>
      </p:sp>
      <p:sp>
        <p:nvSpPr>
          <p:cNvPr id="11" name="Datumsplatzhalter 10"/>
          <p:cNvSpPr>
            <a:spLocks noGrp="1"/>
          </p:cNvSpPr>
          <p:nvPr>
            <p:ph type="dt" sz="half" idx="10"/>
          </p:nvPr>
        </p:nvSpPr>
        <p:spPr/>
        <p:txBody>
          <a:bodyPr/>
          <a:lstStyle/>
          <a:p>
            <a:pPr algn="l"/>
            <a:fld id="{D3F884E6-7726-4AAA-A0CE-C180A27151DE}" type="datetime1">
              <a:rPr lang="de-DE" smtClean="0"/>
              <a:t>01.07.2026</a:t>
            </a:fld>
            <a:endParaRPr lang="de-DE" dirty="0"/>
          </a:p>
        </p:txBody>
      </p:sp>
      <p:sp>
        <p:nvSpPr>
          <p:cNvPr id="12" name="Fußzeilenplatzhalter 11"/>
          <p:cNvSpPr>
            <a:spLocks noGrp="1"/>
          </p:cNvSpPr>
          <p:nvPr>
            <p:ph type="ftr" sz="quarter" idx="11"/>
          </p:nvPr>
        </p:nvSpPr>
        <p:spPr/>
        <p:txBody>
          <a:bodyPr/>
          <a:lstStyle/>
          <a:p>
            <a:r>
              <a:rPr lang="en-US"/>
              <a:t>Dirk Uwe Sauer</a:t>
            </a:r>
            <a:endParaRPr lang="en-US" dirty="0"/>
          </a:p>
        </p:txBody>
      </p:sp>
      <p:sp>
        <p:nvSpPr>
          <p:cNvPr id="13" name="Foliennummernplatzhalter 12"/>
          <p:cNvSpPr>
            <a:spLocks noGrp="1"/>
          </p:cNvSpPr>
          <p:nvPr>
            <p:ph type="sldNum" sz="quarter" idx="12"/>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1402423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graphicFrame>
        <p:nvGraphicFramePr>
          <p:cNvPr id="23" name="Objekt 22" hidden="1">
            <a:extLst>
              <a:ext uri="{FF2B5EF4-FFF2-40B4-BE49-F238E27FC236}">
                <a16:creationId xmlns:a16="http://schemas.microsoft.com/office/drawing/2014/main" id="{82E43DA6-6AC1-9462-BF8C-A82E0366A897}"/>
              </a:ext>
            </a:extLst>
          </p:cNvPr>
          <p:cNvGraphicFramePr>
            <a:graphicFrameLocks noChangeAspect="1"/>
          </p:cNvGraphicFramePr>
          <p:nvPr userDrawn="1">
            <p:custDataLst>
              <p:tags r:id="rId1"/>
            </p:custDataLst>
            <p:extLst>
              <p:ext uri="{D42A27DB-BD31-4B8C-83A1-F6EECF244321}">
                <p14:modId xmlns:p14="http://schemas.microsoft.com/office/powerpoint/2010/main" val="20756096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24" name="Grafik 23">
            <a:extLst>
              <a:ext uri="{FF2B5EF4-FFF2-40B4-BE49-F238E27FC236}">
                <a16:creationId xmlns:a16="http://schemas.microsoft.com/office/drawing/2014/main" id="{B32DBE17-1FC0-AB4B-95B0-6EFA7C1E6992}"/>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sp>
        <p:nvSpPr>
          <p:cNvPr id="19" name="Untertitel 2"/>
          <p:cNvSpPr txBox="1">
            <a:spLocks/>
          </p:cNvSpPr>
          <p:nvPr userDrawn="1"/>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baseline="0" noProof="0" dirty="0">
                <a:solidFill>
                  <a:schemeClr val="tx2"/>
                </a:solidFill>
              </a:rPr>
              <a:t>Center for Ageing, Reliability and Lifetime Prediction of Electrochemical and Power Electronic Systems (CARL)</a:t>
            </a:r>
            <a:endParaRPr lang="de-DE" sz="1400" b="1" noProof="0" dirty="0">
              <a:solidFill>
                <a:schemeClr val="tx2"/>
              </a:solidFill>
            </a:endParaRPr>
          </a:p>
        </p:txBody>
      </p:sp>
      <p:sp>
        <p:nvSpPr>
          <p:cNvPr id="14" name="Title 1"/>
          <p:cNvSpPr>
            <a:spLocks noGrp="1"/>
          </p:cNvSpPr>
          <p:nvPr>
            <p:ph type="ctrTitle" hasCustomPrompt="1"/>
          </p:nvPr>
        </p:nvSpPr>
        <p:spPr>
          <a:xfrm>
            <a:off x="383950" y="2487599"/>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dirty="0"/>
              <a:t>Titelmasterformat durch Klicken bearbeiten</a:t>
            </a:r>
            <a:endParaRPr lang="en-US" dirty="0"/>
          </a:p>
        </p:txBody>
      </p:sp>
      <p:sp>
        <p:nvSpPr>
          <p:cNvPr id="15" name="Subtitle 2"/>
          <p:cNvSpPr>
            <a:spLocks noGrp="1"/>
          </p:cNvSpPr>
          <p:nvPr>
            <p:ph type="subTitle" idx="1"/>
          </p:nvPr>
        </p:nvSpPr>
        <p:spPr>
          <a:xfrm>
            <a:off x="383950" y="3857624"/>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Formatvorlage des Untertitelmasters durch Klicken bearbeiten</a:t>
            </a:r>
            <a:endParaRPr lang="en-US" dirty="0"/>
          </a:p>
        </p:txBody>
      </p:sp>
      <p:sp>
        <p:nvSpPr>
          <p:cNvPr id="20" name="Fußzeilenplatzhalter 2"/>
          <p:cNvSpPr>
            <a:spLocks noGrp="1"/>
          </p:cNvSpPr>
          <p:nvPr>
            <p:ph type="ftr" sz="quarter" idx="11"/>
          </p:nvPr>
        </p:nvSpPr>
        <p:spPr>
          <a:xfrm>
            <a:off x="383950" y="4980225"/>
            <a:ext cx="11425513" cy="524824"/>
          </a:xfrm>
          <a:prstGeom prst="rect">
            <a:avLst/>
          </a:prstGeom>
        </p:spPr>
        <p:txBody>
          <a:bodyPr/>
          <a:lstStyle>
            <a:lvl1pPr>
              <a:defRPr sz="2000">
                <a:solidFill>
                  <a:schemeClr val="tx1"/>
                </a:solidFill>
              </a:defRPr>
            </a:lvl1pPr>
          </a:lstStyle>
          <a:p>
            <a:r>
              <a:rPr lang="en-US"/>
              <a:t>Dirk Uwe Sauer</a:t>
            </a:r>
            <a:endParaRPr lang="en-US" dirty="0"/>
          </a:p>
        </p:txBody>
      </p:sp>
      <p:sp>
        <p:nvSpPr>
          <p:cNvPr id="21" name="Datumsplatzhalter 1"/>
          <p:cNvSpPr>
            <a:spLocks noGrp="1"/>
          </p:cNvSpPr>
          <p:nvPr>
            <p:ph type="dt" sz="half" idx="12"/>
          </p:nvPr>
        </p:nvSpPr>
        <p:spPr>
          <a:xfrm>
            <a:off x="383950" y="4675425"/>
            <a:ext cx="11425513" cy="306150"/>
          </a:xfrm>
          <a:prstGeom prst="rect">
            <a:avLst/>
          </a:prstGeom>
        </p:spPr>
        <p:txBody>
          <a:bodyPr/>
          <a:lstStyle>
            <a:lvl1pPr algn="l">
              <a:defRPr sz="2000">
                <a:solidFill>
                  <a:schemeClr val="tx1"/>
                </a:solidFill>
              </a:defRPr>
            </a:lvl1pPr>
          </a:lstStyle>
          <a:p>
            <a:pPr algn="l"/>
            <a:fld id="{11769DE8-88E0-424A-87BD-6924D1146258}" type="datetime1">
              <a:rPr lang="de-DE" smtClean="0"/>
              <a:t>01.07.2026</a:t>
            </a:fld>
            <a:endParaRPr lang="de-DE" dirty="0"/>
          </a:p>
        </p:txBody>
      </p:sp>
      <p:pic>
        <p:nvPicPr>
          <p:cNvPr id="25" name="Grafik 24">
            <a:extLst>
              <a:ext uri="{FF2B5EF4-FFF2-40B4-BE49-F238E27FC236}">
                <a16:creationId xmlns:a16="http://schemas.microsoft.com/office/drawing/2014/main" id="{AA2B8F85-1C2F-429B-357B-4FB67D027CB3}"/>
              </a:ext>
            </a:extLst>
          </p:cNvPr>
          <p:cNvPicPr>
            <a:picLocks noChangeAspect="1"/>
          </p:cNvPicPr>
          <p:nvPr userDrawn="1"/>
        </p:nvPicPr>
        <p:blipFill rotWithShape="1">
          <a:blip r:embed="rId6" cstate="hqprint">
            <a:extLst>
              <a:ext uri="{28A0092B-C50C-407E-A947-70E740481C1C}">
                <a14:useLocalDpi xmlns:a14="http://schemas.microsoft.com/office/drawing/2010/main"/>
              </a:ext>
            </a:extLst>
          </a:blip>
          <a:srcRect/>
          <a:stretch/>
        </p:blipFill>
        <p:spPr>
          <a:xfrm>
            <a:off x="9971531" y="-6889"/>
            <a:ext cx="2239901" cy="1902117"/>
          </a:xfrm>
          <a:prstGeom prst="rect">
            <a:avLst/>
          </a:prstGeom>
        </p:spPr>
      </p:pic>
      <p:pic>
        <p:nvPicPr>
          <p:cNvPr id="26" name="Grafik 25">
            <a:extLst>
              <a:ext uri="{FF2B5EF4-FFF2-40B4-BE49-F238E27FC236}">
                <a16:creationId xmlns:a16="http://schemas.microsoft.com/office/drawing/2014/main" id="{24525F83-9971-BA94-7D3F-744B5F30ACFF}"/>
              </a:ext>
            </a:extLst>
          </p:cNvPr>
          <p:cNvPicPr>
            <a:picLocks noChangeAspect="1"/>
          </p:cNvPicPr>
          <p:nvPr userDrawn="1"/>
        </p:nvPicPr>
        <p:blipFill>
          <a:blip r:embed="rId7"/>
          <a:stretch>
            <a:fillRect/>
          </a:stretch>
        </p:blipFill>
        <p:spPr>
          <a:xfrm>
            <a:off x="-21020" y="-6889"/>
            <a:ext cx="2798307" cy="1908213"/>
          </a:xfrm>
          <a:prstGeom prst="rect">
            <a:avLst/>
          </a:prstGeom>
        </p:spPr>
      </p:pic>
      <p:pic>
        <p:nvPicPr>
          <p:cNvPr id="29" name="Grafik 28">
            <a:extLst>
              <a:ext uri="{FF2B5EF4-FFF2-40B4-BE49-F238E27FC236}">
                <a16:creationId xmlns:a16="http://schemas.microsoft.com/office/drawing/2014/main" id="{7294AE92-0AE3-89CA-C2AE-97D6097E745C}"/>
              </a:ext>
            </a:extLst>
          </p:cNvPr>
          <p:cNvPicPr>
            <a:picLocks noChangeAspect="1"/>
          </p:cNvPicPr>
          <p:nvPr userDrawn="1"/>
        </p:nvPicPr>
        <p:blipFill>
          <a:blip r:embed="rId8" cstate="hqprint">
            <a:extLst>
              <a:ext uri="{28A0092B-C50C-407E-A947-70E740481C1C}">
                <a14:useLocalDpi xmlns:a14="http://schemas.microsoft.com/office/drawing/2010/main"/>
              </a:ext>
            </a:extLst>
          </a:blip>
          <a:stretch>
            <a:fillRect/>
          </a:stretch>
        </p:blipFill>
        <p:spPr>
          <a:xfrm>
            <a:off x="2777287" y="-6889"/>
            <a:ext cx="1436612" cy="1908000"/>
          </a:xfrm>
          <a:prstGeom prst="rect">
            <a:avLst/>
          </a:prstGeom>
        </p:spPr>
      </p:pic>
      <p:pic>
        <p:nvPicPr>
          <p:cNvPr id="30" name="Grafik 29">
            <a:extLst>
              <a:ext uri="{FF2B5EF4-FFF2-40B4-BE49-F238E27FC236}">
                <a16:creationId xmlns:a16="http://schemas.microsoft.com/office/drawing/2014/main" id="{598C049B-1EB8-D191-76F1-BA20D60F4BCA}"/>
              </a:ext>
            </a:extLst>
          </p:cNvPr>
          <p:cNvPicPr>
            <a:picLocks noChangeAspect="1"/>
          </p:cNvPicPr>
          <p:nvPr userDrawn="1"/>
        </p:nvPicPr>
        <p:blipFill rotWithShape="1">
          <a:blip r:embed="rId9" cstate="hqprint">
            <a:extLst>
              <a:ext uri="{28A0092B-C50C-407E-A947-70E740481C1C}">
                <a14:useLocalDpi xmlns:a14="http://schemas.microsoft.com/office/drawing/2010/main"/>
              </a:ext>
            </a:extLst>
          </a:blip>
          <a:srcRect/>
          <a:stretch/>
        </p:blipFill>
        <p:spPr>
          <a:xfrm>
            <a:off x="4213899" y="-6889"/>
            <a:ext cx="2491702" cy="1908000"/>
          </a:xfrm>
          <a:prstGeom prst="rect">
            <a:avLst/>
          </a:prstGeom>
        </p:spPr>
      </p:pic>
      <p:pic>
        <p:nvPicPr>
          <p:cNvPr id="31" name="Grafik 30">
            <a:extLst>
              <a:ext uri="{FF2B5EF4-FFF2-40B4-BE49-F238E27FC236}">
                <a16:creationId xmlns:a16="http://schemas.microsoft.com/office/drawing/2014/main" id="{A427F757-A5F0-F6D8-392D-FFDE4FDBF3F6}"/>
              </a:ext>
            </a:extLst>
          </p:cNvPr>
          <p:cNvPicPr>
            <a:picLocks noChangeAspect="1"/>
          </p:cNvPicPr>
          <p:nvPr userDrawn="1"/>
        </p:nvPicPr>
        <p:blipFill rotWithShape="1">
          <a:blip r:embed="rId10" cstate="hqprint">
            <a:extLst>
              <a:ext uri="{28A0092B-C50C-407E-A947-70E740481C1C}">
                <a14:useLocalDpi xmlns:a14="http://schemas.microsoft.com/office/drawing/2010/main"/>
              </a:ext>
            </a:extLst>
          </a:blip>
          <a:srcRect/>
          <a:stretch/>
        </p:blipFill>
        <p:spPr>
          <a:xfrm>
            <a:off x="6660046" y="-6889"/>
            <a:ext cx="3321996" cy="1908000"/>
          </a:xfrm>
          <a:prstGeom prst="rect">
            <a:avLst/>
          </a:prstGeom>
        </p:spPr>
      </p:pic>
      <p:sp>
        <p:nvSpPr>
          <p:cNvPr id="28" name="Textfeld 27"/>
          <p:cNvSpPr txBox="1"/>
          <p:nvPr userDrawn="1"/>
        </p:nvSpPr>
        <p:spPr>
          <a:xfrm>
            <a:off x="0" y="1845525"/>
            <a:ext cx="12196800" cy="246221"/>
          </a:xfrm>
          <a:prstGeom prst="rect">
            <a:avLst/>
          </a:prstGeom>
          <a:solidFill>
            <a:srgbClr val="00549F"/>
          </a:solidFill>
        </p:spPr>
        <p:txBody>
          <a:bodyPr wrap="square" rtlCol="0" anchor="ctr">
            <a:spAutoFit/>
          </a:bodyPr>
          <a:lstStyle/>
          <a:p>
            <a:pPr algn="ctr"/>
            <a:r>
              <a:rPr lang="en-US" sz="1000" noProof="0" dirty="0">
                <a:solidFill>
                  <a:schemeClr val="bg1"/>
                </a:solidFill>
              </a:rPr>
              <a:t>Ageing     •     Models     •     Diagnostics     •     Pack Design     •     </a:t>
            </a:r>
            <a:r>
              <a:rPr lang="en-US" sz="1000" noProof="0" dirty="0" err="1">
                <a:solidFill>
                  <a:schemeClr val="bg1"/>
                </a:solidFill>
              </a:rPr>
              <a:t>Electromobility</a:t>
            </a:r>
            <a:r>
              <a:rPr lang="en-US" sz="1000" noProof="0" dirty="0">
                <a:solidFill>
                  <a:schemeClr val="bg1"/>
                </a:solidFill>
              </a:rPr>
              <a:t>     •     Stationary Energy Storage     •     Energy System Analysis</a:t>
            </a:r>
          </a:p>
        </p:txBody>
      </p:sp>
    </p:spTree>
    <p:extLst>
      <p:ext uri="{BB962C8B-B14F-4D97-AF65-F5344CB8AC3E}">
        <p14:creationId xmlns:p14="http://schemas.microsoft.com/office/powerpoint/2010/main" val="38585325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graphicFrame>
        <p:nvGraphicFramePr>
          <p:cNvPr id="23" name="Objekt 22" hidden="1">
            <a:extLst>
              <a:ext uri="{FF2B5EF4-FFF2-40B4-BE49-F238E27FC236}">
                <a16:creationId xmlns:a16="http://schemas.microsoft.com/office/drawing/2014/main" id="{82E43DA6-6AC1-9462-BF8C-A82E0366A897}"/>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23" name="Objekt 22" hidden="1">
                        <a:extLst>
                          <a:ext uri="{FF2B5EF4-FFF2-40B4-BE49-F238E27FC236}">
                            <a16:creationId xmlns:a16="http://schemas.microsoft.com/office/drawing/2014/main" id="{82E43DA6-6AC1-9462-BF8C-A82E0366A89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24" name="Grafik 23">
            <a:extLst>
              <a:ext uri="{FF2B5EF4-FFF2-40B4-BE49-F238E27FC236}">
                <a16:creationId xmlns:a16="http://schemas.microsoft.com/office/drawing/2014/main" id="{B32DBE17-1FC0-AB4B-95B0-6EFA7C1E6992}"/>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sp>
        <p:nvSpPr>
          <p:cNvPr id="19" name="Untertitel 2"/>
          <p:cNvSpPr txBox="1">
            <a:spLocks/>
          </p:cNvSpPr>
          <p:nvPr userDrawn="1"/>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baseline="0" noProof="0" dirty="0">
                <a:solidFill>
                  <a:schemeClr val="tx2"/>
                </a:solidFill>
              </a:rPr>
              <a:t>Center for Ageing, Reliability and Lifetime Prediction of Electrochemical and Power Electronic Systems (CARL)</a:t>
            </a:r>
            <a:endParaRPr lang="de-DE" sz="1400" b="1" noProof="0" dirty="0">
              <a:solidFill>
                <a:schemeClr val="tx2"/>
              </a:solidFill>
            </a:endParaRPr>
          </a:p>
        </p:txBody>
      </p:sp>
      <p:sp>
        <p:nvSpPr>
          <p:cNvPr id="14" name="Title 1"/>
          <p:cNvSpPr>
            <a:spLocks noGrp="1"/>
          </p:cNvSpPr>
          <p:nvPr>
            <p:ph type="ctrTitle" hasCustomPrompt="1"/>
          </p:nvPr>
        </p:nvSpPr>
        <p:spPr>
          <a:xfrm>
            <a:off x="383950" y="2487599"/>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dirty="0"/>
              <a:t>Titelmasterformat durch Klicken bearbeiten</a:t>
            </a:r>
            <a:endParaRPr lang="en-US" dirty="0"/>
          </a:p>
        </p:txBody>
      </p:sp>
      <p:sp>
        <p:nvSpPr>
          <p:cNvPr id="15" name="Subtitle 2"/>
          <p:cNvSpPr>
            <a:spLocks noGrp="1"/>
          </p:cNvSpPr>
          <p:nvPr>
            <p:ph type="subTitle" idx="1"/>
          </p:nvPr>
        </p:nvSpPr>
        <p:spPr>
          <a:xfrm>
            <a:off x="383950" y="3857624"/>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Formatvorlage des Untertitelmasters durch Klicken bearbeiten</a:t>
            </a:r>
            <a:endParaRPr lang="en-US" dirty="0"/>
          </a:p>
        </p:txBody>
      </p:sp>
      <p:sp>
        <p:nvSpPr>
          <p:cNvPr id="20" name="Fußzeilenplatzhalter 2"/>
          <p:cNvSpPr>
            <a:spLocks noGrp="1"/>
          </p:cNvSpPr>
          <p:nvPr>
            <p:ph type="ftr" sz="quarter" idx="11"/>
          </p:nvPr>
        </p:nvSpPr>
        <p:spPr>
          <a:xfrm>
            <a:off x="383950" y="4980225"/>
            <a:ext cx="11425513" cy="524824"/>
          </a:xfrm>
          <a:prstGeom prst="rect">
            <a:avLst/>
          </a:prstGeom>
        </p:spPr>
        <p:txBody>
          <a:bodyPr/>
          <a:lstStyle>
            <a:lvl1pPr>
              <a:defRPr sz="2000">
                <a:solidFill>
                  <a:schemeClr val="tx1"/>
                </a:solidFill>
              </a:defRPr>
            </a:lvl1pPr>
          </a:lstStyle>
          <a:p>
            <a:r>
              <a:rPr lang="en-US"/>
              <a:t>Dirk Uwe Sauer</a:t>
            </a:r>
            <a:endParaRPr lang="en-US" dirty="0"/>
          </a:p>
        </p:txBody>
      </p:sp>
      <p:sp>
        <p:nvSpPr>
          <p:cNvPr id="21" name="Datumsplatzhalter 1"/>
          <p:cNvSpPr>
            <a:spLocks noGrp="1"/>
          </p:cNvSpPr>
          <p:nvPr>
            <p:ph type="dt" sz="half" idx="12"/>
          </p:nvPr>
        </p:nvSpPr>
        <p:spPr>
          <a:xfrm>
            <a:off x="383950" y="4675425"/>
            <a:ext cx="11425513" cy="306150"/>
          </a:xfrm>
          <a:prstGeom prst="rect">
            <a:avLst/>
          </a:prstGeom>
        </p:spPr>
        <p:txBody>
          <a:bodyPr/>
          <a:lstStyle>
            <a:lvl1pPr algn="l">
              <a:defRPr sz="2000">
                <a:solidFill>
                  <a:schemeClr val="tx1"/>
                </a:solidFill>
              </a:defRPr>
            </a:lvl1pPr>
          </a:lstStyle>
          <a:p>
            <a:pPr algn="l"/>
            <a:fld id="{11769DE8-88E0-424A-87BD-6924D1146258}" type="datetime1">
              <a:rPr lang="de-DE" smtClean="0"/>
              <a:t>01.07.2026</a:t>
            </a:fld>
            <a:endParaRPr lang="de-DE" dirty="0"/>
          </a:p>
        </p:txBody>
      </p:sp>
      <p:pic>
        <p:nvPicPr>
          <p:cNvPr id="16" name="Grafik 15"/>
          <p:cNvPicPr>
            <a:picLocks noChangeAspect="1"/>
          </p:cNvPicPr>
          <p:nvPr userDrawn="1"/>
        </p:nvPicPr>
        <p:blipFill rotWithShape="1">
          <a:blip r:embed="rId6">
            <a:extLst>
              <a:ext uri="{28A0092B-C50C-407E-A947-70E740481C1C}">
                <a14:useLocalDpi xmlns:a14="http://schemas.microsoft.com/office/drawing/2010/main" val="0"/>
              </a:ext>
            </a:extLst>
          </a:blip>
          <a:srcRect t="28184" b="31438"/>
          <a:stretch/>
        </p:blipFill>
        <p:spPr>
          <a:xfrm>
            <a:off x="0" y="0"/>
            <a:ext cx="12190413" cy="2768838"/>
          </a:xfrm>
          <a:prstGeom prst="rect">
            <a:avLst/>
          </a:prstGeom>
        </p:spPr>
      </p:pic>
    </p:spTree>
    <p:extLst>
      <p:ext uri="{BB962C8B-B14F-4D97-AF65-F5344CB8AC3E}">
        <p14:creationId xmlns:p14="http://schemas.microsoft.com/office/powerpoint/2010/main" val="2057993884"/>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Variation">
    <p:spTree>
      <p:nvGrpSpPr>
        <p:cNvPr id="1" name=""/>
        <p:cNvGrpSpPr/>
        <p:nvPr/>
      </p:nvGrpSpPr>
      <p:grpSpPr>
        <a:xfrm>
          <a:off x="0" y="0"/>
          <a:ext cx="0" cy="0"/>
          <a:chOff x="0" y="0"/>
          <a:chExt cx="0" cy="0"/>
        </a:xfrm>
      </p:grpSpPr>
      <p:graphicFrame>
        <p:nvGraphicFramePr>
          <p:cNvPr id="2" name="Objekt 1" hidden="1">
            <a:extLst>
              <a:ext uri="{FF2B5EF4-FFF2-40B4-BE49-F238E27FC236}">
                <a16:creationId xmlns:a16="http://schemas.microsoft.com/office/drawing/2014/main" id="{C3EDB484-2CE3-6C17-125C-BA42A2A3B841}"/>
              </a:ext>
            </a:extLst>
          </p:cNvPr>
          <p:cNvGraphicFramePr>
            <a:graphicFrameLocks noChangeAspect="1"/>
          </p:cNvGraphicFramePr>
          <p:nvPr userDrawn="1">
            <p:custDataLst>
              <p:tags r:id="rId1"/>
            </p:custDataLst>
            <p:extLst>
              <p:ext uri="{D42A27DB-BD31-4B8C-83A1-F6EECF244321}">
                <p14:modId xmlns:p14="http://schemas.microsoft.com/office/powerpoint/2010/main" val="213118174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0" name="Untertitel 2"/>
          <p:cNvSpPr txBox="1">
            <a:spLocks/>
          </p:cNvSpPr>
          <p:nvPr/>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baseline="0" noProof="0" dirty="0">
                <a:solidFill>
                  <a:schemeClr val="tx2"/>
                </a:solidFill>
              </a:rPr>
              <a:t>Center for Ageing, Reliability and Lifetime Prediction of Electrochemical and Power Electronic Systems (CARL)</a:t>
            </a:r>
            <a:endParaRPr lang="de-DE" sz="1400" b="1" noProof="0" dirty="0">
              <a:solidFill>
                <a:schemeClr val="tx2"/>
              </a:solidFill>
            </a:endParaRPr>
          </a:p>
        </p:txBody>
      </p:sp>
      <p:pic>
        <p:nvPicPr>
          <p:cNvPr id="3" name="Grafik 2">
            <a:extLst>
              <a:ext uri="{FF2B5EF4-FFF2-40B4-BE49-F238E27FC236}">
                <a16:creationId xmlns:a16="http://schemas.microsoft.com/office/drawing/2014/main" id="{8BE732BF-45DE-7D5A-44D7-817BE9259449}"/>
              </a:ext>
            </a:extLst>
          </p:cNvPr>
          <p:cNvPicPr>
            <a:picLocks noChangeAspect="1"/>
          </p:cNvPicPr>
          <p:nvPr userDrawn="1"/>
        </p:nvPicPr>
        <p:blipFill rotWithShape="1">
          <a:blip r:embed="rId5" cstate="hqprint">
            <a:extLst>
              <a:ext uri="{28A0092B-C50C-407E-A947-70E740481C1C}">
                <a14:useLocalDpi xmlns:a14="http://schemas.microsoft.com/office/drawing/2010/main"/>
              </a:ext>
            </a:extLst>
          </a:blip>
          <a:srcRect/>
          <a:stretch/>
        </p:blipFill>
        <p:spPr>
          <a:xfrm>
            <a:off x="-1588" y="0"/>
            <a:ext cx="12192000" cy="2724150"/>
          </a:xfrm>
          <a:prstGeom prst="rect">
            <a:avLst/>
          </a:prstGeom>
        </p:spPr>
      </p:pic>
      <p:sp>
        <p:nvSpPr>
          <p:cNvPr id="4" name="Title 1">
            <a:extLst>
              <a:ext uri="{FF2B5EF4-FFF2-40B4-BE49-F238E27FC236}">
                <a16:creationId xmlns:a16="http://schemas.microsoft.com/office/drawing/2014/main" id="{D5D779DE-3A3C-0111-74C8-682A0D82849A}"/>
              </a:ext>
            </a:extLst>
          </p:cNvPr>
          <p:cNvSpPr>
            <a:spLocks noGrp="1"/>
          </p:cNvSpPr>
          <p:nvPr>
            <p:ph type="ctrTitle"/>
          </p:nvPr>
        </p:nvSpPr>
        <p:spPr>
          <a:xfrm>
            <a:off x="383950" y="2725724"/>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dirty="0"/>
              <a:t>Mastertitelformat bearbeiten</a:t>
            </a:r>
            <a:endParaRPr lang="en-US" dirty="0"/>
          </a:p>
        </p:txBody>
      </p:sp>
      <p:sp>
        <p:nvSpPr>
          <p:cNvPr id="5" name="Subtitle 2">
            <a:extLst>
              <a:ext uri="{FF2B5EF4-FFF2-40B4-BE49-F238E27FC236}">
                <a16:creationId xmlns:a16="http://schemas.microsoft.com/office/drawing/2014/main" id="{04D60B6E-B296-5ECC-8210-452542903AF3}"/>
              </a:ext>
            </a:extLst>
          </p:cNvPr>
          <p:cNvSpPr>
            <a:spLocks noGrp="1"/>
          </p:cNvSpPr>
          <p:nvPr>
            <p:ph type="subTitle" idx="1"/>
          </p:nvPr>
        </p:nvSpPr>
        <p:spPr>
          <a:xfrm>
            <a:off x="383950" y="4095749"/>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6" name="Fußzeilenplatzhalter 2">
            <a:extLst>
              <a:ext uri="{FF2B5EF4-FFF2-40B4-BE49-F238E27FC236}">
                <a16:creationId xmlns:a16="http://schemas.microsoft.com/office/drawing/2014/main" id="{A11F7A1D-4159-1199-CB01-7609847A8965}"/>
              </a:ext>
            </a:extLst>
          </p:cNvPr>
          <p:cNvSpPr>
            <a:spLocks noGrp="1"/>
          </p:cNvSpPr>
          <p:nvPr>
            <p:ph type="ftr" sz="quarter" idx="11"/>
          </p:nvPr>
        </p:nvSpPr>
        <p:spPr>
          <a:xfrm>
            <a:off x="383950" y="5218350"/>
            <a:ext cx="11425513" cy="524824"/>
          </a:xfrm>
        </p:spPr>
        <p:txBody>
          <a:bodyPr/>
          <a:lstStyle>
            <a:lvl1pPr>
              <a:defRPr sz="2000">
                <a:solidFill>
                  <a:schemeClr val="tx1"/>
                </a:solidFill>
              </a:defRPr>
            </a:lvl1pPr>
          </a:lstStyle>
          <a:p>
            <a:r>
              <a:rPr lang="en-US" dirty="0"/>
              <a:t>Dirk Uwe Sauer</a:t>
            </a:r>
          </a:p>
        </p:txBody>
      </p:sp>
      <p:sp>
        <p:nvSpPr>
          <p:cNvPr id="8" name="Datumsplatzhalter 1">
            <a:extLst>
              <a:ext uri="{FF2B5EF4-FFF2-40B4-BE49-F238E27FC236}">
                <a16:creationId xmlns:a16="http://schemas.microsoft.com/office/drawing/2014/main" id="{A90B5ED5-559A-FC0F-F718-676A02DA7743}"/>
              </a:ext>
            </a:extLst>
          </p:cNvPr>
          <p:cNvSpPr>
            <a:spLocks noGrp="1"/>
          </p:cNvSpPr>
          <p:nvPr>
            <p:ph type="dt" sz="half" idx="12"/>
          </p:nvPr>
        </p:nvSpPr>
        <p:spPr>
          <a:xfrm>
            <a:off x="383950" y="4913550"/>
            <a:ext cx="11425513" cy="306150"/>
          </a:xfrm>
        </p:spPr>
        <p:txBody>
          <a:bodyPr/>
          <a:lstStyle>
            <a:lvl1pPr algn="l">
              <a:defRPr sz="2000">
                <a:solidFill>
                  <a:schemeClr val="tx1"/>
                </a:solidFill>
              </a:defRPr>
            </a:lvl1pPr>
          </a:lstStyle>
          <a:p>
            <a:pPr algn="l"/>
            <a:fld id="{6D3069C6-0311-4A39-8CC1-DA405FE38D0C}" type="datetime1">
              <a:rPr lang="de-DE" smtClean="0"/>
              <a:t>01.07.2026</a:t>
            </a:fld>
            <a:endParaRPr lang="de-DE" dirty="0"/>
          </a:p>
        </p:txBody>
      </p:sp>
      <p:pic>
        <p:nvPicPr>
          <p:cNvPr id="12" name="Grafik 11">
            <a:extLst>
              <a:ext uri="{FF2B5EF4-FFF2-40B4-BE49-F238E27FC236}">
                <a16:creationId xmlns:a16="http://schemas.microsoft.com/office/drawing/2014/main" id="{D686527B-99CF-A07F-F7C2-A9F2E7502B78}"/>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spTree>
    <p:extLst>
      <p:ext uri="{BB962C8B-B14F-4D97-AF65-F5344CB8AC3E}">
        <p14:creationId xmlns:p14="http://schemas.microsoft.com/office/powerpoint/2010/main" val="41145211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Final Slide">
    <p:spTree>
      <p:nvGrpSpPr>
        <p:cNvPr id="1" name=""/>
        <p:cNvGrpSpPr/>
        <p:nvPr/>
      </p:nvGrpSpPr>
      <p:grpSpPr>
        <a:xfrm>
          <a:off x="0" y="0"/>
          <a:ext cx="0" cy="0"/>
          <a:chOff x="0" y="0"/>
          <a:chExt cx="0" cy="0"/>
        </a:xfrm>
      </p:grpSpPr>
      <p:sp>
        <p:nvSpPr>
          <p:cNvPr id="13" name="Title 1"/>
          <p:cNvSpPr txBox="1">
            <a:spLocks/>
          </p:cNvSpPr>
          <p:nvPr/>
        </p:nvSpPr>
        <p:spPr>
          <a:xfrm>
            <a:off x="383068" y="801688"/>
            <a:ext cx="11424279" cy="1079500"/>
          </a:xfrm>
          <a:prstGeom prst="rect">
            <a:avLst/>
          </a:prstGeom>
        </p:spPr>
        <p:txBody>
          <a:bodyPr lIns="0" tIns="0" rIns="0" bIns="0"/>
          <a:lstStyle>
            <a:lvl1pPr algn="l" defTabSz="914400" rtl="0" eaLnBrk="1" latinLnBrk="0" hangingPunct="1">
              <a:lnSpc>
                <a:spcPct val="90000"/>
              </a:lnSpc>
              <a:spcBef>
                <a:spcPct val="0"/>
              </a:spcBef>
              <a:buNone/>
              <a:defRPr sz="3200" b="1" kern="1200" baseline="0">
                <a:solidFill>
                  <a:schemeClr val="tx2"/>
                </a:solidFill>
                <a:latin typeface="Arial" panose="020B0604020202020204" pitchFamily="34" charset="0"/>
                <a:ea typeface="+mj-ea"/>
                <a:cs typeface="Arial" panose="020B0604020202020204" pitchFamily="34" charset="0"/>
              </a:defRPr>
            </a:lvl1pPr>
          </a:lstStyle>
          <a:p>
            <a:pPr fontAlgn="auto">
              <a:spcAft>
                <a:spcPts val="0"/>
              </a:spcAft>
              <a:defRPr/>
            </a:pPr>
            <a:r>
              <a:rPr lang="en-US" noProof="0" dirty="0"/>
              <a:t>Thank you</a:t>
            </a:r>
            <a:br>
              <a:rPr lang="en-US" noProof="0" dirty="0"/>
            </a:br>
            <a:r>
              <a:rPr lang="en-US" noProof="0" dirty="0"/>
              <a:t>for your attention</a:t>
            </a:r>
          </a:p>
        </p:txBody>
      </p:sp>
      <p:cxnSp>
        <p:nvCxnSpPr>
          <p:cNvPr id="18" name="Gerader Verbinder 11"/>
          <p:cNvCxnSpPr/>
          <p:nvPr/>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6249086" y="2124077"/>
            <a:ext cx="5561876" cy="3754800"/>
          </a:xfrm>
          <a:prstGeom prst="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0" name="Rechteck 19"/>
          <p:cNvSpPr/>
          <p:nvPr/>
        </p:nvSpPr>
        <p:spPr>
          <a:xfrm>
            <a:off x="392649" y="2124076"/>
            <a:ext cx="5561876" cy="3756660"/>
          </a:xfrm>
          <a:prstGeom prst="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21" name="Grafik 20"/>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955573" y="4878751"/>
            <a:ext cx="952500" cy="952500"/>
          </a:xfrm>
          <a:prstGeom prst="rect">
            <a:avLst/>
          </a:prstGeom>
        </p:spPr>
      </p:pic>
      <p:sp>
        <p:nvSpPr>
          <p:cNvPr id="22" name="Textplatzhalter 3"/>
          <p:cNvSpPr txBox="1">
            <a:spLocks/>
          </p:cNvSpPr>
          <p:nvPr/>
        </p:nvSpPr>
        <p:spPr>
          <a:xfrm>
            <a:off x="392649" y="2133599"/>
            <a:ext cx="5561876" cy="3745278"/>
          </a:xfrm>
          <a:prstGeom prst="rect">
            <a:avLst/>
          </a:prstGeom>
        </p:spPr>
        <p:txBody>
          <a:bodyPr lIns="90000" tIns="36000" rIns="90000" bIns="36000"/>
          <a:lstStyle>
            <a:lvl1pPr marL="0" indent="0" algn="l" defTabSz="216000" rtl="0" eaLnBrk="1" fontAlgn="base" hangingPunct="1">
              <a:lnSpc>
                <a:spcPct val="100000"/>
              </a:lnSpc>
              <a:spcBef>
                <a:spcPts val="0"/>
              </a:spcBef>
              <a:spcAft>
                <a:spcPct val="0"/>
              </a:spcAft>
              <a:buClr>
                <a:schemeClr val="tx2"/>
              </a:buClr>
              <a:buFont typeface="Arial" panose="020B0604020202020204" pitchFamily="34" charset="0"/>
              <a:buNone/>
              <a:tabLst>
                <a:tab pos="216000" algn="l"/>
              </a:tabLst>
              <a:defRPr sz="1600" b="1"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8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Contact</a:t>
            </a:r>
            <a:endParaRPr kumimoji="0" lang="en-US" sz="14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Chair for Electrochemical Energy Conversion</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and Storage Systems</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Univ.-Prof. Dr. </a:t>
            </a:r>
            <a:r>
              <a:rPr kumimoji="0" lang="en-US" sz="1400" b="0" i="0" u="none" strike="noStrike" kern="1200" cap="none" spc="0" normalizeH="0" baseline="0" noProof="0" dirty="0" err="1">
                <a:ln>
                  <a:noFill/>
                </a:ln>
                <a:solidFill>
                  <a:sysClr val="windowText" lastClr="000000"/>
                </a:solidFill>
                <a:effectLst/>
                <a:uLnTx/>
                <a:uFillTx/>
                <a:latin typeface="Arial" panose="020B0604020202020204" pitchFamily="34" charset="0"/>
                <a:ea typeface="+mn-ea"/>
                <a:cs typeface="Arial" panose="020B0604020202020204" pitchFamily="34" charset="0"/>
              </a:rPr>
              <a:t>rer</a:t>
            </a: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nat. Dirk Uwe Sauer</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RWTH Aachen University</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Campus-Boulevard 89</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52074 Aachen</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GERMANY</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www.isea.rwth-aachen.de</a:t>
            </a:r>
            <a:endParaRPr kumimoji="0" lang="en-US" sz="12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23" name="Textplatzhalter 3"/>
          <p:cNvSpPr txBox="1">
            <a:spLocks/>
          </p:cNvSpPr>
          <p:nvPr/>
        </p:nvSpPr>
        <p:spPr>
          <a:xfrm>
            <a:off x="6245471" y="2133599"/>
            <a:ext cx="5561876" cy="3745278"/>
          </a:xfrm>
          <a:prstGeom prst="rect">
            <a:avLst/>
          </a:prstGeom>
        </p:spPr>
        <p:txBody>
          <a:bodyPr lIns="90000" tIns="36000" rIns="90000" bIns="36000"/>
          <a:lstStyle>
            <a:lvl1pPr marL="0" indent="0" algn="l" defTabSz="216000" rtl="0" eaLnBrk="1" fontAlgn="base" hangingPunct="1">
              <a:lnSpc>
                <a:spcPct val="100000"/>
              </a:lnSpc>
              <a:spcBef>
                <a:spcPts val="0"/>
              </a:spcBef>
              <a:spcAft>
                <a:spcPct val="0"/>
              </a:spcAft>
              <a:buClr>
                <a:schemeClr val="tx2"/>
              </a:buClr>
              <a:buFont typeface="Arial" panose="020B0604020202020204" pitchFamily="34" charset="0"/>
              <a:buNone/>
              <a:tabLst>
                <a:tab pos="216000" algn="l"/>
              </a:tabLst>
              <a:defRPr sz="1600" b="1"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8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We thank</a:t>
            </a:r>
            <a:endParaRPr kumimoji="0" lang="en-US" sz="14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24" name="Textplatzhalter 23"/>
          <p:cNvSpPr>
            <a:spLocks noGrp="1"/>
          </p:cNvSpPr>
          <p:nvPr>
            <p:ph type="body" sz="quarter" idx="10" hasCustomPrompt="1"/>
          </p:nvPr>
        </p:nvSpPr>
        <p:spPr>
          <a:xfrm>
            <a:off x="392649" y="2828926"/>
            <a:ext cx="3886694" cy="733425"/>
          </a:xfrm>
          <a:prstGeom prst="rect">
            <a:avLst/>
          </a:prstGeom>
        </p:spPr>
        <p:txBody>
          <a:bodyPr/>
          <a:lstStyle>
            <a:lvl1pPr marL="0" marR="0" indent="0" algn="l" defTabSz="215900" rtl="0" eaLnBrk="1" fontAlgn="base" latinLnBrk="0" hangingPunct="1">
              <a:lnSpc>
                <a:spcPct val="100000"/>
              </a:lnSpc>
              <a:spcBef>
                <a:spcPct val="0"/>
              </a:spcBef>
              <a:spcAft>
                <a:spcPct val="0"/>
              </a:spcAft>
              <a:buClr>
                <a:schemeClr val="tx2"/>
              </a:buClr>
              <a:buSzTx/>
              <a:buFont typeface="Arial" charset="0"/>
              <a:buNone/>
              <a:tabLst>
                <a:tab pos="215900" algn="l"/>
              </a:tabLst>
              <a:defRPr sz="1400" b="0" baseline="0"/>
            </a:lvl1pPr>
          </a:lstStyle>
          <a:p>
            <a:pPr lvl="0"/>
            <a:r>
              <a:rPr lang="de-DE" noProof="0" dirty="0"/>
              <a:t>Tel.: +49 241 80-XXXXX</a:t>
            </a:r>
            <a:br>
              <a:rPr lang="de-DE" noProof="0" dirty="0"/>
            </a:br>
            <a:r>
              <a:rPr lang="de-DE" noProof="0" dirty="0"/>
              <a:t>xxx@isea.rwth-aachen.de</a:t>
            </a:r>
            <a:br>
              <a:rPr lang="de-DE" noProof="0" dirty="0"/>
            </a:br>
            <a:r>
              <a:rPr lang="de-DE" noProof="0" dirty="0"/>
              <a:t>batteries@isea.rwth-aachen.de</a:t>
            </a:r>
          </a:p>
        </p:txBody>
      </p:sp>
      <p:sp>
        <p:nvSpPr>
          <p:cNvPr id="26" name="Fußzeilenplatzhalter 27"/>
          <p:cNvSpPr>
            <a:spLocks noGrp="1"/>
          </p:cNvSpPr>
          <p:nvPr>
            <p:ph type="ftr" sz="quarter" idx="13"/>
          </p:nvPr>
        </p:nvSpPr>
        <p:spPr>
          <a:xfrm>
            <a:off x="392649" y="2570401"/>
            <a:ext cx="3886694" cy="334725"/>
          </a:xfrm>
          <a:prstGeom prst="rect">
            <a:avLst/>
          </a:prstGeom>
        </p:spPr>
        <p:txBody>
          <a:bodyPr lIns="90000" tIns="90000" rIns="90000" bIns="90000"/>
          <a:lstStyle>
            <a:lvl1pPr>
              <a:defRPr sz="1400" b="1">
                <a:solidFill>
                  <a:schemeClr val="tx1"/>
                </a:solidFill>
              </a:defRPr>
            </a:lvl1pPr>
          </a:lstStyle>
          <a:p>
            <a:r>
              <a:rPr lang="en-US"/>
              <a:t>Dirk Uwe Sauer</a:t>
            </a:r>
            <a:endParaRPr lang="en-US" dirty="0"/>
          </a:p>
        </p:txBody>
      </p:sp>
      <p:sp>
        <p:nvSpPr>
          <p:cNvPr id="17" name="Bildplatzhalter 25"/>
          <p:cNvSpPr>
            <a:spLocks noGrp="1"/>
          </p:cNvSpPr>
          <p:nvPr>
            <p:ph type="pic" sz="quarter" idx="11" hasCustomPrompt="1"/>
          </p:nvPr>
        </p:nvSpPr>
        <p:spPr>
          <a:xfrm>
            <a:off x="4811297" y="2124075"/>
            <a:ext cx="1137452" cy="1462628"/>
          </a:xfrm>
          <a:prstGeom prst="rect">
            <a:avLst/>
          </a:prstGeom>
        </p:spPr>
        <p:txBody>
          <a:bodyPr/>
          <a:lstStyle>
            <a:lvl1pPr marL="0" indent="0">
              <a:buNone/>
              <a:defRPr sz="1400" baseline="0"/>
            </a:lvl1pPr>
          </a:lstStyle>
          <a:p>
            <a:r>
              <a:rPr lang="de-DE" dirty="0"/>
              <a:t>Eigenes Foto durch Klicken hinzufügen</a:t>
            </a:r>
            <a:endParaRPr lang="en-US" dirty="0"/>
          </a:p>
        </p:txBody>
      </p:sp>
      <p:sp>
        <p:nvSpPr>
          <p:cNvPr id="25" name="Bildplatzhalter 30"/>
          <p:cNvSpPr>
            <a:spLocks noGrp="1"/>
          </p:cNvSpPr>
          <p:nvPr>
            <p:ph type="pic" sz="quarter" idx="14" hasCustomPrompt="1"/>
          </p:nvPr>
        </p:nvSpPr>
        <p:spPr>
          <a:xfrm>
            <a:off x="6361869" y="2571750"/>
            <a:ext cx="2591663" cy="1548000"/>
          </a:xfrm>
          <a:prstGeom prst="rect">
            <a:avLst/>
          </a:prstGeom>
        </p:spPr>
        <p:txBody>
          <a:bodyPr/>
          <a:lstStyle>
            <a:lvl1pPr>
              <a:defRPr/>
            </a:lvl1pPr>
          </a:lstStyle>
          <a:p>
            <a:r>
              <a:rPr lang="de-DE" dirty="0"/>
              <a:t>Partnerlogo durch Klicken hinzufügen</a:t>
            </a:r>
            <a:endParaRPr lang="en-US" dirty="0"/>
          </a:p>
        </p:txBody>
      </p:sp>
      <p:sp>
        <p:nvSpPr>
          <p:cNvPr id="27" name="Bildplatzhalter 30"/>
          <p:cNvSpPr>
            <a:spLocks noGrp="1"/>
          </p:cNvSpPr>
          <p:nvPr>
            <p:ph type="pic" sz="quarter" idx="15" hasCustomPrompt="1"/>
          </p:nvPr>
        </p:nvSpPr>
        <p:spPr>
          <a:xfrm>
            <a:off x="9092013" y="2571750"/>
            <a:ext cx="2591663" cy="1548000"/>
          </a:xfrm>
          <a:prstGeom prst="rect">
            <a:avLst/>
          </a:prstGeom>
        </p:spPr>
        <p:txBody>
          <a:bodyPr/>
          <a:lstStyle>
            <a:lvl1pPr>
              <a:defRPr/>
            </a:lvl1pPr>
          </a:lstStyle>
          <a:p>
            <a:r>
              <a:rPr lang="de-DE" dirty="0"/>
              <a:t>Partnerlogo durch Klicken hinzufügen</a:t>
            </a:r>
            <a:endParaRPr lang="en-US" dirty="0"/>
          </a:p>
        </p:txBody>
      </p:sp>
      <p:sp>
        <p:nvSpPr>
          <p:cNvPr id="28" name="Bildplatzhalter 30"/>
          <p:cNvSpPr>
            <a:spLocks noGrp="1"/>
          </p:cNvSpPr>
          <p:nvPr>
            <p:ph type="pic" sz="quarter" idx="16" hasCustomPrompt="1"/>
          </p:nvPr>
        </p:nvSpPr>
        <p:spPr>
          <a:xfrm>
            <a:off x="6361869" y="4229100"/>
            <a:ext cx="2591663" cy="1548000"/>
          </a:xfrm>
          <a:prstGeom prst="rect">
            <a:avLst/>
          </a:prstGeom>
        </p:spPr>
        <p:txBody>
          <a:bodyPr/>
          <a:lstStyle>
            <a:lvl1pPr>
              <a:defRPr/>
            </a:lvl1pPr>
          </a:lstStyle>
          <a:p>
            <a:r>
              <a:rPr lang="de-DE" dirty="0"/>
              <a:t>Partnerlogo durch Klicken hinzufügen</a:t>
            </a:r>
            <a:endParaRPr lang="en-US" dirty="0"/>
          </a:p>
        </p:txBody>
      </p:sp>
      <p:sp>
        <p:nvSpPr>
          <p:cNvPr id="29" name="Bildplatzhalter 30"/>
          <p:cNvSpPr>
            <a:spLocks noGrp="1"/>
          </p:cNvSpPr>
          <p:nvPr>
            <p:ph type="pic" sz="quarter" idx="17" hasCustomPrompt="1"/>
          </p:nvPr>
        </p:nvSpPr>
        <p:spPr>
          <a:xfrm>
            <a:off x="9092013" y="4229100"/>
            <a:ext cx="2591663" cy="1548000"/>
          </a:xfrm>
          <a:prstGeom prst="rect">
            <a:avLst/>
          </a:prstGeom>
        </p:spPr>
        <p:txBody>
          <a:bodyPr/>
          <a:lstStyle>
            <a:lvl1pPr>
              <a:defRPr/>
            </a:lvl1pPr>
          </a:lstStyle>
          <a:p>
            <a:r>
              <a:rPr lang="de-DE" dirty="0"/>
              <a:t>Partnerlogo durch Klicken hinzufügen</a:t>
            </a:r>
            <a:endParaRPr lang="en-US" dirty="0"/>
          </a:p>
        </p:txBody>
      </p:sp>
      <p:cxnSp>
        <p:nvCxnSpPr>
          <p:cNvPr id="30" name="Gerader Verbinder 11"/>
          <p:cNvCxnSpPr/>
          <p:nvPr userDrawn="1"/>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Grafik 1">
            <a:extLst>
              <a:ext uri="{FF2B5EF4-FFF2-40B4-BE49-F238E27FC236}">
                <a16:creationId xmlns:a16="http://schemas.microsoft.com/office/drawing/2014/main" id="{9D388EB2-BD7A-50B3-165B-BE2F2ECD83D6}"/>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9137882" y="6205415"/>
            <a:ext cx="2778300" cy="655200"/>
          </a:xfrm>
          <a:prstGeom prst="rect">
            <a:avLst/>
          </a:prstGeom>
        </p:spPr>
      </p:pic>
    </p:spTree>
    <p:extLst>
      <p:ext uri="{BB962C8B-B14F-4D97-AF65-F5344CB8AC3E}">
        <p14:creationId xmlns:p14="http://schemas.microsoft.com/office/powerpoint/2010/main" val="1140566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mp; 1 Content">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Titelmasterformat durch Klicken bearbeiten</a:t>
            </a:r>
            <a:endParaRPr lang="en-US" dirty="0"/>
          </a:p>
        </p:txBody>
      </p:sp>
      <p:sp>
        <p:nvSpPr>
          <p:cNvPr id="7" name="Inhaltsplatzhalter 2"/>
          <p:cNvSpPr>
            <a:spLocks noGrp="1"/>
          </p:cNvSpPr>
          <p:nvPr>
            <p:ph idx="1"/>
          </p:nvPr>
        </p:nvSpPr>
        <p:spPr>
          <a:xfrm>
            <a:off x="383950" y="1151999"/>
            <a:ext cx="11422513"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2" name="Datumsplatzhalter 1"/>
          <p:cNvSpPr>
            <a:spLocks noGrp="1"/>
          </p:cNvSpPr>
          <p:nvPr>
            <p:ph type="dt" sz="half" idx="10"/>
          </p:nvPr>
        </p:nvSpPr>
        <p:spPr/>
        <p:txBody>
          <a:bodyPr/>
          <a:lstStyle>
            <a:lvl1pPr algn="l">
              <a:defRPr/>
            </a:lvl1pPr>
          </a:lstStyle>
          <a:p>
            <a:pPr algn="l"/>
            <a:fld id="{74486B41-BCE2-48B7-876C-2B3490450D97}" type="datetime1">
              <a:rPr lang="de-DE" smtClean="0"/>
              <a:t>01.07.2026</a:t>
            </a:fld>
            <a:endParaRPr lang="de-DE" dirty="0"/>
          </a:p>
        </p:txBody>
      </p:sp>
      <p:sp>
        <p:nvSpPr>
          <p:cNvPr id="3" name="Fußzeilenplatzhalter 2"/>
          <p:cNvSpPr>
            <a:spLocks noGrp="1"/>
          </p:cNvSpPr>
          <p:nvPr>
            <p:ph type="ftr" sz="quarter" idx="11"/>
          </p:nvPr>
        </p:nvSpPr>
        <p:spPr/>
        <p:txBody>
          <a:bodyPr/>
          <a:lstStyle/>
          <a:p>
            <a:r>
              <a:rPr lang="en-US"/>
              <a:t>Dirk Uwe Sauer</a:t>
            </a:r>
            <a:endParaRPr lang="en-US" dirty="0"/>
          </a:p>
        </p:txBody>
      </p:sp>
      <p:sp>
        <p:nvSpPr>
          <p:cNvPr id="4" name="Foliennummernplatzhalter 3"/>
          <p:cNvSpPr>
            <a:spLocks noGrp="1"/>
          </p:cNvSpPr>
          <p:nvPr>
            <p:ph type="sldNum" sz="quarter" idx="12"/>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15333715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mp; 2 Contents">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Titelmasterformat durch Klicken bearbeiten</a:t>
            </a:r>
            <a:endParaRPr lang="en-US" dirty="0"/>
          </a:p>
        </p:txBody>
      </p:sp>
      <p:sp>
        <p:nvSpPr>
          <p:cNvPr id="10" name="Inhaltsplatzhalter 2"/>
          <p:cNvSpPr>
            <a:spLocks noGrp="1"/>
          </p:cNvSpPr>
          <p:nvPr>
            <p:ph idx="1"/>
          </p:nvPr>
        </p:nvSpPr>
        <p:spPr>
          <a:xfrm>
            <a:off x="383950" y="1151999"/>
            <a:ext cx="5620068"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11" name="Inhaltsplatzhalter 2"/>
          <p:cNvSpPr>
            <a:spLocks noGrp="1"/>
          </p:cNvSpPr>
          <p:nvPr>
            <p:ph idx="13"/>
          </p:nvPr>
        </p:nvSpPr>
        <p:spPr>
          <a:xfrm>
            <a:off x="6191194" y="1151999"/>
            <a:ext cx="5620068"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3" name="Datumsplatzhalter 2"/>
          <p:cNvSpPr>
            <a:spLocks noGrp="1"/>
          </p:cNvSpPr>
          <p:nvPr>
            <p:ph type="dt" sz="half" idx="14"/>
          </p:nvPr>
        </p:nvSpPr>
        <p:spPr/>
        <p:txBody>
          <a:bodyPr/>
          <a:lstStyle>
            <a:lvl1pPr algn="l">
              <a:defRPr/>
            </a:lvl1pPr>
          </a:lstStyle>
          <a:p>
            <a:pPr algn="l"/>
            <a:fld id="{85D6FCC3-EE37-4749-9624-859AF44EE717}" type="datetime1">
              <a:rPr lang="de-DE" smtClean="0"/>
              <a:t>01.07.2026</a:t>
            </a:fld>
            <a:endParaRPr lang="de-DE" dirty="0"/>
          </a:p>
        </p:txBody>
      </p:sp>
      <p:sp>
        <p:nvSpPr>
          <p:cNvPr id="4" name="Fußzeilenplatzhalter 3"/>
          <p:cNvSpPr>
            <a:spLocks noGrp="1"/>
          </p:cNvSpPr>
          <p:nvPr>
            <p:ph type="ftr" sz="quarter" idx="15"/>
          </p:nvPr>
        </p:nvSpPr>
        <p:spPr/>
        <p:txBody>
          <a:bodyPr/>
          <a:lstStyle/>
          <a:p>
            <a:r>
              <a:rPr lang="en-US"/>
              <a:t>Dirk Uwe Sauer</a:t>
            </a:r>
            <a:endParaRPr lang="en-US" dirty="0"/>
          </a:p>
        </p:txBody>
      </p:sp>
      <p:sp>
        <p:nvSpPr>
          <p:cNvPr id="5" name="Foliennummernplatzhalter 4"/>
          <p:cNvSpPr>
            <a:spLocks noGrp="1"/>
          </p:cNvSpPr>
          <p:nvPr>
            <p:ph type="sldNum" sz="quarter" idx="16"/>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13205189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lte Only">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Titelmasterformat durch Klicken bearbeiten</a:t>
            </a:r>
            <a:endParaRPr lang="en-US" dirty="0"/>
          </a:p>
        </p:txBody>
      </p:sp>
      <p:sp>
        <p:nvSpPr>
          <p:cNvPr id="2" name="Datumsplatzhalter 1"/>
          <p:cNvSpPr>
            <a:spLocks noGrp="1"/>
          </p:cNvSpPr>
          <p:nvPr>
            <p:ph type="dt" sz="half" idx="10"/>
          </p:nvPr>
        </p:nvSpPr>
        <p:spPr/>
        <p:txBody>
          <a:bodyPr/>
          <a:lstStyle>
            <a:lvl1pPr algn="l">
              <a:defRPr/>
            </a:lvl1pPr>
          </a:lstStyle>
          <a:p>
            <a:pPr algn="l"/>
            <a:fld id="{E47FF345-F1B3-44B8-9B74-D6676F7F0EE5}" type="datetime1">
              <a:rPr lang="de-DE" smtClean="0"/>
              <a:t>01.07.2026</a:t>
            </a:fld>
            <a:endParaRPr lang="de-DE" dirty="0"/>
          </a:p>
        </p:txBody>
      </p:sp>
      <p:sp>
        <p:nvSpPr>
          <p:cNvPr id="3" name="Fußzeilenplatzhalter 2"/>
          <p:cNvSpPr>
            <a:spLocks noGrp="1"/>
          </p:cNvSpPr>
          <p:nvPr>
            <p:ph type="ftr" sz="quarter" idx="11"/>
          </p:nvPr>
        </p:nvSpPr>
        <p:spPr/>
        <p:txBody>
          <a:bodyPr/>
          <a:lstStyle/>
          <a:p>
            <a:r>
              <a:rPr lang="en-US"/>
              <a:t>Dirk Uwe Sauer</a:t>
            </a:r>
            <a:endParaRPr lang="en-US" dirty="0"/>
          </a:p>
        </p:txBody>
      </p:sp>
      <p:sp>
        <p:nvSpPr>
          <p:cNvPr id="4" name="Foliennummernplatzhalter 3"/>
          <p:cNvSpPr>
            <a:spLocks noGrp="1"/>
          </p:cNvSpPr>
          <p:nvPr>
            <p:ph type="sldNum" sz="quarter" idx="12"/>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3406932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emf"/><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image" Target="../media/image2.emf"/><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image" Target="../media/image1.emf"/><Relationship Id="rId5" Type="http://schemas.openxmlformats.org/officeDocument/2006/relationships/slideLayout" Target="../slideLayouts/slideLayout11.xml"/><Relationship Id="rId10" Type="http://schemas.openxmlformats.org/officeDocument/2006/relationships/oleObject" Target="../embeddings/oleObject4.bin"/><Relationship Id="rId4" Type="http://schemas.openxmlformats.org/officeDocument/2006/relationships/slideLayout" Target="../slideLayouts/slideLayout10.xml"/><Relationship Id="rId9" Type="http://schemas.openxmlformats.org/officeDocument/2006/relationships/tags" Target="../tags/tag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DF31D6FB-46A3-060B-CC19-E16CA508FD80}"/>
              </a:ext>
            </a:extLst>
          </p:cNvPr>
          <p:cNvGraphicFramePr>
            <a:graphicFrameLocks noChangeAspect="1"/>
          </p:cNvGraphicFramePr>
          <p:nvPr userDrawn="1">
            <p:custDataLst>
              <p:tags r:id="rId8"/>
            </p:custDataLst>
            <p:extLst>
              <p:ext uri="{D42A27DB-BD31-4B8C-83A1-F6EECF244321}">
                <p14:modId xmlns:p14="http://schemas.microsoft.com/office/powerpoint/2010/main" val="35262956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9" imgW="347" imgH="348" progId="TCLayout.ActiveDocument.1">
                  <p:embed/>
                </p:oleObj>
              </mc:Choice>
              <mc:Fallback>
                <p:oleObj name="think-cell Folie" r:id="rId9" imgW="347" imgH="348"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cxnSp>
        <p:nvCxnSpPr>
          <p:cNvPr id="11" name="Gerader Verbinder 10"/>
          <p:cNvCxnSpPr/>
          <p:nvPr/>
        </p:nvCxnSpPr>
        <p:spPr>
          <a:xfrm>
            <a:off x="383068" y="814388"/>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Datumsplatzhalter 1"/>
          <p:cNvSpPr>
            <a:spLocks noGrp="1"/>
          </p:cNvSpPr>
          <p:nvPr>
            <p:ph type="dt" sz="half" idx="2"/>
          </p:nvPr>
        </p:nvSpPr>
        <p:spPr>
          <a:xfrm>
            <a:off x="935480" y="6361350"/>
            <a:ext cx="5668062" cy="524824"/>
          </a:xfrm>
          <a:prstGeom prst="rect">
            <a:avLst/>
          </a:prstGeom>
        </p:spPr>
        <p:txBody>
          <a:bodyPr vert="horz" lIns="0" tIns="0" rIns="0" bIns="0" rtlCol="0" anchor="t"/>
          <a:lstStyle>
            <a:lvl1pPr algn="l">
              <a:defRPr sz="1100" b="0">
                <a:solidFill>
                  <a:schemeClr val="tx2"/>
                </a:solidFill>
              </a:defRPr>
            </a:lvl1pPr>
          </a:lstStyle>
          <a:p>
            <a:fld id="{D35072EC-9367-4D7B-8652-6A082F0A7E89}" type="datetime1">
              <a:rPr lang="de-DE" smtClean="0"/>
              <a:t>01.07.2026</a:t>
            </a:fld>
            <a:endParaRPr lang="de-DE" dirty="0"/>
          </a:p>
        </p:txBody>
      </p:sp>
      <p:sp>
        <p:nvSpPr>
          <p:cNvPr id="3" name="Fußzeilenplatzhalter 2"/>
          <p:cNvSpPr>
            <a:spLocks noGrp="1"/>
          </p:cNvSpPr>
          <p:nvPr>
            <p:ph type="ftr" sz="quarter" idx="3"/>
          </p:nvPr>
        </p:nvSpPr>
        <p:spPr>
          <a:xfrm>
            <a:off x="1818425" y="6361350"/>
            <a:ext cx="4391428" cy="524824"/>
          </a:xfrm>
          <a:prstGeom prst="rect">
            <a:avLst/>
          </a:prstGeom>
        </p:spPr>
        <p:txBody>
          <a:bodyPr vert="horz" lIns="0" tIns="0" rIns="0" bIns="0" rtlCol="0" anchor="t"/>
          <a:lstStyle>
            <a:lvl1pPr algn="l">
              <a:defRPr sz="1100" b="0">
                <a:solidFill>
                  <a:schemeClr val="tx2"/>
                </a:solidFill>
              </a:defRPr>
            </a:lvl1pPr>
          </a:lstStyle>
          <a:p>
            <a:r>
              <a:rPr lang="en-US"/>
              <a:t>Dirk Uwe Sauer</a:t>
            </a:r>
            <a:endParaRPr lang="en-US" dirty="0"/>
          </a:p>
        </p:txBody>
      </p:sp>
      <p:sp>
        <p:nvSpPr>
          <p:cNvPr id="4" name="Foliennummernplatzhalter 3"/>
          <p:cNvSpPr>
            <a:spLocks noGrp="1"/>
          </p:cNvSpPr>
          <p:nvPr>
            <p:ph type="sldNum" sz="quarter" idx="4"/>
          </p:nvPr>
        </p:nvSpPr>
        <p:spPr>
          <a:xfrm>
            <a:off x="383950" y="6361350"/>
            <a:ext cx="974273" cy="396000"/>
          </a:xfrm>
          <a:prstGeom prst="rect">
            <a:avLst/>
          </a:prstGeom>
        </p:spPr>
        <p:txBody>
          <a:bodyPr vert="horz" lIns="0" tIns="0" rIns="0" bIns="0" rtlCol="0" anchor="t"/>
          <a:lstStyle>
            <a:lvl1pPr algn="l">
              <a:defRPr sz="1100">
                <a:solidFill>
                  <a:schemeClr val="tx2"/>
                </a:solidFill>
              </a:defRPr>
            </a:lvl1pPr>
          </a:lstStyle>
          <a:p>
            <a:fld id="{4D01E63C-D794-4429-8564-635E6253AC5C}" type="slidenum">
              <a:rPr lang="en-US" smtClean="0"/>
              <a:pPr/>
              <a:t>‹#›</a:t>
            </a:fld>
            <a:endParaRPr lang="en-US" dirty="0"/>
          </a:p>
        </p:txBody>
      </p:sp>
      <p:sp>
        <p:nvSpPr>
          <p:cNvPr id="5" name="Textfeld 4"/>
          <p:cNvSpPr txBox="1"/>
          <p:nvPr/>
        </p:nvSpPr>
        <p:spPr>
          <a:xfrm>
            <a:off x="1706633" y="6352041"/>
            <a:ext cx="36870" cy="169277"/>
          </a:xfrm>
          <a:prstGeom prst="rect">
            <a:avLst/>
          </a:prstGeom>
          <a:noFill/>
        </p:spPr>
        <p:txBody>
          <a:bodyPr wrap="none" lIns="0" tIns="0" rIns="0" bIns="0" rtlCol="0">
            <a:spAutoFit/>
          </a:bodyPr>
          <a:lstStyle/>
          <a:p>
            <a:pPr algn="l"/>
            <a:r>
              <a:rPr lang="de-DE" sz="1100" b="0" dirty="0">
                <a:solidFill>
                  <a:schemeClr val="tx2"/>
                </a:solidFill>
              </a:rPr>
              <a:t>|</a:t>
            </a:r>
            <a:endParaRPr lang="en-US" sz="1200" b="0" dirty="0">
              <a:solidFill>
                <a:schemeClr val="tx2"/>
              </a:solidFill>
            </a:endParaRPr>
          </a:p>
        </p:txBody>
      </p:sp>
      <p:sp>
        <p:nvSpPr>
          <p:cNvPr id="9" name="Textfeld 8"/>
          <p:cNvSpPr txBox="1"/>
          <p:nvPr/>
        </p:nvSpPr>
        <p:spPr>
          <a:xfrm>
            <a:off x="935242" y="6542541"/>
            <a:ext cx="6913752" cy="169277"/>
          </a:xfrm>
          <a:prstGeom prst="rect">
            <a:avLst/>
          </a:prstGeom>
          <a:noFill/>
        </p:spPr>
        <p:txBody>
          <a:bodyPr wrap="none" lIns="0" tIns="0" rIns="0" bIns="0" rtlCol="0">
            <a:spAutoFit/>
          </a:bodyPr>
          <a:lstStyle/>
          <a:p>
            <a:pPr algn="l"/>
            <a:r>
              <a:rPr lang="en-US" sz="1100" b="0" baseline="0" noProof="0" dirty="0">
                <a:solidFill>
                  <a:schemeClr val="tx2"/>
                </a:solidFill>
              </a:rPr>
              <a:t>Center for Ageing, Reliability and Lifetime Prediction of Electrochemical and Power Electronic Systems (CARL)</a:t>
            </a:r>
            <a:endParaRPr lang="de-DE" sz="1100" b="0" noProof="0" dirty="0">
              <a:solidFill>
                <a:schemeClr val="tx2"/>
              </a:solidFill>
            </a:endParaRPr>
          </a:p>
        </p:txBody>
      </p:sp>
      <p:pic>
        <p:nvPicPr>
          <p:cNvPr id="7" name="Grafik 6">
            <a:extLst>
              <a:ext uri="{FF2B5EF4-FFF2-40B4-BE49-F238E27FC236}">
                <a16:creationId xmlns:a16="http://schemas.microsoft.com/office/drawing/2014/main" id="{3C535DD4-8DE4-5751-A836-A2D8A6475543}"/>
              </a:ext>
            </a:extLst>
          </p:cNvPr>
          <p:cNvPicPr>
            <a:picLocks noChangeAspect="1"/>
          </p:cNvPicPr>
          <p:nvPr userDrawn="1"/>
        </p:nvPicPr>
        <p:blipFill>
          <a:blip r:embed="rId11" cstate="print">
            <a:extLst>
              <a:ext uri="{28A0092B-C50C-407E-A947-70E740481C1C}">
                <a14:useLocalDpi xmlns:a14="http://schemas.microsoft.com/office/drawing/2010/main"/>
              </a:ext>
            </a:extLst>
          </a:blip>
          <a:stretch>
            <a:fillRect/>
          </a:stretch>
        </p:blipFill>
        <p:spPr>
          <a:xfrm>
            <a:off x="9137882" y="6205415"/>
            <a:ext cx="2778300" cy="655200"/>
          </a:xfrm>
          <a:prstGeom prst="rect">
            <a:avLst/>
          </a:prstGeom>
        </p:spPr>
      </p:pic>
    </p:spTree>
    <p:extLst>
      <p:ext uri="{BB962C8B-B14F-4D97-AF65-F5344CB8AC3E}">
        <p14:creationId xmlns:p14="http://schemas.microsoft.com/office/powerpoint/2010/main" val="3525079632"/>
      </p:ext>
    </p:extLst>
  </p:cSld>
  <p:clrMap bg1="lt1" tx1="dk1" bg2="lt2" tx2="dk2" accent1="accent1" accent2="accent2" accent3="accent3" accent4="accent4" accent5="accent5" accent6="accent6" hlink="hlink" folHlink="folHlink"/>
  <p:sldLayoutIdLst>
    <p:sldLayoutId id="2147483885" r:id="rId1"/>
    <p:sldLayoutId id="2147483886" r:id="rId2"/>
    <p:sldLayoutId id="2147483887" r:id="rId3"/>
    <p:sldLayoutId id="2147483888" r:id="rId4"/>
    <p:sldLayoutId id="2147483889" r:id="rId5"/>
    <p:sldLayoutId id="2147483890" r:id="rId6"/>
  </p:sldLayoutIdLst>
  <p:hf hdr="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5900" indent="-215900" algn="l" defTabSz="215900" rtl="0" eaLnBrk="1" fontAlgn="base" hangingPunct="1">
        <a:spcBef>
          <a:spcPct val="0"/>
        </a:spcBef>
        <a:spcAft>
          <a:spcPct val="0"/>
        </a:spcAft>
        <a:buClr>
          <a:schemeClr val="tx2"/>
        </a:buClr>
        <a:buFont typeface="Arial" charset="0"/>
        <a:buChar char="•"/>
        <a:tabLst>
          <a:tab pos="215900" algn="l"/>
        </a:tabLst>
        <a:defRPr kern="1200">
          <a:solidFill>
            <a:schemeClr val="tx1"/>
          </a:solidFill>
          <a:latin typeface="Arial" panose="020B0604020202020204" pitchFamily="34" charset="0"/>
          <a:ea typeface="+mn-ea"/>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itchFamily="18" charset="2"/>
        <a:buChar char="-"/>
        <a:tabLst>
          <a:tab pos="431800" algn="l"/>
        </a:tabLst>
        <a:defRPr sz="1600" kern="1200">
          <a:solidFill>
            <a:schemeClr val="tx1"/>
          </a:solidFill>
          <a:latin typeface="Arial" panose="020B0604020202020204" pitchFamily="34" charset="0"/>
          <a:ea typeface="+mn-ea"/>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itchFamily="2" charset="2"/>
        <a:buChar char="§"/>
        <a:tabLst>
          <a:tab pos="647700" algn="l"/>
        </a:tabLst>
        <a:defRPr sz="1600" kern="1200">
          <a:solidFill>
            <a:schemeClr val="tx1"/>
          </a:solidFill>
          <a:latin typeface="Arial" panose="020B0604020202020204" pitchFamily="34" charset="0"/>
          <a:ea typeface="+mn-ea"/>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charset="0"/>
        <a:buChar char="-"/>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a:extLst>
              <a:ext uri="{FF2B5EF4-FFF2-40B4-BE49-F238E27FC236}">
                <a16:creationId xmlns:a16="http://schemas.microsoft.com/office/drawing/2014/main" id="{3D8277B0-D6B3-EFC9-D82F-365DD94448B9}"/>
              </a:ext>
            </a:extLst>
          </p:cNvPr>
          <p:cNvGraphicFramePr>
            <a:graphicFrameLocks noChangeAspect="1"/>
          </p:cNvGraphicFramePr>
          <p:nvPr userDrawn="1">
            <p:custDataLst>
              <p:tags r:id="rId9"/>
            </p:custDataLst>
            <p:extLst>
              <p:ext uri="{D42A27DB-BD31-4B8C-83A1-F6EECF244321}">
                <p14:modId xmlns:p14="http://schemas.microsoft.com/office/powerpoint/2010/main" val="3633797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0" imgW="347" imgH="348" progId="TCLayout.ActiveDocument.1">
                  <p:embed/>
                </p:oleObj>
              </mc:Choice>
              <mc:Fallback>
                <p:oleObj name="think-cell Folie" r:id="rId10" imgW="347" imgH="348" progId="TCLayout.ActiveDocument.1">
                  <p:embed/>
                  <p:pic>
                    <p:nvPicPr>
                      <p:cNvPr id="0" name=""/>
                      <p:cNvPicPr/>
                      <p:nvPr/>
                    </p:nvPicPr>
                    <p:blipFill>
                      <a:blip r:embed="rId11"/>
                      <a:stretch>
                        <a:fillRect/>
                      </a:stretch>
                    </p:blipFill>
                    <p:spPr>
                      <a:xfrm>
                        <a:off x="1588" y="1588"/>
                        <a:ext cx="1588" cy="1588"/>
                      </a:xfrm>
                      <a:prstGeom prst="rect">
                        <a:avLst/>
                      </a:prstGeom>
                    </p:spPr>
                  </p:pic>
                </p:oleObj>
              </mc:Fallback>
            </mc:AlternateContent>
          </a:graphicData>
        </a:graphic>
      </p:graphicFrame>
      <p:pic>
        <p:nvPicPr>
          <p:cNvPr id="4" name="Grafik 3">
            <a:extLst>
              <a:ext uri="{FF2B5EF4-FFF2-40B4-BE49-F238E27FC236}">
                <a16:creationId xmlns:a16="http://schemas.microsoft.com/office/drawing/2014/main" id="{8740CEE0-320A-1370-3758-A7C371B0CAA5}"/>
              </a:ext>
            </a:extLst>
          </p:cNvPr>
          <p:cNvPicPr>
            <a:picLocks noChangeAspect="1"/>
          </p:cNvPicPr>
          <p:nvPr userDrawn="1"/>
        </p:nvPicPr>
        <p:blipFill>
          <a:blip r:embed="rId12" cstate="print">
            <a:extLst>
              <a:ext uri="{28A0092B-C50C-407E-A947-70E740481C1C}">
                <a14:useLocalDpi xmlns:a14="http://schemas.microsoft.com/office/drawing/2010/main"/>
              </a:ext>
            </a:extLst>
          </a:blip>
          <a:stretch>
            <a:fillRect/>
          </a:stretch>
        </p:blipFill>
        <p:spPr>
          <a:xfrm>
            <a:off x="9137882" y="6205415"/>
            <a:ext cx="2778300" cy="655200"/>
          </a:xfrm>
          <a:prstGeom prst="rect">
            <a:avLst/>
          </a:prstGeom>
        </p:spPr>
      </p:pic>
      <p:cxnSp>
        <p:nvCxnSpPr>
          <p:cNvPr id="11" name="Gerader Verbinder 10"/>
          <p:cNvCxnSpPr/>
          <p:nvPr/>
        </p:nvCxnSpPr>
        <p:spPr>
          <a:xfrm>
            <a:off x="383068" y="814388"/>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Gerader Verbinder 11"/>
          <p:cNvCxnSpPr/>
          <p:nvPr/>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Datumsplatzhalter 1"/>
          <p:cNvSpPr>
            <a:spLocks noGrp="1"/>
          </p:cNvSpPr>
          <p:nvPr>
            <p:ph type="dt" sz="half" idx="2"/>
          </p:nvPr>
        </p:nvSpPr>
        <p:spPr>
          <a:xfrm>
            <a:off x="935480" y="6361350"/>
            <a:ext cx="5668062" cy="524824"/>
          </a:xfrm>
          <a:prstGeom prst="rect">
            <a:avLst/>
          </a:prstGeom>
        </p:spPr>
        <p:txBody>
          <a:bodyPr vert="horz" lIns="0" tIns="0" rIns="0" bIns="0" rtlCol="0" anchor="t"/>
          <a:lstStyle>
            <a:lvl1pPr algn="l">
              <a:defRPr sz="1100" b="0">
                <a:solidFill>
                  <a:schemeClr val="tx2"/>
                </a:solidFill>
              </a:defRPr>
            </a:lvl1pPr>
          </a:lstStyle>
          <a:p>
            <a:fld id="{C2CC8288-72D4-44E2-951D-741F8F954282}" type="datetime1">
              <a:rPr lang="de-DE" smtClean="0"/>
              <a:t>01.07.2026</a:t>
            </a:fld>
            <a:endParaRPr lang="de-DE" dirty="0"/>
          </a:p>
        </p:txBody>
      </p:sp>
      <p:sp>
        <p:nvSpPr>
          <p:cNvPr id="14" name="Fußzeilenplatzhalter 2"/>
          <p:cNvSpPr>
            <a:spLocks noGrp="1"/>
          </p:cNvSpPr>
          <p:nvPr>
            <p:ph type="ftr" sz="quarter" idx="3"/>
          </p:nvPr>
        </p:nvSpPr>
        <p:spPr>
          <a:xfrm>
            <a:off x="1818425" y="6361350"/>
            <a:ext cx="4391428" cy="524824"/>
          </a:xfrm>
          <a:prstGeom prst="rect">
            <a:avLst/>
          </a:prstGeom>
        </p:spPr>
        <p:txBody>
          <a:bodyPr vert="horz" lIns="0" tIns="0" rIns="0" bIns="0" rtlCol="0" anchor="t"/>
          <a:lstStyle>
            <a:lvl1pPr algn="l">
              <a:defRPr sz="1100" b="0">
                <a:solidFill>
                  <a:schemeClr val="tx2"/>
                </a:solidFill>
              </a:defRPr>
            </a:lvl1pPr>
          </a:lstStyle>
          <a:p>
            <a:r>
              <a:rPr lang="en-US"/>
              <a:t>Dirk Uwe Sauer</a:t>
            </a:r>
            <a:endParaRPr lang="en-US" dirty="0"/>
          </a:p>
        </p:txBody>
      </p:sp>
      <p:sp>
        <p:nvSpPr>
          <p:cNvPr id="15" name="Foliennummernplatzhalter 3"/>
          <p:cNvSpPr>
            <a:spLocks noGrp="1"/>
          </p:cNvSpPr>
          <p:nvPr>
            <p:ph type="sldNum" sz="quarter" idx="4"/>
          </p:nvPr>
        </p:nvSpPr>
        <p:spPr>
          <a:xfrm>
            <a:off x="383950" y="6361350"/>
            <a:ext cx="974273" cy="396000"/>
          </a:xfrm>
          <a:prstGeom prst="rect">
            <a:avLst/>
          </a:prstGeom>
        </p:spPr>
        <p:txBody>
          <a:bodyPr vert="horz" lIns="0" tIns="0" rIns="0" bIns="0" rtlCol="0" anchor="t"/>
          <a:lstStyle>
            <a:lvl1pPr algn="l">
              <a:defRPr sz="1100">
                <a:solidFill>
                  <a:schemeClr val="tx2"/>
                </a:solidFill>
              </a:defRPr>
            </a:lvl1pPr>
          </a:lstStyle>
          <a:p>
            <a:fld id="{4D01E63C-D794-4429-8564-635E6253AC5C}" type="slidenum">
              <a:rPr lang="en-US" smtClean="0"/>
              <a:pPr/>
              <a:t>‹#›</a:t>
            </a:fld>
            <a:endParaRPr lang="en-US" dirty="0"/>
          </a:p>
        </p:txBody>
      </p:sp>
      <p:sp>
        <p:nvSpPr>
          <p:cNvPr id="16" name="Textfeld 15"/>
          <p:cNvSpPr txBox="1"/>
          <p:nvPr/>
        </p:nvSpPr>
        <p:spPr>
          <a:xfrm>
            <a:off x="1706633" y="6352041"/>
            <a:ext cx="36870" cy="169277"/>
          </a:xfrm>
          <a:prstGeom prst="rect">
            <a:avLst/>
          </a:prstGeom>
          <a:noFill/>
        </p:spPr>
        <p:txBody>
          <a:bodyPr wrap="none" lIns="0" tIns="0" rIns="0" bIns="0" rtlCol="0">
            <a:spAutoFit/>
          </a:bodyPr>
          <a:lstStyle/>
          <a:p>
            <a:pPr algn="l"/>
            <a:r>
              <a:rPr lang="de-DE" sz="1100" b="0" dirty="0">
                <a:solidFill>
                  <a:schemeClr val="tx2"/>
                </a:solidFill>
              </a:rPr>
              <a:t>|</a:t>
            </a:r>
            <a:endParaRPr lang="en-US" sz="1200" b="0" dirty="0">
              <a:solidFill>
                <a:schemeClr val="tx2"/>
              </a:solidFill>
            </a:endParaRPr>
          </a:p>
        </p:txBody>
      </p:sp>
      <p:sp>
        <p:nvSpPr>
          <p:cNvPr id="17" name="Textfeld 16"/>
          <p:cNvSpPr txBox="1"/>
          <p:nvPr/>
        </p:nvSpPr>
        <p:spPr>
          <a:xfrm>
            <a:off x="935242" y="6542541"/>
            <a:ext cx="6913752" cy="169277"/>
          </a:xfrm>
          <a:prstGeom prst="rect">
            <a:avLst/>
          </a:prstGeom>
          <a:noFill/>
        </p:spPr>
        <p:txBody>
          <a:bodyPr wrap="none" lIns="0" tIns="0" rIns="0" bIns="0" rtlCol="0">
            <a:spAutoFit/>
          </a:bodyPr>
          <a:lstStyle/>
          <a:p>
            <a:pPr algn="l"/>
            <a:r>
              <a:rPr lang="en-US" sz="1100" b="0" baseline="0" noProof="0" dirty="0">
                <a:solidFill>
                  <a:schemeClr val="tx2"/>
                </a:solidFill>
              </a:rPr>
              <a:t>Center for Ageing, Reliability and Lifetime Prediction of Electrochemical and Power Electronic Systems (CARL)</a:t>
            </a:r>
            <a:endParaRPr lang="de-DE" sz="1100" b="0" noProof="0" dirty="0">
              <a:solidFill>
                <a:schemeClr val="tx2"/>
              </a:solidFill>
            </a:endParaRPr>
          </a:p>
        </p:txBody>
      </p:sp>
    </p:spTree>
    <p:extLst>
      <p:ext uri="{BB962C8B-B14F-4D97-AF65-F5344CB8AC3E}">
        <p14:creationId xmlns:p14="http://schemas.microsoft.com/office/powerpoint/2010/main" val="728398958"/>
      </p:ext>
    </p:extLst>
  </p:cSld>
  <p:clrMap bg1="lt1" tx1="dk1" bg2="lt2" tx2="dk2" accent1="accent1" accent2="accent2" accent3="accent3" accent4="accent4" accent5="accent5" accent6="accent6" hlink="hlink" folHlink="folHlink"/>
  <p:sldLayoutIdLst>
    <p:sldLayoutId id="2147483878" r:id="rId1"/>
    <p:sldLayoutId id="2147483891" r:id="rId2"/>
    <p:sldLayoutId id="2147483879" r:id="rId3"/>
    <p:sldLayoutId id="2147483880" r:id="rId4"/>
    <p:sldLayoutId id="2147483881" r:id="rId5"/>
    <p:sldLayoutId id="2147483882" r:id="rId6"/>
    <p:sldLayoutId id="2147483883" r:id="rId7"/>
  </p:sldLayoutIdLst>
  <p:hf hdr="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5900" indent="-215900" algn="l" defTabSz="215900" rtl="0" eaLnBrk="1" fontAlgn="base" hangingPunct="1">
        <a:spcBef>
          <a:spcPct val="0"/>
        </a:spcBef>
        <a:spcAft>
          <a:spcPct val="0"/>
        </a:spcAft>
        <a:buClr>
          <a:schemeClr val="tx2"/>
        </a:buClr>
        <a:buFont typeface="Arial" charset="0"/>
        <a:buChar char="•"/>
        <a:tabLst>
          <a:tab pos="215900" algn="l"/>
        </a:tabLst>
        <a:defRPr kern="1200">
          <a:solidFill>
            <a:schemeClr val="tx1"/>
          </a:solidFill>
          <a:latin typeface="Arial" panose="020B0604020202020204" pitchFamily="34" charset="0"/>
          <a:ea typeface="+mn-ea"/>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itchFamily="18" charset="2"/>
        <a:buChar char="-"/>
        <a:tabLst>
          <a:tab pos="431800" algn="l"/>
        </a:tabLst>
        <a:defRPr sz="1600" kern="1200">
          <a:solidFill>
            <a:schemeClr val="tx1"/>
          </a:solidFill>
          <a:latin typeface="Arial" panose="020B0604020202020204" pitchFamily="34" charset="0"/>
          <a:ea typeface="+mn-ea"/>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itchFamily="2" charset="2"/>
        <a:buChar char="§"/>
        <a:tabLst>
          <a:tab pos="647700" algn="l"/>
        </a:tabLst>
        <a:defRPr sz="1600" kern="1200">
          <a:solidFill>
            <a:schemeClr val="tx1"/>
          </a:solidFill>
          <a:latin typeface="Arial" panose="020B0604020202020204" pitchFamily="34" charset="0"/>
          <a:ea typeface="+mn-ea"/>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charset="0"/>
        <a:buChar char="-"/>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9.xml"/><Relationship Id="rId5" Type="http://schemas.openxmlformats.org/officeDocument/2006/relationships/image" Target="../media/image1.emf"/><Relationship Id="rId4" Type="http://schemas.openxmlformats.org/officeDocument/2006/relationships/oleObject" Target="../embeddings/oleObject7.bin"/></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tags" Target="../tags/tag10.xml"/><Relationship Id="rId5" Type="http://schemas.openxmlformats.org/officeDocument/2006/relationships/image" Target="../media/image1.emf"/><Relationship Id="rId4" Type="http://schemas.openxmlformats.org/officeDocument/2006/relationships/oleObject" Target="../embeddings/oleObject7.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124D5214-AF52-D402-D540-81F3159D4F91}"/>
              </a:ext>
            </a:extLst>
          </p:cNvPr>
          <p:cNvGraphicFramePr>
            <a:graphicFrameLocks noChangeAspect="1"/>
          </p:cNvGraphicFramePr>
          <p:nvPr>
            <p:custDataLst>
              <p:tags r:id="rId1"/>
            </p:custDataLst>
            <p:extLst>
              <p:ext uri="{D42A27DB-BD31-4B8C-83A1-F6EECF244321}">
                <p14:modId xmlns:p14="http://schemas.microsoft.com/office/powerpoint/2010/main" val="18468921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47" imgH="348" progId="TCLayout.ActiveDocument.1">
                  <p:embed/>
                </p:oleObj>
              </mc:Choice>
              <mc:Fallback>
                <p:oleObj name="think-cell Folie" r:id="rId4" imgW="347" imgH="348"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el 1"/>
          <p:cNvSpPr>
            <a:spLocks noGrp="1"/>
          </p:cNvSpPr>
          <p:nvPr>
            <p:ph type="ctrTitle"/>
          </p:nvPr>
        </p:nvSpPr>
        <p:spPr>
          <a:xfrm>
            <a:off x="383950" y="2725724"/>
            <a:ext cx="11563408" cy="1274776"/>
          </a:xfrm>
        </p:spPr>
        <p:txBody>
          <a:bodyPr/>
          <a:lstStyle/>
          <a:p>
            <a:r>
              <a:rPr lang="de-DE" sz="2800" dirty="0"/>
              <a:t>M</a:t>
            </a:r>
            <a:r>
              <a:rPr lang="en-US" altLang="zh-CN" sz="2800" dirty="0"/>
              <a:t>id-term presentation</a:t>
            </a:r>
            <a:r>
              <a:rPr lang="de-DE" sz="2800" dirty="0"/>
              <a:t>: </a:t>
            </a:r>
            <a:r>
              <a:rPr lang="en-US" altLang="zh-CN" sz="2800" dirty="0"/>
              <a:t>From Time-Series Parameter Extraction to Multi-Task Learning</a:t>
            </a:r>
            <a:endParaRPr lang="de-DE" sz="2800" dirty="0"/>
          </a:p>
        </p:txBody>
      </p:sp>
      <p:sp>
        <p:nvSpPr>
          <p:cNvPr id="3" name="Untertitel 2"/>
          <p:cNvSpPr>
            <a:spLocks noGrp="1"/>
          </p:cNvSpPr>
          <p:nvPr>
            <p:ph type="subTitle" idx="1"/>
          </p:nvPr>
        </p:nvSpPr>
        <p:spPr/>
        <p:txBody>
          <a:bodyPr/>
          <a:lstStyle/>
          <a:p>
            <a:r>
              <a:rPr lang="en-US" altLang="zh-CN" dirty="0"/>
              <a:t>State-of-Charge-Resolved Multi-Parameter Degradation Analysis on Li-Ion Batteries</a:t>
            </a:r>
            <a:endParaRPr lang="de-DE" dirty="0"/>
          </a:p>
        </p:txBody>
      </p:sp>
      <p:sp>
        <p:nvSpPr>
          <p:cNvPr id="5" name="Datumsplatzhalter 4"/>
          <p:cNvSpPr>
            <a:spLocks noGrp="1"/>
          </p:cNvSpPr>
          <p:nvPr>
            <p:ph type="dt" sz="half" idx="12"/>
          </p:nvPr>
        </p:nvSpPr>
        <p:spPr/>
        <p:txBody>
          <a:bodyPr/>
          <a:lstStyle/>
          <a:p>
            <a:r>
              <a:rPr lang="de-DE" dirty="0"/>
              <a:t>09.07.2026</a:t>
            </a:r>
          </a:p>
        </p:txBody>
      </p:sp>
      <p:sp>
        <p:nvSpPr>
          <p:cNvPr id="6" name="Fußzeilenplatzhalter 3">
            <a:extLst>
              <a:ext uri="{FF2B5EF4-FFF2-40B4-BE49-F238E27FC236}">
                <a16:creationId xmlns:a16="http://schemas.microsoft.com/office/drawing/2014/main" id="{4216A686-4862-D4E4-E8A0-5D2F8EDF094D}"/>
              </a:ext>
            </a:extLst>
          </p:cNvPr>
          <p:cNvSpPr>
            <a:spLocks noGrp="1"/>
          </p:cNvSpPr>
          <p:nvPr>
            <p:ph type="ftr" sz="quarter" idx="11"/>
          </p:nvPr>
        </p:nvSpPr>
        <p:spPr>
          <a:xfrm>
            <a:off x="384175" y="5218113"/>
            <a:ext cx="11425238" cy="525462"/>
          </a:xfrm>
        </p:spPr>
        <p:txBody>
          <a:bodyPr/>
          <a:lstStyle/>
          <a:p>
            <a:r>
              <a:rPr lang="de-DE" altLang="zh-CN" b="1" dirty="0"/>
              <a:t>Author:</a:t>
            </a:r>
            <a:r>
              <a:rPr lang="de-DE" altLang="zh-CN" dirty="0"/>
              <a:t> </a:t>
            </a:r>
            <a:r>
              <a:rPr lang="en-US" dirty="0"/>
              <a:t>Yida Cheng</a:t>
            </a:r>
          </a:p>
          <a:p>
            <a:r>
              <a:rPr lang="de-DE" altLang="zh-CN" b="1" dirty="0"/>
              <a:t>Supervisor:</a:t>
            </a:r>
            <a:r>
              <a:rPr lang="de-DE" altLang="zh-CN" dirty="0"/>
              <a:t> </a:t>
            </a:r>
            <a:r>
              <a:rPr lang="de-DE" altLang="zh-CN" dirty="0" err="1"/>
              <a:t>Zijuan</a:t>
            </a:r>
            <a:r>
              <a:rPr lang="de-DE" altLang="zh-CN" dirty="0"/>
              <a:t> Hong, </a:t>
            </a:r>
            <a:r>
              <a:rPr lang="de-DE" altLang="zh-CN" dirty="0" err="1"/>
              <a:t>M.Sc</a:t>
            </a:r>
            <a:r>
              <a:rPr lang="de-DE" altLang="zh-CN" dirty="0"/>
              <a:t>.</a:t>
            </a:r>
            <a:endParaRPr lang="en-US" dirty="0"/>
          </a:p>
        </p:txBody>
      </p:sp>
    </p:spTree>
    <p:extLst>
      <p:ext uri="{BB962C8B-B14F-4D97-AF65-F5344CB8AC3E}">
        <p14:creationId xmlns:p14="http://schemas.microsoft.com/office/powerpoint/2010/main" val="423111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B1A15-DDA2-BF6B-A333-CCEB8F9181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6D4B097-247D-6228-12BF-2B0F51352CC3}"/>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A46E4C8A-CD90-876D-F579-900FDE390E70}"/>
              </a:ext>
            </a:extLst>
          </p:cNvPr>
          <p:cNvSpPr>
            <a:spLocks noGrp="1"/>
          </p:cNvSpPr>
          <p:nvPr>
            <p:ph idx="1"/>
          </p:nvPr>
        </p:nvSpPr>
        <p:spPr/>
        <p:txBody>
          <a:bodyPr/>
          <a:lstStyle/>
          <a:p>
            <a:pPr>
              <a:lnSpc>
                <a:spcPct val="200000"/>
              </a:lnSpc>
            </a:pPr>
            <a:r>
              <a:rPr lang="en-US" altLang="zh-CN" b="1" dirty="0">
                <a:solidFill>
                  <a:schemeClr val="accent4"/>
                </a:solidFill>
              </a:rPr>
              <a:t>Research Background &amp; Objectives</a:t>
            </a:r>
          </a:p>
          <a:p>
            <a:pPr>
              <a:lnSpc>
                <a:spcPct val="200000"/>
              </a:lnSpc>
            </a:pPr>
            <a:r>
              <a:rPr lang="en-US" altLang="zh-CN" dirty="0"/>
              <a:t>Literature Review</a:t>
            </a:r>
          </a:p>
          <a:p>
            <a:pPr>
              <a:lnSpc>
                <a:spcPct val="200000"/>
              </a:lnSpc>
            </a:pPr>
            <a:r>
              <a:rPr lang="en-US" altLang="zh-CN" dirty="0"/>
              <a:t>Data Processing and Resistance Extraction Progress</a:t>
            </a:r>
          </a:p>
          <a:p>
            <a:pPr>
              <a:lnSpc>
                <a:spcPct val="200000"/>
              </a:lnSpc>
            </a:pPr>
            <a:r>
              <a:rPr lang="en-US" altLang="zh-CN" dirty="0"/>
              <a:t>Preliminary Findings and Current Problems </a:t>
            </a:r>
          </a:p>
          <a:p>
            <a:pPr>
              <a:lnSpc>
                <a:spcPct val="200000"/>
              </a:lnSpc>
            </a:pPr>
            <a:r>
              <a:rPr lang="en-US" altLang="zh-CN" dirty="0"/>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939EE995-FEBB-61F4-67B6-D9615C120496}"/>
              </a:ext>
            </a:extLst>
          </p:cNvPr>
          <p:cNvSpPr>
            <a:spLocks noGrp="1"/>
          </p:cNvSpPr>
          <p:nvPr>
            <p:ph type="dt" sz="half" idx="10"/>
          </p:nvPr>
        </p:nvSpPr>
        <p:spPr/>
        <p:txBody>
          <a:bodyPr/>
          <a:lstStyle/>
          <a:p>
            <a:r>
              <a:rPr lang="de-DE" altLang="zh-CN" dirty="0"/>
              <a:t>09.07.2026</a:t>
            </a:r>
          </a:p>
          <a:p>
            <a:pPr algn="l"/>
            <a:endParaRPr lang="de-DE" dirty="0"/>
          </a:p>
        </p:txBody>
      </p:sp>
      <p:sp>
        <p:nvSpPr>
          <p:cNvPr id="5" name="页脚占位符 4">
            <a:extLst>
              <a:ext uri="{FF2B5EF4-FFF2-40B4-BE49-F238E27FC236}">
                <a16:creationId xmlns:a16="http://schemas.microsoft.com/office/drawing/2014/main" id="{D0D7863C-3B43-0824-AC80-A52786C8E03D}"/>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C70B0BE8-2B6F-B5DA-A3D4-8B003C6E5587}"/>
              </a:ext>
            </a:extLst>
          </p:cNvPr>
          <p:cNvSpPr>
            <a:spLocks noGrp="1"/>
          </p:cNvSpPr>
          <p:nvPr>
            <p:ph type="sldNum" sz="quarter" idx="12"/>
          </p:nvPr>
        </p:nvSpPr>
        <p:spPr/>
        <p:txBody>
          <a:bodyPr/>
          <a:lstStyle/>
          <a:p>
            <a:fld id="{4D01E63C-D794-4429-8564-635E6253AC5C}" type="slidenum">
              <a:rPr lang="en-US" smtClean="0"/>
              <a:pPr/>
              <a:t>2</a:t>
            </a:fld>
            <a:endParaRPr lang="en-US" dirty="0"/>
          </a:p>
        </p:txBody>
      </p:sp>
    </p:spTree>
    <p:extLst>
      <p:ext uri="{BB962C8B-B14F-4D97-AF65-F5344CB8AC3E}">
        <p14:creationId xmlns:p14="http://schemas.microsoft.com/office/powerpoint/2010/main" val="1527874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2F634-479A-74D1-0906-7D8BE41ABA4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C2059AB-5ABA-98F4-8F68-F53E92BA63DB}"/>
              </a:ext>
            </a:extLst>
          </p:cNvPr>
          <p:cNvSpPr>
            <a:spLocks noGrp="1"/>
          </p:cNvSpPr>
          <p:nvPr>
            <p:ph type="title"/>
          </p:nvPr>
        </p:nvSpPr>
        <p:spPr/>
        <p:txBody>
          <a:bodyPr/>
          <a:lstStyle/>
          <a:p>
            <a:r>
              <a:rPr lang="zh-CN" altLang="zh-CN" dirty="0"/>
              <a:t>Thesis topic and motivation</a:t>
            </a:r>
          </a:p>
        </p:txBody>
      </p:sp>
      <p:sp>
        <p:nvSpPr>
          <p:cNvPr id="4" name="Datumsplatzhalter 3">
            <a:extLst>
              <a:ext uri="{FF2B5EF4-FFF2-40B4-BE49-F238E27FC236}">
                <a16:creationId xmlns:a16="http://schemas.microsoft.com/office/drawing/2014/main" id="{E82779C2-44A4-2FF8-E3C6-80265E49E261}"/>
              </a:ext>
            </a:extLst>
          </p:cNvPr>
          <p:cNvSpPr>
            <a:spLocks noGrp="1"/>
          </p:cNvSpPr>
          <p:nvPr>
            <p:ph type="dt" sz="half" idx="10"/>
          </p:nvPr>
        </p:nvSpPr>
        <p:spPr/>
        <p:txBody>
          <a:bodyPr/>
          <a:lstStyle/>
          <a:p>
            <a:pPr algn="l"/>
            <a:r>
              <a:rPr lang="de-DE" dirty="0"/>
              <a:t>09.07.2026</a:t>
            </a:r>
          </a:p>
        </p:txBody>
      </p:sp>
      <p:sp>
        <p:nvSpPr>
          <p:cNvPr id="5" name="Fußzeilenplatzhalter 4">
            <a:extLst>
              <a:ext uri="{FF2B5EF4-FFF2-40B4-BE49-F238E27FC236}">
                <a16:creationId xmlns:a16="http://schemas.microsoft.com/office/drawing/2014/main" id="{0DA2BAF0-72F1-C76E-0DC4-3E1FC1D6D44D}"/>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8EAD0338-B8FF-C69B-6C24-6EE742930C55}"/>
              </a:ext>
            </a:extLst>
          </p:cNvPr>
          <p:cNvSpPr>
            <a:spLocks noGrp="1"/>
          </p:cNvSpPr>
          <p:nvPr>
            <p:ph type="sldNum" sz="quarter" idx="12"/>
          </p:nvPr>
        </p:nvSpPr>
        <p:spPr/>
        <p:txBody>
          <a:bodyPr/>
          <a:lstStyle/>
          <a:p>
            <a:fld id="{4D01E63C-D794-4429-8564-635E6253AC5C}" type="slidenum">
              <a:rPr lang="en-US" smtClean="0"/>
              <a:pPr/>
              <a:t>3</a:t>
            </a:fld>
            <a:endParaRPr lang="en-US" dirty="0"/>
          </a:p>
        </p:txBody>
      </p:sp>
      <p:pic>
        <p:nvPicPr>
          <p:cNvPr id="7" name="内容占位符 6">
            <a:extLst>
              <a:ext uri="{FF2B5EF4-FFF2-40B4-BE49-F238E27FC236}">
                <a16:creationId xmlns:a16="http://schemas.microsoft.com/office/drawing/2014/main" id="{F4A5BAC6-4C4C-D7BA-A7A7-07B3D623CE74}"/>
              </a:ext>
            </a:extLst>
          </p:cNvPr>
          <p:cNvPicPr>
            <a:picLocks noGrp="1" noChangeAspect="1"/>
          </p:cNvPicPr>
          <p:nvPr>
            <p:ph idx="1"/>
          </p:nvPr>
        </p:nvPicPr>
        <p:blipFill>
          <a:blip r:embed="rId3"/>
          <a:stretch>
            <a:fillRect/>
          </a:stretch>
        </p:blipFill>
        <p:spPr>
          <a:xfrm>
            <a:off x="6381277" y="1008529"/>
            <a:ext cx="5640339" cy="2637988"/>
          </a:xfrm>
          <a:prstGeom prst="rect">
            <a:avLst/>
          </a:prstGeom>
        </p:spPr>
      </p:pic>
      <p:sp>
        <p:nvSpPr>
          <p:cNvPr id="13" name="Inhaltsplatzhalter 2">
            <a:extLst>
              <a:ext uri="{FF2B5EF4-FFF2-40B4-BE49-F238E27FC236}">
                <a16:creationId xmlns:a16="http://schemas.microsoft.com/office/drawing/2014/main" id="{707B99E5-F12E-87F7-BE02-AE30521E8AE9}"/>
              </a:ext>
            </a:extLst>
          </p:cNvPr>
          <p:cNvSpPr txBox="1">
            <a:spLocks/>
          </p:cNvSpPr>
          <p:nvPr/>
        </p:nvSpPr>
        <p:spPr>
          <a:xfrm>
            <a:off x="572208" y="1317590"/>
            <a:ext cx="8860904" cy="2480887"/>
          </a:xfrm>
          <a:prstGeom prst="rect">
            <a:avLst/>
          </a:prstGeom>
        </p:spPr>
        <p:txBody>
          <a:bodyPr lIns="0" tIns="0" rIns="0" bIns="0"/>
          <a:lstStyle>
            <a:lvl1pPr marL="215900" indent="-215900" algn="l" defTabSz="215900" rtl="0" eaLnBrk="1" fontAlgn="base" hangingPunct="1">
              <a:spcBef>
                <a:spcPts val="0"/>
              </a:spcBef>
              <a:spcAft>
                <a:spcPts val="450"/>
              </a:spcAft>
              <a:buClr>
                <a:schemeClr val="tx2"/>
              </a:buClr>
              <a:buFont typeface="Arial" panose="020B0604020202020204" pitchFamily="34" charset="0"/>
              <a:buChar char="■"/>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31800" indent="-215900" algn="l" rtl="0" eaLnBrk="1" fontAlgn="base" hangingPunct="1">
              <a:spcBef>
                <a:spcPts val="0"/>
              </a:spcBef>
              <a:spcAft>
                <a:spcPts val="400"/>
              </a:spcAft>
              <a:buClr>
                <a:schemeClr val="tx2"/>
              </a:buClr>
              <a:buFont typeface="Arial" panose="020B0604020202020204" pitchFamily="34" charset="0"/>
              <a:buChar char="□"/>
              <a:tabLst>
                <a:tab pos="431800" algn="l"/>
              </a:tabLst>
              <a:defRPr sz="1800" kern="1200">
                <a:solidFill>
                  <a:schemeClr val="tx1"/>
                </a:solidFill>
                <a:latin typeface="Arial" panose="020B0604020202020204" pitchFamily="34" charset="0"/>
                <a:ea typeface="+mn-ea"/>
                <a:cs typeface="Arial" panose="020B0604020202020204" pitchFamily="34" charset="0"/>
              </a:defRPr>
            </a:lvl2pPr>
            <a:lvl3pPr marL="647700" indent="-215900" algn="l" defTabSz="215900" rtl="0" eaLnBrk="1" fontAlgn="base" hangingPunct="1">
              <a:spcBef>
                <a:spcPts val="0"/>
              </a:spcBef>
              <a:spcAft>
                <a:spcPts val="350"/>
              </a:spcAft>
              <a:buClr>
                <a:schemeClr val="tx2"/>
              </a:buClr>
              <a:buSzPct val="80000"/>
              <a:buFont typeface="Arial" panose="020B0604020202020204" pitchFamily="34" charset="0"/>
              <a:buChar char="■"/>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863600" indent="-215900" algn="l" defTabSz="215900" rtl="0" eaLnBrk="1" fontAlgn="base" hangingPunct="1">
              <a:spcBef>
                <a:spcPts val="0"/>
              </a:spcBef>
              <a:spcAft>
                <a:spcPts val="300"/>
              </a:spcAft>
              <a:buClr>
                <a:schemeClr val="tx2"/>
              </a:buClr>
              <a:buSzPct val="100000"/>
              <a:buFont typeface="Symbol" panose="05050102010706020507" pitchFamily="18" charset="2"/>
              <a:buChar char="-"/>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080000" indent="-215900" algn="l" rtl="0" eaLnBrk="1" fontAlgn="base" hangingPunct="1">
              <a:lnSpc>
                <a:spcPct val="90000"/>
              </a:lnSpc>
              <a:spcBef>
                <a:spcPts val="0"/>
              </a:spcBef>
              <a:spcAft>
                <a:spcPts val="25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dirty="0"/>
              <a:t>Why this topic?</a:t>
            </a:r>
            <a:endParaRPr lang="en-US" altLang="zh-CN" dirty="0"/>
          </a:p>
          <a:p>
            <a:pPr marL="0" indent="0">
              <a:buNone/>
            </a:pPr>
            <a:endParaRPr lang="en-US" altLang="zh-CN" sz="1400" dirty="0"/>
          </a:p>
          <a:p>
            <a:pPr marL="0" indent="0">
              <a:buNone/>
            </a:pPr>
            <a:endParaRPr lang="en-US" altLang="zh-CN" sz="1400" dirty="0"/>
          </a:p>
          <a:p>
            <a:pPr marL="0" indent="0">
              <a:buNone/>
            </a:pPr>
            <a:endParaRPr lang="zh-CN" altLang="en-US" sz="1400" dirty="0"/>
          </a:p>
          <a:p>
            <a:pPr>
              <a:lnSpc>
                <a:spcPct val="200000"/>
              </a:lnSpc>
            </a:pPr>
            <a:r>
              <a:rPr lang="zh-CN" altLang="en-US" sz="1600" dirty="0"/>
              <a:t>Degradation behavior varies across SOC levels</a:t>
            </a:r>
          </a:p>
          <a:p>
            <a:pPr>
              <a:lnSpc>
                <a:spcPct val="200000"/>
              </a:lnSpc>
            </a:pPr>
            <a:r>
              <a:rPr lang="zh-CN" altLang="en-US" sz="1600" dirty="0"/>
              <a:t>R</a:t>
            </a:r>
            <a:r>
              <a:rPr lang="zh-CN" altLang="en-US" sz="1600" baseline="-25000" dirty="0"/>
              <a:t>0</a:t>
            </a:r>
            <a:r>
              <a:rPr lang="zh-CN" altLang="en-US" sz="1600" dirty="0"/>
              <a:t>, R</a:t>
            </a:r>
            <a:r>
              <a:rPr lang="zh-CN" altLang="en-US" sz="1600" baseline="-25000" dirty="0"/>
              <a:t>1</a:t>
            </a:r>
            <a:r>
              <a:rPr lang="zh-CN" altLang="en-US" sz="1600" dirty="0"/>
              <a:t> and R</a:t>
            </a:r>
            <a:r>
              <a:rPr lang="zh-CN" altLang="en-US" sz="1600" baseline="-25000" dirty="0"/>
              <a:t>2</a:t>
            </a:r>
            <a:r>
              <a:rPr lang="zh-CN" altLang="en-US" sz="1600" dirty="0"/>
              <a:t> reflect different parts of the voltage response</a:t>
            </a:r>
          </a:p>
          <a:p>
            <a:pPr>
              <a:lnSpc>
                <a:spcPct val="200000"/>
              </a:lnSpc>
            </a:pPr>
            <a:r>
              <a:rPr lang="zh-CN" altLang="en-US" sz="1600" dirty="0"/>
              <a:t>SOC-resolved resistance parameters can improve battery health characterization</a:t>
            </a:r>
          </a:p>
          <a:p>
            <a:pPr>
              <a:lnSpc>
                <a:spcPct val="200000"/>
              </a:lnSpc>
            </a:pPr>
            <a:r>
              <a:rPr lang="zh-CN" altLang="en-US" sz="1600" dirty="0"/>
              <a:t>Extracted parameters will be used for multi-task learning based health prediction</a:t>
            </a:r>
          </a:p>
          <a:p>
            <a:pPr lvl="1"/>
            <a:endParaRPr lang="de-DE" altLang="zh-CN" dirty="0"/>
          </a:p>
          <a:p>
            <a:endParaRPr lang="en-US" dirty="0"/>
          </a:p>
          <a:p>
            <a:endParaRPr lang="de-DE" dirty="0"/>
          </a:p>
        </p:txBody>
      </p:sp>
    </p:spTree>
    <p:extLst>
      <p:ext uri="{BB962C8B-B14F-4D97-AF65-F5344CB8AC3E}">
        <p14:creationId xmlns:p14="http://schemas.microsoft.com/office/powerpoint/2010/main" val="8126251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1DD6EE-72F5-E44F-0F35-A7CBE19093C9}"/>
              </a:ext>
            </a:extLst>
          </p:cNvPr>
          <p:cNvSpPr>
            <a:spLocks noGrp="1"/>
          </p:cNvSpPr>
          <p:nvPr>
            <p:ph type="title"/>
          </p:nvPr>
        </p:nvSpPr>
        <p:spPr/>
        <p:txBody>
          <a:bodyPr/>
          <a:lstStyle/>
          <a:p>
            <a:r>
              <a:rPr lang="en-US" altLang="zh-CN" dirty="0"/>
              <a:t>Objectives</a:t>
            </a:r>
            <a:endParaRPr lang="zh-CN" altLang="en-US" dirty="0"/>
          </a:p>
        </p:txBody>
      </p:sp>
      <p:sp>
        <p:nvSpPr>
          <p:cNvPr id="4" name="日期占位符 3">
            <a:extLst>
              <a:ext uri="{FF2B5EF4-FFF2-40B4-BE49-F238E27FC236}">
                <a16:creationId xmlns:a16="http://schemas.microsoft.com/office/drawing/2014/main" id="{683863C5-20A1-B14A-CC8E-D8D63624ED89}"/>
              </a:ext>
            </a:extLst>
          </p:cNvPr>
          <p:cNvSpPr>
            <a:spLocks noGrp="1"/>
          </p:cNvSpPr>
          <p:nvPr>
            <p:ph type="dt" sz="half" idx="10"/>
          </p:nvPr>
        </p:nvSpPr>
        <p:spPr/>
        <p:txBody>
          <a:bodyPr/>
          <a:lstStyle/>
          <a:p>
            <a:r>
              <a:rPr lang="de-DE" altLang="zh-CN" dirty="0"/>
              <a:t>09.07.2026</a:t>
            </a:r>
          </a:p>
          <a:p>
            <a:pPr algn="l"/>
            <a:endParaRPr lang="de-DE" dirty="0"/>
          </a:p>
        </p:txBody>
      </p:sp>
      <p:sp>
        <p:nvSpPr>
          <p:cNvPr id="5" name="页脚占位符 4">
            <a:extLst>
              <a:ext uri="{FF2B5EF4-FFF2-40B4-BE49-F238E27FC236}">
                <a16:creationId xmlns:a16="http://schemas.microsoft.com/office/drawing/2014/main" id="{1F7028AE-961C-F09F-2E46-A5AE47AEFD15}"/>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8FF06081-838E-83B1-9F9D-BB30539D40AD}"/>
              </a:ext>
            </a:extLst>
          </p:cNvPr>
          <p:cNvSpPr>
            <a:spLocks noGrp="1"/>
          </p:cNvSpPr>
          <p:nvPr>
            <p:ph type="sldNum" sz="quarter" idx="12"/>
          </p:nvPr>
        </p:nvSpPr>
        <p:spPr/>
        <p:txBody>
          <a:bodyPr/>
          <a:lstStyle/>
          <a:p>
            <a:fld id="{4D01E63C-D794-4429-8564-635E6253AC5C}" type="slidenum">
              <a:rPr lang="en-US" smtClean="0"/>
              <a:pPr/>
              <a:t>4</a:t>
            </a:fld>
            <a:endParaRPr lang="en-US" dirty="0"/>
          </a:p>
        </p:txBody>
      </p:sp>
      <p:grpSp>
        <p:nvGrpSpPr>
          <p:cNvPr id="35" name="组合 34">
            <a:extLst>
              <a:ext uri="{FF2B5EF4-FFF2-40B4-BE49-F238E27FC236}">
                <a16:creationId xmlns:a16="http://schemas.microsoft.com/office/drawing/2014/main" id="{7756259D-4249-2AFC-9C3A-59D17799C253}"/>
              </a:ext>
            </a:extLst>
          </p:cNvPr>
          <p:cNvGrpSpPr/>
          <p:nvPr/>
        </p:nvGrpSpPr>
        <p:grpSpPr>
          <a:xfrm>
            <a:off x="504263" y="992441"/>
            <a:ext cx="5466230" cy="884195"/>
            <a:chOff x="504263" y="992441"/>
            <a:chExt cx="5466230" cy="884195"/>
          </a:xfrm>
        </p:grpSpPr>
        <p:sp>
          <p:nvSpPr>
            <p:cNvPr id="8" name="矩形: 圆角 7">
              <a:extLst>
                <a:ext uri="{FF2B5EF4-FFF2-40B4-BE49-F238E27FC236}">
                  <a16:creationId xmlns:a16="http://schemas.microsoft.com/office/drawing/2014/main" id="{AEC5410D-6990-47E5-FE68-61C3104E0175}"/>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Raw aging pulse-test data</a:t>
              </a:r>
              <a:endParaRPr lang="zh-CN" altLang="en-US" dirty="0">
                <a:solidFill>
                  <a:schemeClr val="tx1"/>
                </a:solidFill>
              </a:endParaRPr>
            </a:p>
          </p:txBody>
        </p:sp>
        <p:sp>
          <p:nvSpPr>
            <p:cNvPr id="24" name="箭头: 下 23">
              <a:extLst>
                <a:ext uri="{FF2B5EF4-FFF2-40B4-BE49-F238E27FC236}">
                  <a16:creationId xmlns:a16="http://schemas.microsoft.com/office/drawing/2014/main" id="{AE9DFF65-EF0A-E936-7C69-0D83D19C3097}"/>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grpSp>
        <p:nvGrpSpPr>
          <p:cNvPr id="36" name="组合 35">
            <a:extLst>
              <a:ext uri="{FF2B5EF4-FFF2-40B4-BE49-F238E27FC236}">
                <a16:creationId xmlns:a16="http://schemas.microsoft.com/office/drawing/2014/main" id="{4AD713D7-87BA-314F-FE84-E65E7F8416C4}"/>
              </a:ext>
            </a:extLst>
          </p:cNvPr>
          <p:cNvGrpSpPr/>
          <p:nvPr/>
        </p:nvGrpSpPr>
        <p:grpSpPr>
          <a:xfrm>
            <a:off x="1394907" y="1856891"/>
            <a:ext cx="5466230" cy="884195"/>
            <a:chOff x="504263" y="992441"/>
            <a:chExt cx="5466230" cy="884195"/>
          </a:xfrm>
        </p:grpSpPr>
        <p:sp>
          <p:nvSpPr>
            <p:cNvPr id="37" name="矩形: 圆角 36">
              <a:extLst>
                <a:ext uri="{FF2B5EF4-FFF2-40B4-BE49-F238E27FC236}">
                  <a16:creationId xmlns:a16="http://schemas.microsoft.com/office/drawing/2014/main" id="{B0FFC976-7A62-D61C-D341-A440D35089FC}"/>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SOC-resolved parameter extraction</a:t>
              </a:r>
              <a:endParaRPr lang="zh-CN" altLang="en-US" dirty="0">
                <a:solidFill>
                  <a:schemeClr val="tx1"/>
                </a:solidFill>
              </a:endParaRPr>
            </a:p>
          </p:txBody>
        </p:sp>
        <p:sp>
          <p:nvSpPr>
            <p:cNvPr id="38" name="箭头: 下 37">
              <a:extLst>
                <a:ext uri="{FF2B5EF4-FFF2-40B4-BE49-F238E27FC236}">
                  <a16:creationId xmlns:a16="http://schemas.microsoft.com/office/drawing/2014/main" id="{2ECF33CC-EB4F-6029-C8DD-D4B2E15CE783}"/>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grpSp>
        <p:nvGrpSpPr>
          <p:cNvPr id="39" name="组合 38">
            <a:extLst>
              <a:ext uri="{FF2B5EF4-FFF2-40B4-BE49-F238E27FC236}">
                <a16:creationId xmlns:a16="http://schemas.microsoft.com/office/drawing/2014/main" id="{565AAE7E-8CAF-0F26-78AC-4139EFDE8061}"/>
              </a:ext>
            </a:extLst>
          </p:cNvPr>
          <p:cNvGrpSpPr/>
          <p:nvPr/>
        </p:nvGrpSpPr>
        <p:grpSpPr>
          <a:xfrm>
            <a:off x="2285551" y="2721341"/>
            <a:ext cx="5466230" cy="884195"/>
            <a:chOff x="504263" y="992441"/>
            <a:chExt cx="5466230" cy="884195"/>
          </a:xfrm>
        </p:grpSpPr>
        <p:sp>
          <p:nvSpPr>
            <p:cNvPr id="40" name="矩形: 圆角 39">
              <a:extLst>
                <a:ext uri="{FF2B5EF4-FFF2-40B4-BE49-F238E27FC236}">
                  <a16:creationId xmlns:a16="http://schemas.microsoft.com/office/drawing/2014/main" id="{0F14488B-9F90-2213-BE77-C97EE7A7D19C}"/>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Capacity + R</a:t>
              </a:r>
              <a:r>
                <a:rPr lang="zh-CN" altLang="zh-CN" baseline="-25000" dirty="0">
                  <a:solidFill>
                    <a:schemeClr val="tx1"/>
                  </a:solidFill>
                </a:rPr>
                <a:t>0</a:t>
              </a:r>
              <a:r>
                <a:rPr lang="zh-CN" altLang="zh-CN" dirty="0">
                  <a:solidFill>
                    <a:schemeClr val="tx1"/>
                  </a:solidFill>
                </a:rPr>
                <a:t> + R</a:t>
              </a:r>
              <a:r>
                <a:rPr lang="zh-CN" altLang="zh-CN" baseline="-25000" dirty="0">
                  <a:solidFill>
                    <a:schemeClr val="tx1"/>
                  </a:solidFill>
                </a:rPr>
                <a:t>1</a:t>
              </a:r>
              <a:r>
                <a:rPr lang="zh-CN" altLang="zh-CN" dirty="0">
                  <a:solidFill>
                    <a:schemeClr val="tx1"/>
                  </a:solidFill>
                </a:rPr>
                <a:t> + R</a:t>
              </a:r>
              <a:r>
                <a:rPr lang="zh-CN" altLang="zh-CN" baseline="-25000" dirty="0">
                  <a:solidFill>
                    <a:schemeClr val="tx1"/>
                  </a:solidFill>
                </a:rPr>
                <a:t>2</a:t>
              </a:r>
              <a:endParaRPr lang="zh-CN" altLang="en-US" baseline="-25000" dirty="0">
                <a:solidFill>
                  <a:schemeClr val="tx1"/>
                </a:solidFill>
              </a:endParaRPr>
            </a:p>
          </p:txBody>
        </p:sp>
        <p:sp>
          <p:nvSpPr>
            <p:cNvPr id="41" name="箭头: 下 40">
              <a:extLst>
                <a:ext uri="{FF2B5EF4-FFF2-40B4-BE49-F238E27FC236}">
                  <a16:creationId xmlns:a16="http://schemas.microsoft.com/office/drawing/2014/main" id="{EFB0690C-EBB5-14E0-DDEB-2E717C392691}"/>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grpSp>
        <p:nvGrpSpPr>
          <p:cNvPr id="42" name="组合 41">
            <a:extLst>
              <a:ext uri="{FF2B5EF4-FFF2-40B4-BE49-F238E27FC236}">
                <a16:creationId xmlns:a16="http://schemas.microsoft.com/office/drawing/2014/main" id="{966DBC2F-96C9-B907-568D-5A9F248CE013}"/>
              </a:ext>
            </a:extLst>
          </p:cNvPr>
          <p:cNvGrpSpPr/>
          <p:nvPr/>
        </p:nvGrpSpPr>
        <p:grpSpPr>
          <a:xfrm>
            <a:off x="3176195" y="3585791"/>
            <a:ext cx="5466230" cy="884195"/>
            <a:chOff x="504263" y="992441"/>
            <a:chExt cx="5466230" cy="884195"/>
          </a:xfrm>
        </p:grpSpPr>
        <p:sp>
          <p:nvSpPr>
            <p:cNvPr id="43" name="矩形: 圆角 42">
              <a:extLst>
                <a:ext uri="{FF2B5EF4-FFF2-40B4-BE49-F238E27FC236}">
                  <a16:creationId xmlns:a16="http://schemas.microsoft.com/office/drawing/2014/main" id="{6C28972E-EB88-9B2C-D46D-54512F86EE98}"/>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Multi-task learning model</a:t>
              </a:r>
              <a:endParaRPr lang="zh-CN" altLang="en-US" dirty="0">
                <a:solidFill>
                  <a:schemeClr val="tx1"/>
                </a:solidFill>
              </a:endParaRPr>
            </a:p>
          </p:txBody>
        </p:sp>
        <p:sp>
          <p:nvSpPr>
            <p:cNvPr id="44" name="箭头: 下 43">
              <a:extLst>
                <a:ext uri="{FF2B5EF4-FFF2-40B4-BE49-F238E27FC236}">
                  <a16:creationId xmlns:a16="http://schemas.microsoft.com/office/drawing/2014/main" id="{DB0D523D-8665-1910-0C38-50BEA099DC33}"/>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grpSp>
        <p:nvGrpSpPr>
          <p:cNvPr id="45" name="组合 44">
            <a:extLst>
              <a:ext uri="{FF2B5EF4-FFF2-40B4-BE49-F238E27FC236}">
                <a16:creationId xmlns:a16="http://schemas.microsoft.com/office/drawing/2014/main" id="{C7CC9DEA-3FE5-65BD-F186-A9D680E29EDB}"/>
              </a:ext>
            </a:extLst>
          </p:cNvPr>
          <p:cNvGrpSpPr/>
          <p:nvPr/>
        </p:nvGrpSpPr>
        <p:grpSpPr>
          <a:xfrm>
            <a:off x="4066839" y="4450241"/>
            <a:ext cx="5466230" cy="884195"/>
            <a:chOff x="504263" y="992441"/>
            <a:chExt cx="5466230" cy="884195"/>
          </a:xfrm>
        </p:grpSpPr>
        <p:sp>
          <p:nvSpPr>
            <p:cNvPr id="46" name="矩形: 圆角 45">
              <a:extLst>
                <a:ext uri="{FF2B5EF4-FFF2-40B4-BE49-F238E27FC236}">
                  <a16:creationId xmlns:a16="http://schemas.microsoft.com/office/drawing/2014/main" id="{E2B77F7A-BFD4-A1FB-8A75-55BB9ED87877}"/>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Battery health prediction</a:t>
              </a:r>
              <a:endParaRPr lang="zh-CN" altLang="en-US" dirty="0">
                <a:solidFill>
                  <a:schemeClr val="tx1"/>
                </a:solidFill>
              </a:endParaRPr>
            </a:p>
          </p:txBody>
        </p:sp>
        <p:sp>
          <p:nvSpPr>
            <p:cNvPr id="47" name="箭头: 下 46">
              <a:extLst>
                <a:ext uri="{FF2B5EF4-FFF2-40B4-BE49-F238E27FC236}">
                  <a16:creationId xmlns:a16="http://schemas.microsoft.com/office/drawing/2014/main" id="{6CB0EDCF-495C-EA95-0474-E7E85DF30225}"/>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sp>
        <p:nvSpPr>
          <p:cNvPr id="49" name="矩形: 圆角 48">
            <a:extLst>
              <a:ext uri="{FF2B5EF4-FFF2-40B4-BE49-F238E27FC236}">
                <a16:creationId xmlns:a16="http://schemas.microsoft.com/office/drawing/2014/main" id="{44337A70-A94E-D23F-4201-ACD967671A54}"/>
              </a:ext>
            </a:extLst>
          </p:cNvPr>
          <p:cNvSpPr/>
          <p:nvPr/>
        </p:nvSpPr>
        <p:spPr>
          <a:xfrm>
            <a:off x="4957481" y="5314690"/>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Chemistry-specific degradation comparison</a:t>
            </a:r>
            <a:endParaRPr lang="zh-CN" altLang="en-US" dirty="0">
              <a:solidFill>
                <a:schemeClr val="tx1"/>
              </a:solidFill>
            </a:endParaRPr>
          </a:p>
        </p:txBody>
      </p:sp>
    </p:spTree>
    <p:extLst>
      <p:ext uri="{BB962C8B-B14F-4D97-AF65-F5344CB8AC3E}">
        <p14:creationId xmlns:p14="http://schemas.microsoft.com/office/powerpoint/2010/main" val="19495448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369CFF-05C3-16D5-6A87-5B55C41FC4C6}"/>
              </a:ext>
            </a:extLst>
          </p:cNvPr>
          <p:cNvSpPr>
            <a:spLocks noGrp="1" noChangeAspect="1"/>
          </p:cNvSpPr>
          <p:nvPr>
            <p:ph type="title"/>
          </p:nvPr>
        </p:nvSpPr>
        <p:spPr>
          <a:xfrm>
            <a:off x="383950" y="201600"/>
            <a:ext cx="11422513" cy="543600"/>
          </a:xfrm>
        </p:spPr>
        <p:txBody>
          <a:bodyPr anchor="b">
            <a:normAutofit/>
          </a:bodyPr>
          <a:lstStyle/>
          <a:p>
            <a:r>
              <a:rPr lang="en-US" altLang="zh-CN" dirty="0"/>
              <a:t>Gantt Bilder</a:t>
            </a:r>
            <a:endParaRPr lang="zh-CN" altLang="zh-CN" dirty="0"/>
          </a:p>
        </p:txBody>
      </p:sp>
      <p:pic>
        <p:nvPicPr>
          <p:cNvPr id="7" name="图片 6">
            <a:extLst>
              <a:ext uri="{FF2B5EF4-FFF2-40B4-BE49-F238E27FC236}">
                <a16:creationId xmlns:a16="http://schemas.microsoft.com/office/drawing/2014/main" id="{7F8F84EE-7926-A921-CCEE-76A1EDA7B9F6}"/>
              </a:ext>
            </a:extLst>
          </p:cNvPr>
          <p:cNvPicPr>
            <a:picLocks noChangeAspect="1"/>
          </p:cNvPicPr>
          <p:nvPr/>
        </p:nvPicPr>
        <p:blipFill>
          <a:blip r:embed="rId3"/>
          <a:stretch>
            <a:fillRect/>
          </a:stretch>
        </p:blipFill>
        <p:spPr>
          <a:xfrm>
            <a:off x="383950" y="1037230"/>
            <a:ext cx="11321625" cy="5009818"/>
          </a:xfrm>
          <a:prstGeom prst="rect">
            <a:avLst/>
          </a:prstGeom>
          <a:noFill/>
        </p:spPr>
      </p:pic>
      <p:sp>
        <p:nvSpPr>
          <p:cNvPr id="4" name="日期占位符 3">
            <a:extLst>
              <a:ext uri="{FF2B5EF4-FFF2-40B4-BE49-F238E27FC236}">
                <a16:creationId xmlns:a16="http://schemas.microsoft.com/office/drawing/2014/main" id="{0026AFB3-2D62-EEAC-75DE-207484AEB59D}"/>
              </a:ext>
            </a:extLst>
          </p:cNvPr>
          <p:cNvSpPr>
            <a:spLocks noGrp="1"/>
          </p:cNvSpPr>
          <p:nvPr>
            <p:ph type="dt" sz="half" idx="10"/>
          </p:nvPr>
        </p:nvSpPr>
        <p:spPr>
          <a:xfrm>
            <a:off x="935480" y="6361350"/>
            <a:ext cx="5668062" cy="524824"/>
          </a:xfrm>
        </p:spPr>
        <p:txBody>
          <a:bodyPr anchor="t">
            <a:normAutofit/>
          </a:bodyPr>
          <a:lstStyle/>
          <a:p>
            <a:pPr>
              <a:spcAft>
                <a:spcPts val="600"/>
              </a:spcAft>
            </a:pPr>
            <a:r>
              <a:rPr lang="de-DE" dirty="0"/>
              <a:t>09.07.2026</a:t>
            </a:r>
            <a:endParaRPr lang="de-DE"/>
          </a:p>
        </p:txBody>
      </p:sp>
      <p:sp>
        <p:nvSpPr>
          <p:cNvPr id="5" name="页脚占位符 4">
            <a:extLst>
              <a:ext uri="{FF2B5EF4-FFF2-40B4-BE49-F238E27FC236}">
                <a16:creationId xmlns:a16="http://schemas.microsoft.com/office/drawing/2014/main" id="{BC09910C-77B7-860D-351B-E346039301CE}"/>
              </a:ext>
            </a:extLst>
          </p:cNvPr>
          <p:cNvSpPr>
            <a:spLocks noGrp="1"/>
          </p:cNvSpPr>
          <p:nvPr>
            <p:ph type="ftr" sz="quarter" idx="11"/>
          </p:nvPr>
        </p:nvSpPr>
        <p:spPr>
          <a:xfrm>
            <a:off x="1818425" y="6361350"/>
            <a:ext cx="4391428" cy="524824"/>
          </a:xfrm>
        </p:spPr>
        <p:txBody>
          <a:bodyPr anchor="t">
            <a:normAutofit/>
          </a:bodyPr>
          <a:lstStyle/>
          <a:p>
            <a:pPr>
              <a:spcAft>
                <a:spcPts val="600"/>
              </a:spcAft>
            </a:pPr>
            <a:r>
              <a:rPr lang="en-US" dirty="0"/>
              <a:t>Y</a:t>
            </a:r>
            <a:r>
              <a:rPr lang="en-US" altLang="zh-CN" dirty="0"/>
              <a:t>ida Cheng</a:t>
            </a:r>
            <a:endParaRPr lang="en-US"/>
          </a:p>
        </p:txBody>
      </p:sp>
      <p:sp>
        <p:nvSpPr>
          <p:cNvPr id="6" name="灯片编号占位符 5">
            <a:extLst>
              <a:ext uri="{FF2B5EF4-FFF2-40B4-BE49-F238E27FC236}">
                <a16:creationId xmlns:a16="http://schemas.microsoft.com/office/drawing/2014/main" id="{46744937-B887-441D-7256-3FE8569AAE05}"/>
              </a:ext>
            </a:extLst>
          </p:cNvPr>
          <p:cNvSpPr>
            <a:spLocks noGrp="1"/>
          </p:cNvSpPr>
          <p:nvPr>
            <p:ph type="sldNum" sz="quarter" idx="12"/>
          </p:nvPr>
        </p:nvSpPr>
        <p:spPr>
          <a:xfrm>
            <a:off x="383950" y="6361350"/>
            <a:ext cx="974273" cy="396000"/>
          </a:xfrm>
        </p:spPr>
        <p:txBody>
          <a:bodyPr anchor="t">
            <a:normAutofit/>
          </a:bodyPr>
          <a:lstStyle/>
          <a:p>
            <a:pPr>
              <a:spcAft>
                <a:spcPts val="600"/>
              </a:spcAft>
            </a:pPr>
            <a:fld id="{4D01E63C-D794-4429-8564-635E6253AC5C}" type="slidenum">
              <a:rPr lang="en-US" smtClean="0"/>
              <a:pPr>
                <a:spcAft>
                  <a:spcPts val="600"/>
                </a:spcAft>
              </a:pPr>
              <a:t>5</a:t>
            </a:fld>
            <a:endParaRPr lang="en-US"/>
          </a:p>
        </p:txBody>
      </p:sp>
    </p:spTree>
    <p:extLst>
      <p:ext uri="{BB962C8B-B14F-4D97-AF65-F5344CB8AC3E}">
        <p14:creationId xmlns:p14="http://schemas.microsoft.com/office/powerpoint/2010/main" val="1711993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87667-3B9E-47B3-E1DA-12823235C8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026793-85E4-4F17-A906-13AB22D9218A}"/>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2275CC9D-0470-2053-309B-08A882C08E2A}"/>
              </a:ext>
            </a:extLst>
          </p:cNvPr>
          <p:cNvSpPr>
            <a:spLocks noGrp="1"/>
          </p:cNvSpPr>
          <p:nvPr>
            <p:ph idx="1"/>
          </p:nvPr>
        </p:nvSpPr>
        <p:spPr/>
        <p:txBody>
          <a:bodyPr/>
          <a:lstStyle/>
          <a:p>
            <a:pPr>
              <a:lnSpc>
                <a:spcPct val="200000"/>
              </a:lnSpc>
            </a:pPr>
            <a:r>
              <a:rPr lang="en-US" altLang="zh-CN" dirty="0"/>
              <a:t>Research Background &amp; Objectives</a:t>
            </a:r>
          </a:p>
          <a:p>
            <a:pPr>
              <a:lnSpc>
                <a:spcPct val="200000"/>
              </a:lnSpc>
            </a:pPr>
            <a:r>
              <a:rPr lang="en-US" altLang="zh-CN" b="1" dirty="0">
                <a:solidFill>
                  <a:schemeClr val="accent4"/>
                </a:solidFill>
              </a:rPr>
              <a:t>Literature Review</a:t>
            </a:r>
          </a:p>
          <a:p>
            <a:pPr>
              <a:lnSpc>
                <a:spcPct val="200000"/>
              </a:lnSpc>
            </a:pPr>
            <a:r>
              <a:rPr lang="en-US" altLang="zh-CN" dirty="0"/>
              <a:t>Data Processing and Resistance Extraction Progress</a:t>
            </a:r>
          </a:p>
          <a:p>
            <a:pPr>
              <a:lnSpc>
                <a:spcPct val="200000"/>
              </a:lnSpc>
            </a:pPr>
            <a:r>
              <a:rPr lang="en-US" altLang="zh-CN" dirty="0"/>
              <a:t>Preliminary Findings and Current Problems </a:t>
            </a:r>
          </a:p>
          <a:p>
            <a:pPr>
              <a:lnSpc>
                <a:spcPct val="200000"/>
              </a:lnSpc>
            </a:pPr>
            <a:r>
              <a:rPr lang="en-US" altLang="zh-CN" dirty="0"/>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7465AA94-5509-C29F-C057-F50848990246}"/>
              </a:ext>
            </a:extLst>
          </p:cNvPr>
          <p:cNvSpPr>
            <a:spLocks noGrp="1"/>
          </p:cNvSpPr>
          <p:nvPr>
            <p:ph type="dt" sz="half" idx="10"/>
          </p:nvPr>
        </p:nvSpPr>
        <p:spPr/>
        <p:txBody>
          <a:bodyPr/>
          <a:lstStyle/>
          <a:p>
            <a:r>
              <a:rPr lang="de-DE" altLang="zh-CN" dirty="0"/>
              <a:t>09.07.2026</a:t>
            </a:r>
          </a:p>
          <a:p>
            <a:pPr algn="l"/>
            <a:endParaRPr lang="de-DE" dirty="0"/>
          </a:p>
        </p:txBody>
      </p:sp>
      <p:sp>
        <p:nvSpPr>
          <p:cNvPr id="5" name="页脚占位符 4">
            <a:extLst>
              <a:ext uri="{FF2B5EF4-FFF2-40B4-BE49-F238E27FC236}">
                <a16:creationId xmlns:a16="http://schemas.microsoft.com/office/drawing/2014/main" id="{F7EBBEE7-C9CC-6258-66F2-699AE002D223}"/>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02DAEB63-4742-3FEA-CB43-81C72F88DA33}"/>
              </a:ext>
            </a:extLst>
          </p:cNvPr>
          <p:cNvSpPr>
            <a:spLocks noGrp="1"/>
          </p:cNvSpPr>
          <p:nvPr>
            <p:ph type="sldNum" sz="quarter" idx="12"/>
          </p:nvPr>
        </p:nvSpPr>
        <p:spPr/>
        <p:txBody>
          <a:bodyPr/>
          <a:lstStyle/>
          <a:p>
            <a:fld id="{4D01E63C-D794-4429-8564-635E6253AC5C}" type="slidenum">
              <a:rPr lang="en-US" smtClean="0"/>
              <a:pPr/>
              <a:t>6</a:t>
            </a:fld>
            <a:endParaRPr lang="en-US" dirty="0"/>
          </a:p>
        </p:txBody>
      </p:sp>
    </p:spTree>
    <p:extLst>
      <p:ext uri="{BB962C8B-B14F-4D97-AF65-F5344CB8AC3E}">
        <p14:creationId xmlns:p14="http://schemas.microsoft.com/office/powerpoint/2010/main" val="1767210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504B-2E3F-A248-A8A1-629844F0B42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427E6D3-ED69-1501-A00A-FFDEC6E10708}"/>
              </a:ext>
            </a:extLst>
          </p:cNvPr>
          <p:cNvSpPr>
            <a:spLocks noGrp="1"/>
          </p:cNvSpPr>
          <p:nvPr>
            <p:ph type="title"/>
          </p:nvPr>
        </p:nvSpPr>
        <p:spPr/>
        <p:txBody>
          <a:bodyPr/>
          <a:lstStyle/>
          <a:p>
            <a:r>
              <a:rPr lang="zh-CN" altLang="zh-CN" sz="1800" dirty="0"/>
              <a:t>Literature Review: From Battery </a:t>
            </a:r>
            <a:r>
              <a:rPr lang="en-US" altLang="zh-CN" sz="1800" dirty="0"/>
              <a:t>Aging</a:t>
            </a:r>
            <a:r>
              <a:rPr lang="zh-CN" altLang="zh-CN" sz="1800" dirty="0"/>
              <a:t> Mechanisms to 2RC Parameter Extraction</a:t>
            </a:r>
          </a:p>
        </p:txBody>
      </p:sp>
      <p:sp>
        <p:nvSpPr>
          <p:cNvPr id="4" name="Datumsplatzhalter 3">
            <a:extLst>
              <a:ext uri="{FF2B5EF4-FFF2-40B4-BE49-F238E27FC236}">
                <a16:creationId xmlns:a16="http://schemas.microsoft.com/office/drawing/2014/main" id="{CDC22A2E-B985-335D-8B0F-9085D888FE2E}"/>
              </a:ext>
            </a:extLst>
          </p:cNvPr>
          <p:cNvSpPr>
            <a:spLocks noGrp="1"/>
          </p:cNvSpPr>
          <p:nvPr>
            <p:ph type="dt" sz="half" idx="10"/>
          </p:nvPr>
        </p:nvSpPr>
        <p:spPr/>
        <p:txBody>
          <a:bodyPr/>
          <a:lstStyle/>
          <a:p>
            <a:pPr algn="l"/>
            <a:r>
              <a:rPr lang="de-DE" dirty="0"/>
              <a:t>09.07.2026</a:t>
            </a:r>
          </a:p>
        </p:txBody>
      </p:sp>
      <p:sp>
        <p:nvSpPr>
          <p:cNvPr id="5" name="Fußzeilenplatzhalter 4">
            <a:extLst>
              <a:ext uri="{FF2B5EF4-FFF2-40B4-BE49-F238E27FC236}">
                <a16:creationId xmlns:a16="http://schemas.microsoft.com/office/drawing/2014/main" id="{199CA0D5-C703-9501-DFCD-3E306A80418E}"/>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63A81CF9-90C9-CB3F-AD94-98620A335EF3}"/>
              </a:ext>
            </a:extLst>
          </p:cNvPr>
          <p:cNvSpPr>
            <a:spLocks noGrp="1"/>
          </p:cNvSpPr>
          <p:nvPr>
            <p:ph type="sldNum" sz="quarter" idx="12"/>
          </p:nvPr>
        </p:nvSpPr>
        <p:spPr/>
        <p:txBody>
          <a:bodyPr/>
          <a:lstStyle/>
          <a:p>
            <a:fld id="{4D01E63C-D794-4429-8564-635E6253AC5C}" type="slidenum">
              <a:rPr lang="en-US" smtClean="0"/>
              <a:pPr/>
              <a:t>7</a:t>
            </a:fld>
            <a:endParaRPr lang="en-US" dirty="0"/>
          </a:p>
        </p:txBody>
      </p:sp>
      <p:sp>
        <p:nvSpPr>
          <p:cNvPr id="10" name="文本框 9">
            <a:extLst>
              <a:ext uri="{FF2B5EF4-FFF2-40B4-BE49-F238E27FC236}">
                <a16:creationId xmlns:a16="http://schemas.microsoft.com/office/drawing/2014/main" id="{45FB1AAE-A725-71C5-900B-21FC40700908}"/>
              </a:ext>
            </a:extLst>
          </p:cNvPr>
          <p:cNvSpPr txBox="1"/>
          <p:nvPr/>
        </p:nvSpPr>
        <p:spPr>
          <a:xfrm>
            <a:off x="3237876" y="5817685"/>
            <a:ext cx="8731770" cy="553998"/>
          </a:xfrm>
          <a:prstGeom prst="rect">
            <a:avLst/>
          </a:prstGeom>
          <a:noFill/>
        </p:spPr>
        <p:txBody>
          <a:bodyPr wrap="square" rtlCol="0">
            <a:spAutoFit/>
          </a:bodyPr>
          <a:lstStyle/>
          <a:p>
            <a:pPr algn="r"/>
            <a:r>
              <a:rPr lang="en-US" altLang="zh-CN" sz="1000" dirty="0"/>
              <a:t>Birkl et al., Journal of Power Sources, 2017</a:t>
            </a:r>
          </a:p>
          <a:p>
            <a:pPr algn="r"/>
            <a:r>
              <a:rPr lang="zh-CN" altLang="zh-CN" sz="1000" dirty="0"/>
              <a:t>Excitation Pulse Influence on the Accuracy and Robustness of Equivalent Circuit Model Parameter Identification for Li-Ion Batteries</a:t>
            </a:r>
            <a:r>
              <a:rPr lang="en-US" altLang="zh-CN" sz="1000" dirty="0"/>
              <a:t>.</a:t>
            </a:r>
            <a:r>
              <a:rPr lang="zh-CN" altLang="zh-CN" sz="1000" dirty="0"/>
              <a:t>Grebtsov et al., 2026</a:t>
            </a:r>
            <a:endParaRPr lang="zh-CN" altLang="en-US" sz="1000" dirty="0"/>
          </a:p>
          <a:p>
            <a:endParaRPr lang="en-US" altLang="zh-CN" sz="1000" dirty="0"/>
          </a:p>
        </p:txBody>
      </p:sp>
      <p:pic>
        <p:nvPicPr>
          <p:cNvPr id="11" name="图片 10">
            <a:extLst>
              <a:ext uri="{FF2B5EF4-FFF2-40B4-BE49-F238E27FC236}">
                <a16:creationId xmlns:a16="http://schemas.microsoft.com/office/drawing/2014/main" id="{0B73C242-4490-FECB-FEFB-A8DFD74A505C}"/>
              </a:ext>
            </a:extLst>
          </p:cNvPr>
          <p:cNvPicPr>
            <a:picLocks noChangeAspect="1"/>
          </p:cNvPicPr>
          <p:nvPr/>
        </p:nvPicPr>
        <p:blipFill>
          <a:blip r:embed="rId3"/>
          <a:stretch>
            <a:fillRect/>
          </a:stretch>
        </p:blipFill>
        <p:spPr>
          <a:xfrm>
            <a:off x="485677" y="945350"/>
            <a:ext cx="3419260" cy="4235022"/>
          </a:xfrm>
          <a:prstGeom prst="rect">
            <a:avLst/>
          </a:prstGeom>
        </p:spPr>
      </p:pic>
      <p:sp>
        <p:nvSpPr>
          <p:cNvPr id="15" name="文本框 14">
            <a:extLst>
              <a:ext uri="{FF2B5EF4-FFF2-40B4-BE49-F238E27FC236}">
                <a16:creationId xmlns:a16="http://schemas.microsoft.com/office/drawing/2014/main" id="{A72C88C9-08E3-0025-D623-CE998AA53990}"/>
              </a:ext>
            </a:extLst>
          </p:cNvPr>
          <p:cNvSpPr txBox="1"/>
          <p:nvPr/>
        </p:nvSpPr>
        <p:spPr>
          <a:xfrm>
            <a:off x="383950" y="5362942"/>
            <a:ext cx="7079740" cy="369332"/>
          </a:xfrm>
          <a:prstGeom prst="rect">
            <a:avLst/>
          </a:prstGeom>
          <a:noFill/>
        </p:spPr>
        <p:txBody>
          <a:bodyPr wrap="square">
            <a:spAutoFit/>
          </a:bodyPr>
          <a:lstStyle/>
          <a:p>
            <a:pPr marL="285750" indent="-285750">
              <a:buClr>
                <a:srgbClr val="00549F"/>
              </a:buClr>
              <a:buFont typeface="Wingdings" panose="05000000000000000000" pitchFamily="2" charset="2"/>
              <a:buChar char="n"/>
            </a:pPr>
            <a:r>
              <a:rPr lang="zh-CN" altLang="zh-CN" dirty="0"/>
              <a:t>Multiple coupled degradation mechanisms cause battery aging.</a:t>
            </a:r>
            <a:endParaRPr lang="zh-CN" altLang="en-US" dirty="0"/>
          </a:p>
        </p:txBody>
      </p:sp>
      <p:pic>
        <p:nvPicPr>
          <p:cNvPr id="17" name="图片 16">
            <a:extLst>
              <a:ext uri="{FF2B5EF4-FFF2-40B4-BE49-F238E27FC236}">
                <a16:creationId xmlns:a16="http://schemas.microsoft.com/office/drawing/2014/main" id="{B3D56BE2-FFEA-B653-9B45-8A43E2B7CB73}"/>
              </a:ext>
            </a:extLst>
          </p:cNvPr>
          <p:cNvPicPr>
            <a:picLocks noChangeAspect="1"/>
          </p:cNvPicPr>
          <p:nvPr/>
        </p:nvPicPr>
        <p:blipFill>
          <a:blip r:embed="rId4"/>
          <a:stretch>
            <a:fillRect/>
          </a:stretch>
        </p:blipFill>
        <p:spPr>
          <a:xfrm>
            <a:off x="4958928" y="838524"/>
            <a:ext cx="5009524" cy="2590476"/>
          </a:xfrm>
          <a:prstGeom prst="rect">
            <a:avLst/>
          </a:prstGeom>
        </p:spPr>
      </p:pic>
      <p:sp>
        <p:nvSpPr>
          <p:cNvPr id="20" name="文本框 19">
            <a:extLst>
              <a:ext uri="{FF2B5EF4-FFF2-40B4-BE49-F238E27FC236}">
                <a16:creationId xmlns:a16="http://schemas.microsoft.com/office/drawing/2014/main" id="{7C79D628-A694-1515-4926-0687D74F37EC}"/>
              </a:ext>
            </a:extLst>
          </p:cNvPr>
          <p:cNvSpPr txBox="1"/>
          <p:nvPr/>
        </p:nvSpPr>
        <p:spPr>
          <a:xfrm>
            <a:off x="4983979" y="3410885"/>
            <a:ext cx="7079740" cy="1287532"/>
          </a:xfrm>
          <a:prstGeom prst="rect">
            <a:avLst/>
          </a:prstGeom>
          <a:noFill/>
        </p:spPr>
        <p:txBody>
          <a:bodyPr wrap="square">
            <a:spAutoFit/>
          </a:bodyPr>
          <a:lstStyle/>
          <a:p>
            <a:pPr marL="285750" indent="-285750">
              <a:lnSpc>
                <a:spcPct val="150000"/>
              </a:lnSpc>
              <a:buClr>
                <a:srgbClr val="00549F"/>
              </a:buClr>
              <a:buFont typeface="Wingdings" panose="05000000000000000000" pitchFamily="2" charset="2"/>
              <a:buChar char="n"/>
            </a:pPr>
            <a:r>
              <a:rPr lang="zh-CN" altLang="en-US" dirty="0"/>
              <a:t>2RC Thevenin model captures fast and slow voltage relaxation.</a:t>
            </a:r>
          </a:p>
          <a:p>
            <a:pPr marL="285750" indent="-285750">
              <a:lnSpc>
                <a:spcPct val="150000"/>
              </a:lnSpc>
              <a:buClr>
                <a:srgbClr val="00549F"/>
              </a:buClr>
              <a:buFont typeface="Wingdings" panose="05000000000000000000" pitchFamily="2" charset="2"/>
              <a:buChar char="n"/>
            </a:pPr>
            <a:r>
              <a:rPr lang="zh-CN" altLang="en-US" dirty="0"/>
              <a:t>R₀ represents the instantaneous ohmic resistance.</a:t>
            </a:r>
          </a:p>
          <a:p>
            <a:pPr marL="285750" indent="-285750">
              <a:lnSpc>
                <a:spcPct val="150000"/>
              </a:lnSpc>
              <a:buClr>
                <a:srgbClr val="00549F"/>
              </a:buClr>
              <a:buFont typeface="Wingdings" panose="05000000000000000000" pitchFamily="2" charset="2"/>
              <a:buChar char="n"/>
            </a:pPr>
            <a:r>
              <a:rPr lang="zh-CN" altLang="en-US" dirty="0"/>
              <a:t>R₁/τ₁ and R₂/τ₂ describe fast and slow polarization dynamics.</a:t>
            </a:r>
          </a:p>
        </p:txBody>
      </p:sp>
    </p:spTree>
    <p:extLst>
      <p:ext uri="{BB962C8B-B14F-4D97-AF65-F5344CB8AC3E}">
        <p14:creationId xmlns:p14="http://schemas.microsoft.com/office/powerpoint/2010/main" val="1093137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BE5AC-7D09-4A71-B16A-D8CCB97ADD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9A46F1-993E-9212-F5FE-C2BD8D0A6662}"/>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5AA06186-8B5C-4CEC-B05E-69FBB3424EEE}"/>
              </a:ext>
            </a:extLst>
          </p:cNvPr>
          <p:cNvSpPr>
            <a:spLocks noGrp="1"/>
          </p:cNvSpPr>
          <p:nvPr>
            <p:ph idx="1"/>
          </p:nvPr>
        </p:nvSpPr>
        <p:spPr/>
        <p:txBody>
          <a:bodyPr/>
          <a:lstStyle/>
          <a:p>
            <a:pPr>
              <a:lnSpc>
                <a:spcPct val="200000"/>
              </a:lnSpc>
            </a:pPr>
            <a:r>
              <a:rPr lang="en-US" altLang="zh-CN" dirty="0"/>
              <a:t>Research Background &amp; Objectives</a:t>
            </a:r>
          </a:p>
          <a:p>
            <a:pPr>
              <a:lnSpc>
                <a:spcPct val="200000"/>
              </a:lnSpc>
            </a:pPr>
            <a:r>
              <a:rPr lang="en-US" altLang="zh-CN" dirty="0"/>
              <a:t>Literature Review</a:t>
            </a:r>
          </a:p>
          <a:p>
            <a:pPr>
              <a:lnSpc>
                <a:spcPct val="200000"/>
              </a:lnSpc>
            </a:pPr>
            <a:r>
              <a:rPr lang="en-US" altLang="zh-CN" b="1" dirty="0">
                <a:solidFill>
                  <a:schemeClr val="accent4"/>
                </a:solidFill>
              </a:rPr>
              <a:t>Data Processing and Resistance Extraction Progress</a:t>
            </a:r>
          </a:p>
          <a:p>
            <a:pPr>
              <a:lnSpc>
                <a:spcPct val="200000"/>
              </a:lnSpc>
            </a:pPr>
            <a:r>
              <a:rPr lang="en-US" altLang="zh-CN" dirty="0"/>
              <a:t>Preliminary Findings and Current Problems</a:t>
            </a:r>
          </a:p>
          <a:p>
            <a:pPr>
              <a:lnSpc>
                <a:spcPct val="200000"/>
              </a:lnSpc>
            </a:pPr>
            <a:r>
              <a:rPr lang="en-US" altLang="zh-CN" dirty="0"/>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9A823C9F-FB0A-E518-6DCB-95FC8CDA67D1}"/>
              </a:ext>
            </a:extLst>
          </p:cNvPr>
          <p:cNvSpPr>
            <a:spLocks noGrp="1"/>
          </p:cNvSpPr>
          <p:nvPr>
            <p:ph type="dt" sz="half" idx="10"/>
          </p:nvPr>
        </p:nvSpPr>
        <p:spPr/>
        <p:txBody>
          <a:bodyPr/>
          <a:lstStyle/>
          <a:p>
            <a:r>
              <a:rPr lang="de-DE" altLang="zh-CN" dirty="0"/>
              <a:t>09.07.2026</a:t>
            </a:r>
          </a:p>
          <a:p>
            <a:pPr algn="l"/>
            <a:endParaRPr lang="de-DE" dirty="0"/>
          </a:p>
        </p:txBody>
      </p:sp>
      <p:sp>
        <p:nvSpPr>
          <p:cNvPr id="5" name="页脚占位符 4">
            <a:extLst>
              <a:ext uri="{FF2B5EF4-FFF2-40B4-BE49-F238E27FC236}">
                <a16:creationId xmlns:a16="http://schemas.microsoft.com/office/drawing/2014/main" id="{1F0D4923-2E43-A645-F4DB-5B6A9F2937C8}"/>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36965DBF-B642-5C42-9C07-B85459A0630E}"/>
              </a:ext>
            </a:extLst>
          </p:cNvPr>
          <p:cNvSpPr>
            <a:spLocks noGrp="1"/>
          </p:cNvSpPr>
          <p:nvPr>
            <p:ph type="sldNum" sz="quarter" idx="12"/>
          </p:nvPr>
        </p:nvSpPr>
        <p:spPr/>
        <p:txBody>
          <a:bodyPr/>
          <a:lstStyle/>
          <a:p>
            <a:fld id="{4D01E63C-D794-4429-8564-635E6253AC5C}" type="slidenum">
              <a:rPr lang="en-US" smtClean="0"/>
              <a:pPr/>
              <a:t>8</a:t>
            </a:fld>
            <a:endParaRPr lang="en-US" dirty="0"/>
          </a:p>
        </p:txBody>
      </p:sp>
    </p:spTree>
    <p:extLst>
      <p:ext uri="{BB962C8B-B14F-4D97-AF65-F5344CB8AC3E}">
        <p14:creationId xmlns:p14="http://schemas.microsoft.com/office/powerpoint/2010/main" val="2936606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F4598-123A-4964-CCEC-48327BBA50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70A9051-2E16-41C7-E769-20A83032AA8C}"/>
              </a:ext>
            </a:extLst>
          </p:cNvPr>
          <p:cNvSpPr>
            <a:spLocks noGrp="1"/>
          </p:cNvSpPr>
          <p:nvPr>
            <p:ph type="title"/>
          </p:nvPr>
        </p:nvSpPr>
        <p:spPr>
          <a:xfrm>
            <a:off x="383950" y="201600"/>
            <a:ext cx="11422513" cy="543600"/>
          </a:xfrm>
        </p:spPr>
        <p:txBody>
          <a:bodyPr anchor="b">
            <a:normAutofit/>
          </a:bodyPr>
          <a:lstStyle/>
          <a:p>
            <a:r>
              <a:rPr lang="en-US" altLang="zh-CN" dirty="0"/>
              <a:t>Data processing</a:t>
            </a:r>
            <a:r>
              <a:rPr lang="zh-CN" altLang="en-US" dirty="0"/>
              <a:t>：</a:t>
            </a:r>
            <a:r>
              <a:rPr lang="zh-CN" altLang="zh-CN" dirty="0"/>
              <a:t>From Raw Time Series to Pulse-Pause Pairs</a:t>
            </a:r>
            <a:endParaRPr lang="zh-CN" altLang="en-US" dirty="0"/>
          </a:p>
        </p:txBody>
      </p:sp>
      <p:pic>
        <p:nvPicPr>
          <p:cNvPr id="10" name="图片 9">
            <a:extLst>
              <a:ext uri="{FF2B5EF4-FFF2-40B4-BE49-F238E27FC236}">
                <a16:creationId xmlns:a16="http://schemas.microsoft.com/office/drawing/2014/main" id="{3833F064-C0C5-EFFE-D700-1875013BAAE4}"/>
              </a:ext>
            </a:extLst>
          </p:cNvPr>
          <p:cNvPicPr>
            <a:picLocks noChangeAspect="1"/>
          </p:cNvPicPr>
          <p:nvPr/>
        </p:nvPicPr>
        <p:blipFill>
          <a:blip r:embed="rId3"/>
          <a:stretch>
            <a:fillRect/>
          </a:stretch>
        </p:blipFill>
        <p:spPr>
          <a:xfrm>
            <a:off x="383950" y="1410111"/>
            <a:ext cx="5620068" cy="4215050"/>
          </a:xfrm>
          <a:prstGeom prst="rect">
            <a:avLst/>
          </a:prstGeom>
          <a:noFill/>
        </p:spPr>
      </p:pic>
      <p:sp>
        <p:nvSpPr>
          <p:cNvPr id="3" name="内容占位符 2">
            <a:extLst>
              <a:ext uri="{FF2B5EF4-FFF2-40B4-BE49-F238E27FC236}">
                <a16:creationId xmlns:a16="http://schemas.microsoft.com/office/drawing/2014/main" id="{7968B80C-ADAF-E1C7-309F-D4B55A18F44C}"/>
              </a:ext>
            </a:extLst>
          </p:cNvPr>
          <p:cNvSpPr>
            <a:spLocks noGrp="1"/>
          </p:cNvSpPr>
          <p:nvPr>
            <p:ph idx="13"/>
          </p:nvPr>
        </p:nvSpPr>
        <p:spPr>
          <a:xfrm>
            <a:off x="6191194" y="1151999"/>
            <a:ext cx="5620068" cy="4731275"/>
          </a:xfrm>
        </p:spPr>
        <p:txBody>
          <a:bodyPr>
            <a:normAutofit lnSpcReduction="10000"/>
          </a:bodyPr>
          <a:lstStyle/>
          <a:p>
            <a:pPr marL="0" indent="0">
              <a:buNone/>
            </a:pPr>
            <a:r>
              <a:rPr lang="zh-CN" altLang="zh-CN" dirty="0"/>
              <a:t>Data processing steps</a:t>
            </a:r>
            <a:r>
              <a:rPr lang="zh-CN" altLang="en-US" dirty="0"/>
              <a:t>：</a:t>
            </a:r>
            <a:br>
              <a:rPr lang="zh-CN" altLang="zh-CN" dirty="0"/>
            </a:br>
            <a:br>
              <a:rPr lang="zh-CN" altLang="zh-CN" dirty="0"/>
            </a:br>
            <a:r>
              <a:rPr lang="en-US" altLang="zh-CN" dirty="0"/>
              <a:t>1. </a:t>
            </a:r>
            <a:r>
              <a:rPr lang="zh-CN" altLang="zh-CN" dirty="0"/>
              <a:t>SOH extraction from filename</a:t>
            </a:r>
            <a:br>
              <a:rPr lang="zh-CN" altLang="zh-CN" dirty="0"/>
            </a:br>
            <a:br>
              <a:rPr lang="zh-CN" altLang="zh-CN" dirty="0"/>
            </a:br>
            <a:r>
              <a:rPr lang="en-US" altLang="zh-CN" dirty="0"/>
              <a:t>2. </a:t>
            </a:r>
            <a:r>
              <a:rPr lang="zh-CN" altLang="zh-CN" dirty="0"/>
              <a:t>Time-based cycle segmentation</a:t>
            </a:r>
            <a:br>
              <a:rPr lang="zh-CN" altLang="zh-CN" dirty="0"/>
            </a:br>
            <a:br>
              <a:rPr lang="zh-CN" altLang="zh-CN" dirty="0"/>
            </a:br>
            <a:r>
              <a:rPr lang="en-US" altLang="zh-CN" dirty="0"/>
              <a:t>3. </a:t>
            </a:r>
            <a:r>
              <a:rPr lang="zh-CN" altLang="zh-CN" dirty="0"/>
              <a:t>SOC assignment: 90%, 50%, 10%</a:t>
            </a:r>
            <a:br>
              <a:rPr lang="zh-CN" altLang="zh-CN" dirty="0"/>
            </a:br>
            <a:br>
              <a:rPr lang="zh-CN" altLang="zh-CN" dirty="0"/>
            </a:br>
            <a:r>
              <a:rPr lang="en-US" altLang="zh-CN" dirty="0"/>
              <a:t>4. </a:t>
            </a:r>
            <a:r>
              <a:rPr lang="zh-CN" altLang="zh-CN" dirty="0"/>
              <a:t>Stable pulse filtering</a:t>
            </a:r>
            <a:br>
              <a:rPr lang="zh-CN" altLang="zh-CN" dirty="0"/>
            </a:br>
            <a:br>
              <a:rPr lang="zh-CN" altLang="zh-CN" dirty="0"/>
            </a:br>
            <a:r>
              <a:rPr lang="en-US" altLang="zh-CN" dirty="0"/>
              <a:t>5. </a:t>
            </a:r>
            <a:r>
              <a:rPr lang="zh-CN" altLang="zh-CN" dirty="0"/>
              <a:t>Previous PAUO–pulse matching</a:t>
            </a:r>
            <a:endParaRPr lang="en-US" altLang="zh-CN" dirty="0"/>
          </a:p>
          <a:p>
            <a:pPr marL="0" indent="0">
              <a:buNone/>
            </a:pPr>
            <a:endParaRPr lang="en-US" altLang="zh-CN" dirty="0"/>
          </a:p>
          <a:p>
            <a:pPr marL="0" indent="0">
              <a:buNone/>
            </a:pPr>
            <a:r>
              <a:rPr lang="zh-CN" altLang="zh-CN" dirty="0">
                <a:solidFill>
                  <a:srgbClr val="FF0000"/>
                </a:solidFill>
              </a:rPr>
              <a:t>The last PAUO point before the pulse is matched with the first valid pulse point.</a:t>
            </a:r>
            <a:br>
              <a:rPr lang="zh-CN" altLang="zh-CN" dirty="0"/>
            </a:br>
            <a:br>
              <a:rPr lang="zh-CN" altLang="zh-CN" dirty="0"/>
            </a:br>
            <a:endParaRPr lang="zh-CN" altLang="en-US" dirty="0"/>
          </a:p>
        </p:txBody>
      </p:sp>
      <p:sp>
        <p:nvSpPr>
          <p:cNvPr id="4" name="日期占位符 3">
            <a:extLst>
              <a:ext uri="{FF2B5EF4-FFF2-40B4-BE49-F238E27FC236}">
                <a16:creationId xmlns:a16="http://schemas.microsoft.com/office/drawing/2014/main" id="{3D84CFE8-5885-7F5A-171C-8EA2667775FA}"/>
              </a:ext>
            </a:extLst>
          </p:cNvPr>
          <p:cNvSpPr>
            <a:spLocks noGrp="1"/>
          </p:cNvSpPr>
          <p:nvPr>
            <p:ph type="dt" sz="half" idx="14"/>
          </p:nvPr>
        </p:nvSpPr>
        <p:spPr>
          <a:xfrm>
            <a:off x="935480" y="6361350"/>
            <a:ext cx="5668062" cy="524824"/>
          </a:xfrm>
        </p:spPr>
        <p:txBody>
          <a:bodyPr anchor="t">
            <a:normAutofit/>
          </a:bodyPr>
          <a:lstStyle/>
          <a:p>
            <a:pPr>
              <a:spcAft>
                <a:spcPts val="600"/>
              </a:spcAft>
            </a:pPr>
            <a:r>
              <a:rPr lang="de-DE" altLang="zh-CN" dirty="0"/>
              <a:t>09.07.2026</a:t>
            </a:r>
            <a:endParaRPr lang="de-DE" altLang="zh-CN"/>
          </a:p>
          <a:p>
            <a:pPr>
              <a:spcAft>
                <a:spcPts val="600"/>
              </a:spcAft>
            </a:pPr>
            <a:endParaRPr lang="de-DE"/>
          </a:p>
        </p:txBody>
      </p:sp>
      <p:sp>
        <p:nvSpPr>
          <p:cNvPr id="5" name="页脚占位符 4">
            <a:extLst>
              <a:ext uri="{FF2B5EF4-FFF2-40B4-BE49-F238E27FC236}">
                <a16:creationId xmlns:a16="http://schemas.microsoft.com/office/drawing/2014/main" id="{A5A54178-58B0-DC0C-CC1B-9DDC1504D654}"/>
              </a:ext>
            </a:extLst>
          </p:cNvPr>
          <p:cNvSpPr>
            <a:spLocks noGrp="1"/>
          </p:cNvSpPr>
          <p:nvPr>
            <p:ph type="ftr" sz="quarter" idx="15"/>
          </p:nvPr>
        </p:nvSpPr>
        <p:spPr>
          <a:xfrm>
            <a:off x="1818425" y="6361350"/>
            <a:ext cx="4391428" cy="524824"/>
          </a:xfrm>
        </p:spPr>
        <p:txBody>
          <a:bodyPr anchor="t">
            <a:normAutofit/>
          </a:bodyPr>
          <a:lstStyle/>
          <a:p>
            <a:pPr>
              <a:spcAft>
                <a:spcPts val="600"/>
              </a:spcAft>
            </a:pPr>
            <a:r>
              <a:rPr lang="en-US" altLang="zh-CN" dirty="0"/>
              <a:t>Yida Cheng</a:t>
            </a:r>
            <a:endParaRPr lang="en-US" altLang="zh-CN"/>
          </a:p>
        </p:txBody>
      </p:sp>
      <p:sp>
        <p:nvSpPr>
          <p:cNvPr id="6" name="灯片编号占位符 5">
            <a:extLst>
              <a:ext uri="{FF2B5EF4-FFF2-40B4-BE49-F238E27FC236}">
                <a16:creationId xmlns:a16="http://schemas.microsoft.com/office/drawing/2014/main" id="{CDE949D7-5DE6-ACF3-EA8C-FEB0E08BA792}"/>
              </a:ext>
            </a:extLst>
          </p:cNvPr>
          <p:cNvSpPr>
            <a:spLocks noGrp="1"/>
          </p:cNvSpPr>
          <p:nvPr>
            <p:ph type="sldNum" sz="quarter" idx="16"/>
          </p:nvPr>
        </p:nvSpPr>
        <p:spPr>
          <a:xfrm>
            <a:off x="383950" y="6361350"/>
            <a:ext cx="974273" cy="396000"/>
          </a:xfrm>
        </p:spPr>
        <p:txBody>
          <a:bodyPr anchor="t">
            <a:normAutofit/>
          </a:bodyPr>
          <a:lstStyle/>
          <a:p>
            <a:pPr>
              <a:spcAft>
                <a:spcPts val="600"/>
              </a:spcAft>
            </a:pPr>
            <a:fld id="{4D01E63C-D794-4429-8564-635E6253AC5C}" type="slidenum">
              <a:rPr lang="en-US" smtClean="0"/>
              <a:pPr>
                <a:spcAft>
                  <a:spcPts val="600"/>
                </a:spcAft>
              </a:pPr>
              <a:t>9</a:t>
            </a:fld>
            <a:endParaRPr lang="en-US"/>
          </a:p>
        </p:txBody>
      </p:sp>
    </p:spTree>
    <p:extLst>
      <p:ext uri="{BB962C8B-B14F-4D97-AF65-F5344CB8AC3E}">
        <p14:creationId xmlns:p14="http://schemas.microsoft.com/office/powerpoint/2010/main" val="2325390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68FA0-51A7-1A4C-E520-98149143EF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2135F9F-FB52-FEA8-D5B8-302863E3563A}"/>
              </a:ext>
            </a:extLst>
          </p:cNvPr>
          <p:cNvSpPr>
            <a:spLocks noGrp="1"/>
          </p:cNvSpPr>
          <p:nvPr>
            <p:ph type="title"/>
          </p:nvPr>
        </p:nvSpPr>
        <p:spPr>
          <a:xfrm>
            <a:off x="383950" y="201600"/>
            <a:ext cx="11422513" cy="543600"/>
          </a:xfrm>
        </p:spPr>
        <p:txBody>
          <a:bodyPr anchor="b">
            <a:normAutofit/>
          </a:bodyPr>
          <a:lstStyle/>
          <a:p>
            <a:r>
              <a:rPr lang="en-US" altLang="zh-CN" dirty="0"/>
              <a:t>R</a:t>
            </a:r>
            <a:r>
              <a:rPr lang="en-US" altLang="zh-CN" baseline="-25000" dirty="0"/>
              <a:t>0</a:t>
            </a:r>
            <a:r>
              <a:rPr lang="en-US" altLang="zh-CN" dirty="0"/>
              <a:t> Calculation: Instantaneous Ohmic Resistance</a:t>
            </a:r>
            <a:endParaRPr lang="zh-CN" altLang="en-US" dirty="0"/>
          </a:p>
        </p:txBody>
      </p:sp>
      <p:pic>
        <p:nvPicPr>
          <p:cNvPr id="10" name="图片 9">
            <a:extLst>
              <a:ext uri="{FF2B5EF4-FFF2-40B4-BE49-F238E27FC236}">
                <a16:creationId xmlns:a16="http://schemas.microsoft.com/office/drawing/2014/main" id="{8450628C-4D70-C4FC-E380-6487DCBBB023}"/>
              </a:ext>
            </a:extLst>
          </p:cNvPr>
          <p:cNvPicPr>
            <a:picLocks noChangeAspect="1"/>
          </p:cNvPicPr>
          <p:nvPr/>
        </p:nvPicPr>
        <p:blipFill>
          <a:blip r:embed="rId3"/>
          <a:stretch>
            <a:fillRect/>
          </a:stretch>
        </p:blipFill>
        <p:spPr>
          <a:xfrm>
            <a:off x="342886" y="966145"/>
            <a:ext cx="7596157" cy="5103764"/>
          </a:xfrm>
          <a:prstGeom prst="rect">
            <a:avLst/>
          </a:prstGeom>
          <a:noFill/>
        </p:spPr>
      </p:pic>
      <p:sp>
        <p:nvSpPr>
          <p:cNvPr id="15" name="Content Placeholder 3">
            <a:extLst>
              <a:ext uri="{FF2B5EF4-FFF2-40B4-BE49-F238E27FC236}">
                <a16:creationId xmlns:a16="http://schemas.microsoft.com/office/drawing/2014/main" id="{BD4ECF7F-FBC7-1814-1887-A91835BF079C}"/>
              </a:ext>
            </a:extLst>
          </p:cNvPr>
          <p:cNvSpPr>
            <a:spLocks noGrp="1"/>
          </p:cNvSpPr>
          <p:nvPr>
            <p:ph idx="13"/>
          </p:nvPr>
        </p:nvSpPr>
        <p:spPr>
          <a:xfrm>
            <a:off x="7861734" y="1357100"/>
            <a:ext cx="4328679" cy="2720997"/>
          </a:xfrm>
        </p:spPr>
        <p:txBody>
          <a:bodyPr/>
          <a:lstStyle/>
          <a:p>
            <a:r>
              <a:rPr lang="zh-CN" altLang="zh-CN" dirty="0"/>
              <a:t>R₀ calculation</a:t>
            </a:r>
          </a:p>
          <a:p>
            <a:pPr marL="0" indent="0">
              <a:buNone/>
            </a:pPr>
            <a:r>
              <a:rPr lang="en-US" altLang="zh-CN" dirty="0"/>
              <a:t>	</a:t>
            </a:r>
            <a:r>
              <a:rPr lang="zh-CN" altLang="zh-CN" sz="1600" dirty="0"/>
              <a:t>Last PAUO point → first valid pulse point</a:t>
            </a:r>
            <a:endParaRPr lang="en-US" altLang="zh-CN" sz="1600" dirty="0"/>
          </a:p>
          <a:p>
            <a:pPr marL="0" indent="0">
              <a:buNone/>
            </a:pPr>
            <a:endParaRPr lang="zh-CN" altLang="zh-CN" dirty="0"/>
          </a:p>
          <a:p>
            <a:r>
              <a:rPr lang="zh-CN" altLang="zh-CN" dirty="0"/>
              <a:t>R₀ = |ΔV / ΔI| × 1000</a:t>
            </a:r>
            <a:r>
              <a:rPr lang="en-US" altLang="zh-CN" dirty="0"/>
              <a:t>	</a:t>
            </a:r>
            <a:endParaRPr lang="zh-CN" altLang="zh-CN" dirty="0"/>
          </a:p>
          <a:p>
            <a:pPr marL="0" indent="0">
              <a:buNone/>
            </a:pPr>
            <a:r>
              <a:rPr lang="en-US" altLang="zh-CN" sz="1600" dirty="0"/>
              <a:t>	</a:t>
            </a:r>
            <a:r>
              <a:rPr lang="zh-CN" altLang="zh-CN" sz="1600" dirty="0"/>
              <a:t>ΔV: instantaneous voltage change</a:t>
            </a:r>
            <a:br>
              <a:rPr lang="zh-CN" altLang="zh-CN" sz="1600" dirty="0"/>
            </a:br>
            <a:r>
              <a:rPr lang="en-US" altLang="zh-CN" sz="1600" dirty="0"/>
              <a:t>	</a:t>
            </a:r>
            <a:r>
              <a:rPr lang="zh-CN" altLang="zh-CN" sz="1600" dirty="0"/>
              <a:t>ΔI: </a:t>
            </a:r>
            <a:r>
              <a:rPr lang="en-US" altLang="zh-CN" sz="1600" dirty="0"/>
              <a:t>first valid pulse point after current change</a:t>
            </a:r>
            <a:endParaRPr lang="zh-CN" altLang="zh-CN" sz="1600" dirty="0"/>
          </a:p>
          <a:p>
            <a:pPr marL="0" indent="0">
              <a:buNone/>
            </a:pPr>
            <a:r>
              <a:rPr lang="en-US" altLang="zh-CN" sz="1600" dirty="0"/>
              <a:t>	</a:t>
            </a:r>
            <a:r>
              <a:rPr lang="zh-CN" altLang="zh-CN" sz="1600" dirty="0"/>
              <a:t>Result: R₀ in mΩ</a:t>
            </a:r>
          </a:p>
          <a:p>
            <a:endParaRPr lang="en-US" dirty="0"/>
          </a:p>
        </p:txBody>
      </p:sp>
      <p:sp>
        <p:nvSpPr>
          <p:cNvPr id="4" name="日期占位符 3">
            <a:extLst>
              <a:ext uri="{FF2B5EF4-FFF2-40B4-BE49-F238E27FC236}">
                <a16:creationId xmlns:a16="http://schemas.microsoft.com/office/drawing/2014/main" id="{8EDAAC1F-EEBD-11D5-7FCA-4A758C2C32A6}"/>
              </a:ext>
            </a:extLst>
          </p:cNvPr>
          <p:cNvSpPr>
            <a:spLocks noGrp="1"/>
          </p:cNvSpPr>
          <p:nvPr>
            <p:ph type="dt" sz="half" idx="14"/>
          </p:nvPr>
        </p:nvSpPr>
        <p:spPr>
          <a:xfrm>
            <a:off x="935480" y="6361350"/>
            <a:ext cx="5668062" cy="524824"/>
          </a:xfrm>
        </p:spPr>
        <p:txBody>
          <a:bodyPr anchor="t">
            <a:normAutofit/>
          </a:bodyPr>
          <a:lstStyle/>
          <a:p>
            <a:pPr>
              <a:spcAft>
                <a:spcPts val="600"/>
              </a:spcAft>
            </a:pPr>
            <a:r>
              <a:rPr lang="de-DE" altLang="zh-CN" dirty="0"/>
              <a:t>09.07.2026</a:t>
            </a:r>
            <a:endParaRPr lang="de-DE" altLang="zh-CN"/>
          </a:p>
          <a:p>
            <a:pPr>
              <a:spcAft>
                <a:spcPts val="600"/>
              </a:spcAft>
            </a:pPr>
            <a:endParaRPr lang="de-DE"/>
          </a:p>
        </p:txBody>
      </p:sp>
      <p:sp>
        <p:nvSpPr>
          <p:cNvPr id="5" name="页脚占位符 4">
            <a:extLst>
              <a:ext uri="{FF2B5EF4-FFF2-40B4-BE49-F238E27FC236}">
                <a16:creationId xmlns:a16="http://schemas.microsoft.com/office/drawing/2014/main" id="{5C184DE6-B533-A5A1-0A49-6B24C225F5A9}"/>
              </a:ext>
            </a:extLst>
          </p:cNvPr>
          <p:cNvSpPr>
            <a:spLocks noGrp="1"/>
          </p:cNvSpPr>
          <p:nvPr>
            <p:ph type="ftr" sz="quarter" idx="15"/>
          </p:nvPr>
        </p:nvSpPr>
        <p:spPr>
          <a:xfrm>
            <a:off x="1818425" y="6361350"/>
            <a:ext cx="4391428" cy="524824"/>
          </a:xfrm>
        </p:spPr>
        <p:txBody>
          <a:bodyPr anchor="t">
            <a:normAutofit/>
          </a:bodyPr>
          <a:lstStyle/>
          <a:p>
            <a:pPr>
              <a:spcAft>
                <a:spcPts val="600"/>
              </a:spcAft>
            </a:pPr>
            <a:r>
              <a:rPr lang="en-US" altLang="zh-CN" dirty="0"/>
              <a:t>Yida Cheng</a:t>
            </a:r>
            <a:endParaRPr lang="en-US" altLang="zh-CN"/>
          </a:p>
        </p:txBody>
      </p:sp>
      <p:sp>
        <p:nvSpPr>
          <p:cNvPr id="6" name="灯片编号占位符 5">
            <a:extLst>
              <a:ext uri="{FF2B5EF4-FFF2-40B4-BE49-F238E27FC236}">
                <a16:creationId xmlns:a16="http://schemas.microsoft.com/office/drawing/2014/main" id="{89A15CA1-AC24-FEA8-F865-CE546BB1623A}"/>
              </a:ext>
            </a:extLst>
          </p:cNvPr>
          <p:cNvSpPr>
            <a:spLocks noGrp="1"/>
          </p:cNvSpPr>
          <p:nvPr>
            <p:ph type="sldNum" sz="quarter" idx="16"/>
          </p:nvPr>
        </p:nvSpPr>
        <p:spPr>
          <a:xfrm>
            <a:off x="383950" y="6361350"/>
            <a:ext cx="974273" cy="396000"/>
          </a:xfrm>
        </p:spPr>
        <p:txBody>
          <a:bodyPr anchor="t">
            <a:normAutofit/>
          </a:bodyPr>
          <a:lstStyle/>
          <a:p>
            <a:pPr>
              <a:spcAft>
                <a:spcPts val="600"/>
              </a:spcAft>
            </a:pPr>
            <a:fld id="{4D01E63C-D794-4429-8564-635E6253AC5C}" type="slidenum">
              <a:rPr lang="en-US" smtClean="0"/>
              <a:pPr>
                <a:spcAft>
                  <a:spcPts val="600"/>
                </a:spcAft>
              </a:pPr>
              <a:t>10</a:t>
            </a:fld>
            <a:endParaRPr lang="en-US"/>
          </a:p>
        </p:txBody>
      </p:sp>
    </p:spTree>
    <p:extLst>
      <p:ext uri="{BB962C8B-B14F-4D97-AF65-F5344CB8AC3E}">
        <p14:creationId xmlns:p14="http://schemas.microsoft.com/office/powerpoint/2010/main" val="4170921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5FB06E-7D81-5014-FEF7-8061E97B5FC4}"/>
              </a:ext>
            </a:extLst>
          </p:cNvPr>
          <p:cNvSpPr>
            <a:spLocks noGrp="1"/>
          </p:cNvSpPr>
          <p:nvPr>
            <p:ph type="title"/>
          </p:nvPr>
        </p:nvSpPr>
        <p:spPr>
          <a:xfrm>
            <a:off x="383950" y="201600"/>
            <a:ext cx="11422513" cy="543600"/>
          </a:xfrm>
        </p:spPr>
        <p:txBody>
          <a:bodyPr anchor="b">
            <a:normAutofit/>
          </a:bodyPr>
          <a:lstStyle/>
          <a:p>
            <a:r>
              <a:rPr lang="zh-CN" altLang="zh-CN" dirty="0"/>
              <a:t>Second-order RC model for resistance extraction</a:t>
            </a:r>
            <a:endParaRPr lang="zh-CN" altLang="en-US" dirty="0"/>
          </a:p>
        </p:txBody>
      </p:sp>
      <p:pic>
        <p:nvPicPr>
          <p:cNvPr id="11" name="图片 10">
            <a:extLst>
              <a:ext uri="{FF2B5EF4-FFF2-40B4-BE49-F238E27FC236}">
                <a16:creationId xmlns:a16="http://schemas.microsoft.com/office/drawing/2014/main" id="{EED9679D-4B54-0409-5CD1-5C1753D02807}"/>
              </a:ext>
            </a:extLst>
          </p:cNvPr>
          <p:cNvPicPr>
            <a:picLocks noChangeAspect="1"/>
          </p:cNvPicPr>
          <p:nvPr/>
        </p:nvPicPr>
        <p:blipFill>
          <a:blip r:embed="rId3"/>
          <a:stretch>
            <a:fillRect/>
          </a:stretch>
        </p:blipFill>
        <p:spPr>
          <a:xfrm>
            <a:off x="383950" y="2146218"/>
            <a:ext cx="5620068" cy="2742837"/>
          </a:xfrm>
          <a:prstGeom prst="rect">
            <a:avLst/>
          </a:prstGeom>
          <a:noFill/>
        </p:spPr>
      </p:pic>
      <p:sp>
        <p:nvSpPr>
          <p:cNvPr id="20" name="Content Placeholder 3">
            <a:extLst>
              <a:ext uri="{FF2B5EF4-FFF2-40B4-BE49-F238E27FC236}">
                <a16:creationId xmlns:a16="http://schemas.microsoft.com/office/drawing/2014/main" id="{AF144AC0-AC43-DA6A-13A8-A09C81797447}"/>
              </a:ext>
            </a:extLst>
          </p:cNvPr>
          <p:cNvSpPr>
            <a:spLocks noGrp="1"/>
          </p:cNvSpPr>
          <p:nvPr>
            <p:ph idx="13"/>
          </p:nvPr>
        </p:nvSpPr>
        <p:spPr>
          <a:xfrm>
            <a:off x="6191194" y="1152000"/>
            <a:ext cx="5620068" cy="1787628"/>
          </a:xfrm>
        </p:spPr>
        <p:txBody>
          <a:bodyPr/>
          <a:lstStyle/>
          <a:p>
            <a:r>
              <a:rPr lang="zh-CN" altLang="zh-CN" dirty="0"/>
              <a:t>Second-order Thévenin ECM</a:t>
            </a:r>
            <a:endParaRPr lang="en-US" altLang="zh-CN" dirty="0"/>
          </a:p>
          <a:p>
            <a:pPr marL="431800" lvl="2" indent="0">
              <a:buNone/>
            </a:pPr>
            <a:r>
              <a:rPr lang="zh-CN" altLang="zh-CN" dirty="0"/>
              <a:t>R</a:t>
            </a:r>
            <a:r>
              <a:rPr lang="zh-CN" altLang="zh-CN" baseline="-25000" dirty="0"/>
              <a:t>0</a:t>
            </a:r>
            <a:r>
              <a:rPr lang="zh-CN" altLang="zh-CN" dirty="0"/>
              <a:t>: instantaneous ohmic resistance</a:t>
            </a:r>
            <a:endParaRPr lang="en-US" altLang="zh-CN" dirty="0"/>
          </a:p>
          <a:p>
            <a:pPr marL="431800" lvl="2" indent="0">
              <a:buNone/>
            </a:pPr>
            <a:r>
              <a:rPr lang="zh-CN" altLang="zh-CN" dirty="0"/>
              <a:t>R</a:t>
            </a:r>
            <a:r>
              <a:rPr lang="zh-CN" altLang="zh-CN" baseline="-25000" dirty="0"/>
              <a:t>1</a:t>
            </a:r>
            <a:r>
              <a:rPr lang="zh-CN" altLang="zh-CN" dirty="0"/>
              <a:t>C</a:t>
            </a:r>
            <a:r>
              <a:rPr lang="zh-CN" altLang="zh-CN" baseline="-25000" dirty="0"/>
              <a:t>1</a:t>
            </a:r>
            <a:r>
              <a:rPr lang="zh-CN" altLang="zh-CN" dirty="0"/>
              <a:t>: fast relaxation component</a:t>
            </a:r>
            <a:endParaRPr lang="en-US" altLang="zh-CN" dirty="0"/>
          </a:p>
          <a:p>
            <a:pPr marL="431800" lvl="2" indent="0">
              <a:buNone/>
            </a:pPr>
            <a:r>
              <a:rPr lang="zh-CN" altLang="zh-CN" dirty="0"/>
              <a:t>R</a:t>
            </a:r>
            <a:r>
              <a:rPr lang="zh-CN" altLang="zh-CN" baseline="-25000" dirty="0"/>
              <a:t>2</a:t>
            </a:r>
            <a:r>
              <a:rPr lang="zh-CN" altLang="zh-CN" dirty="0"/>
              <a:t>C</a:t>
            </a:r>
            <a:r>
              <a:rPr lang="zh-CN" altLang="zh-CN" baseline="-25000" dirty="0"/>
              <a:t>2</a:t>
            </a:r>
            <a:r>
              <a:rPr lang="zh-CN" altLang="zh-CN" dirty="0"/>
              <a:t>: slow relaxation component</a:t>
            </a:r>
            <a:endParaRPr lang="en-US" altLang="zh-CN" dirty="0"/>
          </a:p>
          <a:p>
            <a:pPr marL="431800" lvl="2" indent="0">
              <a:buNone/>
            </a:pPr>
            <a:r>
              <a:rPr lang="zh-CN" altLang="zh-CN" dirty="0"/>
              <a:t>τ</a:t>
            </a:r>
            <a:r>
              <a:rPr lang="zh-CN" altLang="zh-CN" baseline="-25000" dirty="0"/>
              <a:t>1</a:t>
            </a:r>
            <a:r>
              <a:rPr lang="zh-CN" altLang="zh-CN" dirty="0"/>
              <a:t> = R</a:t>
            </a:r>
            <a:r>
              <a:rPr lang="zh-CN" altLang="zh-CN" baseline="-25000" dirty="0"/>
              <a:t>1</a:t>
            </a:r>
            <a:r>
              <a:rPr lang="zh-CN" altLang="zh-CN" dirty="0"/>
              <a:t>C</a:t>
            </a:r>
            <a:r>
              <a:rPr lang="zh-CN" altLang="zh-CN" baseline="-25000" dirty="0"/>
              <a:t>1</a:t>
            </a:r>
            <a:r>
              <a:rPr lang="zh-CN" altLang="zh-CN" dirty="0"/>
              <a:t>, τ</a:t>
            </a:r>
            <a:r>
              <a:rPr lang="zh-CN" altLang="zh-CN" baseline="-25000" dirty="0"/>
              <a:t>2</a:t>
            </a:r>
            <a:r>
              <a:rPr lang="zh-CN" altLang="zh-CN" dirty="0"/>
              <a:t> = R</a:t>
            </a:r>
            <a:r>
              <a:rPr lang="zh-CN" altLang="zh-CN" baseline="-25000" dirty="0"/>
              <a:t>2</a:t>
            </a:r>
            <a:r>
              <a:rPr lang="zh-CN" altLang="zh-CN" dirty="0"/>
              <a:t>C</a:t>
            </a:r>
            <a:r>
              <a:rPr lang="zh-CN" altLang="zh-CN" baseline="-25000" dirty="0"/>
              <a:t>2</a:t>
            </a:r>
            <a:endParaRPr lang="en-US" altLang="zh-CN" baseline="-25000" dirty="0"/>
          </a:p>
        </p:txBody>
      </p:sp>
      <p:sp>
        <p:nvSpPr>
          <p:cNvPr id="4" name="日期占位符 3">
            <a:extLst>
              <a:ext uri="{FF2B5EF4-FFF2-40B4-BE49-F238E27FC236}">
                <a16:creationId xmlns:a16="http://schemas.microsoft.com/office/drawing/2014/main" id="{A111300D-D770-AC36-4B30-B22B2A4BE5B9}"/>
              </a:ext>
            </a:extLst>
          </p:cNvPr>
          <p:cNvSpPr>
            <a:spLocks noGrp="1"/>
          </p:cNvSpPr>
          <p:nvPr>
            <p:ph type="dt" sz="half" idx="14"/>
          </p:nvPr>
        </p:nvSpPr>
        <p:spPr>
          <a:xfrm>
            <a:off x="935480" y="6361350"/>
            <a:ext cx="5668062" cy="524824"/>
          </a:xfrm>
        </p:spPr>
        <p:txBody>
          <a:bodyPr anchor="t">
            <a:normAutofit/>
          </a:bodyPr>
          <a:lstStyle/>
          <a:p>
            <a:pPr>
              <a:spcAft>
                <a:spcPts val="600"/>
              </a:spcAft>
            </a:pPr>
            <a:r>
              <a:rPr lang="de-DE" altLang="zh-CN" dirty="0"/>
              <a:t>09.07.2026</a:t>
            </a:r>
            <a:endParaRPr lang="de-DE" altLang="zh-CN"/>
          </a:p>
          <a:p>
            <a:pPr>
              <a:spcAft>
                <a:spcPts val="600"/>
              </a:spcAft>
            </a:pPr>
            <a:endParaRPr lang="de-DE"/>
          </a:p>
        </p:txBody>
      </p:sp>
      <p:sp>
        <p:nvSpPr>
          <p:cNvPr id="5" name="页脚占位符 4">
            <a:extLst>
              <a:ext uri="{FF2B5EF4-FFF2-40B4-BE49-F238E27FC236}">
                <a16:creationId xmlns:a16="http://schemas.microsoft.com/office/drawing/2014/main" id="{FA32EA30-6F38-510A-2C52-2E9FCE6289F2}"/>
              </a:ext>
            </a:extLst>
          </p:cNvPr>
          <p:cNvSpPr>
            <a:spLocks noGrp="1"/>
          </p:cNvSpPr>
          <p:nvPr>
            <p:ph type="ftr" sz="quarter" idx="15"/>
          </p:nvPr>
        </p:nvSpPr>
        <p:spPr>
          <a:xfrm>
            <a:off x="1818425" y="6361350"/>
            <a:ext cx="4391428" cy="524824"/>
          </a:xfrm>
        </p:spPr>
        <p:txBody>
          <a:bodyPr anchor="t">
            <a:normAutofit/>
          </a:bodyPr>
          <a:lstStyle/>
          <a:p>
            <a:pPr>
              <a:spcAft>
                <a:spcPts val="600"/>
              </a:spcAft>
            </a:pPr>
            <a:r>
              <a:rPr lang="en-US" altLang="zh-CN" dirty="0"/>
              <a:t>Yida Cheng</a:t>
            </a:r>
            <a:endParaRPr lang="en-US" altLang="zh-CN"/>
          </a:p>
        </p:txBody>
      </p:sp>
      <p:sp>
        <p:nvSpPr>
          <p:cNvPr id="6" name="灯片编号占位符 5">
            <a:extLst>
              <a:ext uri="{FF2B5EF4-FFF2-40B4-BE49-F238E27FC236}">
                <a16:creationId xmlns:a16="http://schemas.microsoft.com/office/drawing/2014/main" id="{E6F10F0C-B520-76B7-959B-A21FEA232932}"/>
              </a:ext>
            </a:extLst>
          </p:cNvPr>
          <p:cNvSpPr>
            <a:spLocks noGrp="1"/>
          </p:cNvSpPr>
          <p:nvPr>
            <p:ph type="sldNum" sz="quarter" idx="16"/>
          </p:nvPr>
        </p:nvSpPr>
        <p:spPr>
          <a:xfrm>
            <a:off x="383950" y="6361350"/>
            <a:ext cx="974273" cy="396000"/>
          </a:xfrm>
        </p:spPr>
        <p:txBody>
          <a:bodyPr anchor="t">
            <a:normAutofit/>
          </a:bodyPr>
          <a:lstStyle/>
          <a:p>
            <a:pPr>
              <a:spcAft>
                <a:spcPts val="600"/>
              </a:spcAft>
            </a:pPr>
            <a:fld id="{4D01E63C-D794-4429-8564-635E6253AC5C}" type="slidenum">
              <a:rPr lang="en-US" smtClean="0"/>
              <a:pPr>
                <a:spcAft>
                  <a:spcPts val="600"/>
                </a:spcAft>
              </a:pPr>
              <a:t>11</a:t>
            </a:fld>
            <a:endParaRPr lang="en-US"/>
          </a:p>
        </p:txBody>
      </p:sp>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87BC952E-5D30-0FA8-822D-96C9A8432B80}"/>
                  </a:ext>
                </a:extLst>
              </p:cNvPr>
              <p:cNvSpPr txBox="1"/>
              <p:nvPr/>
            </p:nvSpPr>
            <p:spPr>
              <a:xfrm>
                <a:off x="6095206" y="3136415"/>
                <a:ext cx="5758128" cy="2352888"/>
              </a:xfrm>
              <a:prstGeom prst="rect">
                <a:avLst/>
              </a:prstGeom>
              <a:noFill/>
            </p:spPr>
            <p:txBody>
              <a:bodyPr wrap="square" anchor="t">
                <a:spAutoFit/>
              </a:bodyPr>
              <a:lstStyle/>
              <a:p>
                <a:pPr marL="285750" indent="-285750">
                  <a:buClr>
                    <a:srgbClr val="00549F"/>
                  </a:buClr>
                  <a:buFont typeface="Wingdings" panose="05000000000000000000" pitchFamily="2" charset="2"/>
                  <a:buChar char="n"/>
                </a:pPr>
                <a:r>
                  <a:rPr lang="en-US" altLang="zh-CN" dirty="0">
                    <a:latin typeface="+mn-lt"/>
                  </a:rPr>
                  <a:t>For </a:t>
                </a:r>
                <a14:m>
                  <m:oMath xmlns:m="http://schemas.openxmlformats.org/officeDocument/2006/math">
                    <m:r>
                      <a:rPr lang="zh-CN" altLang="en-US" i="1">
                        <a:latin typeface="Cambria Math" panose="02040503050406030204" pitchFamily="18" charset="0"/>
                      </a:rPr>
                      <m:t>𝐼</m:t>
                    </m:r>
                  </m:oMath>
                </a14:m>
                <a:r>
                  <a:rPr lang="en-US" altLang="zh-CN" dirty="0">
                    <a:latin typeface="+mn-lt"/>
                  </a:rPr>
                  <a:t> &gt; 0, Discharge:</a:t>
                </a:r>
                <a:endParaRPr lang="en-US" altLang="zh-CN" i="1" dirty="0">
                  <a:latin typeface="Cambria Math" panose="02040503050406030204" pitchFamily="18" charset="0"/>
                </a:endParaRPr>
              </a:p>
              <a:p>
                <a:pPr>
                  <a:lnSpc>
                    <a:spcPct val="150000"/>
                  </a:lnSpc>
                  <a:buClr>
                    <a:srgbClr val="00549F"/>
                  </a:buClr>
                </a:pPr>
                <a14:m>
                  <m:oMathPara xmlns:m="http://schemas.openxmlformats.org/officeDocument/2006/math">
                    <m:oMathParaPr>
                      <m:jc m:val="centerGroup"/>
                    </m:oMathParaPr>
                    <m:oMath xmlns:m="http://schemas.openxmlformats.org/officeDocument/2006/math">
                      <m:r>
                        <a:rPr lang="zh-CN" altLang="en-US" i="1">
                          <a:latin typeface="Cambria Math" panose="02040503050406030204" pitchFamily="18" charset="0"/>
                        </a:rPr>
                        <m:t>𝑢</m:t>
                      </m:r>
                      <m:r>
                        <a:rPr lang="en-US" altLang="zh-CN" b="0" i="1" baseline="-25000" smtClean="0">
                          <a:latin typeface="Cambria Math" panose="02040503050406030204" pitchFamily="18" charset="0"/>
                        </a:rPr>
                        <m:t>1</m:t>
                      </m:r>
                      <m:d>
                        <m:dPr>
                          <m:ctrlPr>
                            <a:rPr lang="zh-CN" altLang="en-US" i="1">
                              <a:latin typeface="Cambria Math" panose="02040503050406030204" pitchFamily="18" charset="0"/>
                            </a:rPr>
                          </m:ctrlPr>
                        </m:dPr>
                        <m:e>
                          <m:r>
                            <a:rPr lang="zh-CN" altLang="en-US" i="1">
                              <a:latin typeface="Cambria Math" panose="02040503050406030204" pitchFamily="18" charset="0"/>
                            </a:rPr>
                            <m:t>𝑡</m:t>
                          </m:r>
                        </m:e>
                      </m:d>
                      <m:r>
                        <a:rPr lang="zh-CN" altLang="en-US" i="1">
                          <a:latin typeface="Cambria Math" panose="02040503050406030204" pitchFamily="18" charset="0"/>
                        </a:rPr>
                        <m:t>=</m:t>
                      </m:r>
                      <m:r>
                        <a:rPr lang="zh-CN" altLang="en-US" i="1">
                          <a:latin typeface="Cambria Math" panose="02040503050406030204" pitchFamily="18" charset="0"/>
                        </a:rPr>
                        <m:t>𝐼</m:t>
                      </m:r>
                      <m:sSub>
                        <m:sSubPr>
                          <m:ctrlPr>
                            <a:rPr lang="zh-CN" altLang="en-US" i="1">
                              <a:latin typeface="Cambria Math" panose="02040503050406030204" pitchFamily="18" charset="0"/>
                            </a:rPr>
                          </m:ctrlPr>
                        </m:sSubPr>
                        <m:e>
                          <m:r>
                            <a:rPr lang="zh-CN" altLang="en-US" i="1">
                              <a:latin typeface="Cambria Math" panose="02040503050406030204" pitchFamily="18" charset="0"/>
                            </a:rPr>
                            <m:t>𝑅</m:t>
                          </m:r>
                        </m:e>
                        <m:sub>
                          <m:r>
                            <a:rPr lang="en-US" altLang="zh-CN" b="0" i="1" smtClean="0">
                              <a:latin typeface="Cambria Math" panose="02040503050406030204" pitchFamily="18" charset="0"/>
                            </a:rPr>
                            <m:t>1</m:t>
                          </m:r>
                        </m:sub>
                      </m:sSub>
                      <m:sSup>
                        <m:sSupPr>
                          <m:ctrlPr>
                            <a:rPr lang="zh-CN" altLang="en-US" i="1">
                              <a:latin typeface="Cambria Math" panose="02040503050406030204" pitchFamily="18" charset="0"/>
                            </a:rPr>
                          </m:ctrlPr>
                        </m:sSupPr>
                        <m:e>
                          <m:r>
                            <a:rPr lang="en-US" altLang="zh-CN" i="1">
                              <a:latin typeface="Cambria Math" panose="02040503050406030204" pitchFamily="18" charset="0"/>
                            </a:rPr>
                            <m:t>(1−</m:t>
                          </m:r>
                          <m:r>
                            <a:rPr lang="zh-CN" altLang="en-US" i="1">
                              <a:latin typeface="Cambria Math" panose="02040503050406030204" pitchFamily="18" charset="0"/>
                            </a:rPr>
                            <m:t>𝑒</m:t>
                          </m:r>
                        </m:e>
                        <m:sup>
                          <m:r>
                            <a:rPr lang="zh-CN" altLang="en-US" i="1">
                              <a:latin typeface="Cambria Math" panose="02040503050406030204" pitchFamily="18" charset="0"/>
                            </a:rPr>
                            <m:t>−</m:t>
                          </m:r>
                          <m:f>
                            <m:fPr>
                              <m:ctrlPr>
                                <a:rPr lang="zh-CN" altLang="en-US" i="1">
                                  <a:latin typeface="Cambria Math" panose="02040503050406030204" pitchFamily="18" charset="0"/>
                                </a:rPr>
                              </m:ctrlPr>
                            </m:fPr>
                            <m:num>
                              <m:r>
                                <a:rPr lang="zh-CN" altLang="en-US" i="1">
                                  <a:latin typeface="Cambria Math" panose="02040503050406030204" pitchFamily="18" charset="0"/>
                                </a:rPr>
                                <m:t>𝑡</m:t>
                              </m:r>
                            </m:num>
                            <m:den>
                              <m:sSub>
                                <m:sSubPr>
                                  <m:ctrlPr>
                                    <a:rPr lang="zh-CN" altLang="en-US" i="1">
                                      <a:latin typeface="Cambria Math" panose="02040503050406030204" pitchFamily="18" charset="0"/>
                                    </a:rPr>
                                  </m:ctrlPr>
                                </m:sSubPr>
                                <m:e>
                                  <m:r>
                                    <a:rPr lang="zh-CN" altLang="en-US" i="1">
                                      <a:latin typeface="Cambria Math" panose="02040503050406030204" pitchFamily="18" charset="0"/>
                                    </a:rPr>
                                    <m:t>𝜏</m:t>
                                  </m:r>
                                </m:e>
                                <m:sub>
                                  <m:r>
                                    <a:rPr lang="en-US" altLang="zh-CN" b="0" i="1" smtClean="0">
                                      <a:latin typeface="Cambria Math" panose="02040503050406030204" pitchFamily="18" charset="0"/>
                                    </a:rPr>
                                    <m:t>1</m:t>
                                  </m:r>
                                </m:sub>
                              </m:sSub>
                            </m:den>
                          </m:f>
                        </m:sup>
                      </m:sSup>
                      <m:r>
                        <a:rPr lang="en-US" altLang="zh-CN" i="1">
                          <a:latin typeface="Cambria Math" panose="02040503050406030204" pitchFamily="18" charset="0"/>
                        </a:rPr>
                        <m:t>)</m:t>
                      </m:r>
                    </m:oMath>
                  </m:oMathPara>
                </a14:m>
                <a:endParaRPr lang="en-US" altLang="zh-CN" i="1" dirty="0">
                  <a:latin typeface="Cambria Math" panose="02040503050406030204" pitchFamily="18" charset="0"/>
                </a:endParaRPr>
              </a:p>
              <a:p>
                <a:pPr>
                  <a:lnSpc>
                    <a:spcPct val="150000"/>
                  </a:lnSpc>
                  <a:buClr>
                    <a:srgbClr val="00549F"/>
                  </a:buClr>
                </a:pPr>
                <a14:m>
                  <m:oMathPara xmlns:m="http://schemas.openxmlformats.org/officeDocument/2006/math">
                    <m:oMathParaPr>
                      <m:jc m:val="centerGroup"/>
                    </m:oMathParaPr>
                    <m:oMath xmlns:m="http://schemas.openxmlformats.org/officeDocument/2006/math">
                      <m:r>
                        <a:rPr lang="zh-CN" altLang="en-US" i="1">
                          <a:latin typeface="Cambria Math" panose="02040503050406030204" pitchFamily="18" charset="0"/>
                        </a:rPr>
                        <m:t>𝑢</m:t>
                      </m:r>
                      <m:r>
                        <a:rPr lang="en-US" altLang="zh-CN" b="0" i="1" baseline="-25000" smtClean="0">
                          <a:latin typeface="Cambria Math" panose="02040503050406030204" pitchFamily="18" charset="0"/>
                        </a:rPr>
                        <m:t>2</m:t>
                      </m:r>
                      <m:d>
                        <m:dPr>
                          <m:ctrlPr>
                            <a:rPr lang="zh-CN" altLang="en-US" i="1">
                              <a:latin typeface="Cambria Math" panose="02040503050406030204" pitchFamily="18" charset="0"/>
                            </a:rPr>
                          </m:ctrlPr>
                        </m:dPr>
                        <m:e>
                          <m:r>
                            <a:rPr lang="zh-CN" altLang="en-US" i="1">
                              <a:latin typeface="Cambria Math" panose="02040503050406030204" pitchFamily="18" charset="0"/>
                            </a:rPr>
                            <m:t>𝑡</m:t>
                          </m:r>
                        </m:e>
                      </m:d>
                      <m:r>
                        <a:rPr lang="en-US" altLang="zh-CN" i="1">
                          <a:latin typeface="Cambria Math" panose="02040503050406030204" pitchFamily="18" charset="0"/>
                        </a:rPr>
                        <m:t>=</m:t>
                      </m:r>
                      <m:r>
                        <a:rPr lang="zh-CN" altLang="en-US" i="1">
                          <a:latin typeface="Cambria Math" panose="02040503050406030204" pitchFamily="18" charset="0"/>
                        </a:rPr>
                        <m:t>𝐼</m:t>
                      </m:r>
                      <m:sSub>
                        <m:sSubPr>
                          <m:ctrlPr>
                            <a:rPr lang="zh-CN" altLang="en-US" i="1">
                              <a:latin typeface="Cambria Math" panose="02040503050406030204" pitchFamily="18" charset="0"/>
                            </a:rPr>
                          </m:ctrlPr>
                        </m:sSubPr>
                        <m:e>
                          <m:r>
                            <a:rPr lang="zh-CN" altLang="en-US" i="1">
                              <a:latin typeface="Cambria Math" panose="02040503050406030204" pitchFamily="18" charset="0"/>
                            </a:rPr>
                            <m:t>𝑅</m:t>
                          </m:r>
                        </m:e>
                        <m:sub>
                          <m:r>
                            <a:rPr lang="en-US" altLang="zh-CN" b="0" i="1" smtClean="0">
                              <a:latin typeface="Cambria Math" panose="02040503050406030204" pitchFamily="18" charset="0"/>
                            </a:rPr>
                            <m:t>2</m:t>
                          </m:r>
                        </m:sub>
                      </m:sSub>
                      <m:sSup>
                        <m:sSupPr>
                          <m:ctrlPr>
                            <a:rPr lang="zh-CN" altLang="en-US" i="1">
                              <a:latin typeface="Cambria Math" panose="02040503050406030204" pitchFamily="18" charset="0"/>
                            </a:rPr>
                          </m:ctrlPr>
                        </m:sSupPr>
                        <m:e>
                          <m:r>
                            <a:rPr lang="en-US" altLang="zh-CN" i="1">
                              <a:latin typeface="Cambria Math" panose="02040503050406030204" pitchFamily="18" charset="0"/>
                            </a:rPr>
                            <m:t>(1−</m:t>
                          </m:r>
                          <m:r>
                            <a:rPr lang="zh-CN" altLang="en-US" i="1">
                              <a:latin typeface="Cambria Math" panose="02040503050406030204" pitchFamily="18" charset="0"/>
                            </a:rPr>
                            <m:t>𝑒</m:t>
                          </m:r>
                        </m:e>
                        <m:sup>
                          <m:r>
                            <a:rPr lang="zh-CN" altLang="en-US" i="1">
                              <a:latin typeface="Cambria Math" panose="02040503050406030204" pitchFamily="18" charset="0"/>
                            </a:rPr>
                            <m:t>−</m:t>
                          </m:r>
                          <m:f>
                            <m:fPr>
                              <m:ctrlPr>
                                <a:rPr lang="zh-CN" altLang="en-US" i="1">
                                  <a:latin typeface="Cambria Math" panose="02040503050406030204" pitchFamily="18" charset="0"/>
                                </a:rPr>
                              </m:ctrlPr>
                            </m:fPr>
                            <m:num>
                              <m:r>
                                <a:rPr lang="zh-CN" altLang="en-US" i="1">
                                  <a:latin typeface="Cambria Math" panose="02040503050406030204" pitchFamily="18" charset="0"/>
                                </a:rPr>
                                <m:t>𝑡</m:t>
                              </m:r>
                            </m:num>
                            <m:den>
                              <m:sSub>
                                <m:sSubPr>
                                  <m:ctrlPr>
                                    <a:rPr lang="zh-CN" altLang="en-US" i="1" smtClean="0">
                                      <a:latin typeface="Cambria Math" panose="02040503050406030204" pitchFamily="18" charset="0"/>
                                    </a:rPr>
                                  </m:ctrlPr>
                                </m:sSubPr>
                                <m:e>
                                  <m:r>
                                    <a:rPr lang="zh-CN" altLang="en-US" i="1">
                                      <a:latin typeface="Cambria Math" panose="02040503050406030204" pitchFamily="18" charset="0"/>
                                    </a:rPr>
                                    <m:t>𝜏</m:t>
                                  </m:r>
                                </m:e>
                                <m:sub>
                                  <m:r>
                                    <a:rPr lang="en-US" altLang="zh-CN" b="0" i="1" smtClean="0">
                                      <a:latin typeface="Cambria Math" panose="02040503050406030204" pitchFamily="18" charset="0"/>
                                    </a:rPr>
                                    <m:t>2</m:t>
                                  </m:r>
                                </m:sub>
                              </m:sSub>
                            </m:den>
                          </m:f>
                        </m:sup>
                      </m:sSup>
                      <m:r>
                        <a:rPr lang="en-US" altLang="zh-CN" i="1">
                          <a:latin typeface="Cambria Math" panose="02040503050406030204" pitchFamily="18" charset="0"/>
                        </a:rPr>
                        <m:t>)</m:t>
                      </m:r>
                    </m:oMath>
                  </m:oMathPara>
                </a14:m>
                <a:endParaRPr lang="en-US" altLang="zh-CN" i="1" dirty="0"/>
              </a:p>
              <a:p>
                <a:pPr>
                  <a:lnSpc>
                    <a:spcPct val="150000"/>
                  </a:lnSpc>
                  <a:buClr>
                    <a:srgbClr val="00549F"/>
                  </a:buClr>
                </a:pPr>
                <a14:m>
                  <m:oMathPara xmlns:m="http://schemas.openxmlformats.org/officeDocument/2006/math">
                    <m:oMathParaPr>
                      <m:jc m:val="centerGroup"/>
                    </m:oMathParaPr>
                    <m:oMath xmlns:m="http://schemas.openxmlformats.org/officeDocument/2006/math">
                      <m:r>
                        <a:rPr lang="zh-CN" altLang="en-US" i="1">
                          <a:latin typeface="Cambria Math" panose="02040503050406030204" pitchFamily="18" charset="0"/>
                        </a:rPr>
                        <m:t>𝑢</m:t>
                      </m:r>
                      <m:r>
                        <m:rPr>
                          <m:sty m:val="p"/>
                        </m:rPr>
                        <a:rPr lang="en-US" altLang="zh-CN" i="1" baseline="-25000">
                          <a:latin typeface="Cambria Math" panose="02040503050406030204" pitchFamily="18" charset="0"/>
                        </a:rPr>
                        <m:t>t</m:t>
                      </m:r>
                      <m:r>
                        <a:rPr lang="zh-CN" altLang="en-US" i="1">
                          <a:latin typeface="Cambria Math" panose="02040503050406030204" pitchFamily="18" charset="0"/>
                        </a:rPr>
                        <m:t>=</m:t>
                      </m:r>
                      <m:sSub>
                        <m:sSubPr>
                          <m:ctrlPr>
                            <a:rPr lang="zh-CN" altLang="en-US" i="1">
                              <a:latin typeface="Cambria Math" panose="02040503050406030204" pitchFamily="18" charset="0"/>
                            </a:rPr>
                          </m:ctrlPr>
                        </m:sSubPr>
                        <m:e>
                          <m:r>
                            <a:rPr lang="zh-CN" altLang="en-US" i="1">
                              <a:latin typeface="Cambria Math" panose="02040503050406030204" pitchFamily="18" charset="0"/>
                            </a:rPr>
                            <m:t>𝑢</m:t>
                          </m:r>
                        </m:e>
                        <m:sub>
                          <m:r>
                            <a:rPr lang="zh-CN" altLang="en-US" i="1">
                              <a:latin typeface="Cambria Math" panose="02040503050406030204" pitchFamily="18" charset="0"/>
                            </a:rPr>
                            <m:t>𝑜𝑐</m:t>
                          </m:r>
                        </m:sub>
                      </m:sSub>
                      <m:r>
                        <a:rPr lang="en-US" altLang="zh-CN" i="1">
                          <a:latin typeface="Cambria Math" panose="02040503050406030204" pitchFamily="18" charset="0"/>
                        </a:rPr>
                        <m:t> − </m:t>
                      </m:r>
                      <m:r>
                        <a:rPr lang="zh-CN" altLang="en-US" i="1">
                          <a:latin typeface="Cambria Math" panose="02040503050406030204" pitchFamily="18" charset="0"/>
                        </a:rPr>
                        <m:t>𝐼</m:t>
                      </m:r>
                      <m:sSub>
                        <m:sSubPr>
                          <m:ctrlPr>
                            <a:rPr lang="zh-CN" altLang="en-US" i="1">
                              <a:latin typeface="Cambria Math" panose="02040503050406030204" pitchFamily="18" charset="0"/>
                            </a:rPr>
                          </m:ctrlPr>
                        </m:sSubPr>
                        <m:e>
                          <m:r>
                            <a:rPr lang="zh-CN" altLang="en-US" i="1">
                              <a:latin typeface="Cambria Math" panose="02040503050406030204" pitchFamily="18" charset="0"/>
                            </a:rPr>
                            <m:t>𝑅</m:t>
                          </m:r>
                        </m:e>
                        <m:sub>
                          <m:r>
                            <a:rPr lang="en-US" altLang="zh-CN" i="1">
                              <a:latin typeface="Cambria Math" panose="02040503050406030204" pitchFamily="18" charset="0"/>
                            </a:rPr>
                            <m:t>0</m:t>
                          </m:r>
                        </m:sub>
                      </m:sSub>
                      <m:r>
                        <m:rPr>
                          <m:nor/>
                        </m:rPr>
                        <a:rPr lang="en-US" altLang="zh-CN" dirty="0"/>
                        <m:t> −</m:t>
                      </m:r>
                      <m:r>
                        <m:rPr>
                          <m:nor/>
                        </m:rPr>
                        <a:rPr lang="zh-CN" altLang="en-US" dirty="0"/>
                        <m:t> </m:t>
                      </m:r>
                      <m:sSub>
                        <m:sSubPr>
                          <m:ctrlPr>
                            <a:rPr lang="zh-CN" altLang="en-US" i="1">
                              <a:latin typeface="Cambria Math" panose="02040503050406030204" pitchFamily="18" charset="0"/>
                            </a:rPr>
                          </m:ctrlPr>
                        </m:sSubPr>
                        <m:e>
                          <m:r>
                            <a:rPr lang="zh-CN" altLang="en-US" i="1">
                              <a:latin typeface="Cambria Math" panose="02040503050406030204" pitchFamily="18" charset="0"/>
                            </a:rPr>
                            <m:t>𝑢</m:t>
                          </m:r>
                        </m:e>
                        <m:sub>
                          <m:r>
                            <a:rPr lang="en-US" altLang="zh-CN" i="1">
                              <a:latin typeface="Cambria Math" panose="02040503050406030204" pitchFamily="18" charset="0"/>
                            </a:rPr>
                            <m:t>1</m:t>
                          </m:r>
                        </m:sub>
                      </m:sSub>
                      <m:r>
                        <m:rPr>
                          <m:nor/>
                        </m:rPr>
                        <a:rPr lang="zh-CN" altLang="en-US" dirty="0"/>
                        <m:t> </m:t>
                      </m:r>
                      <m:r>
                        <m:rPr>
                          <m:nor/>
                        </m:rPr>
                        <a:rPr lang="en-US" altLang="zh-CN" dirty="0"/>
                        <m:t>−</m:t>
                      </m:r>
                      <m:r>
                        <m:rPr>
                          <m:nor/>
                        </m:rPr>
                        <a:rPr lang="zh-CN" altLang="en-US" dirty="0"/>
                        <m:t> </m:t>
                      </m:r>
                      <m:sSub>
                        <m:sSubPr>
                          <m:ctrlPr>
                            <a:rPr lang="zh-CN" altLang="en-US" i="1">
                              <a:latin typeface="Cambria Math" panose="02040503050406030204" pitchFamily="18" charset="0"/>
                            </a:rPr>
                          </m:ctrlPr>
                        </m:sSubPr>
                        <m:e>
                          <m:r>
                            <a:rPr lang="zh-CN" altLang="en-US" i="1">
                              <a:latin typeface="Cambria Math" panose="02040503050406030204" pitchFamily="18" charset="0"/>
                            </a:rPr>
                            <m:t>𝑢</m:t>
                          </m:r>
                        </m:e>
                        <m:sub>
                          <m:r>
                            <a:rPr lang="en-US" altLang="zh-CN" i="1">
                              <a:latin typeface="Cambria Math" panose="02040503050406030204" pitchFamily="18" charset="0"/>
                            </a:rPr>
                            <m:t>2</m:t>
                          </m:r>
                        </m:sub>
                      </m:sSub>
                    </m:oMath>
                  </m:oMathPara>
                </a14:m>
                <a:endParaRPr lang="en-US" altLang="zh-CN" i="1" dirty="0"/>
              </a:p>
              <a:p>
                <a:pPr>
                  <a:buClr>
                    <a:srgbClr val="00549F"/>
                  </a:buClr>
                </a:pPr>
                <a:endParaRPr lang="en-US" altLang="zh-CN" i="1" dirty="0"/>
              </a:p>
            </p:txBody>
          </p:sp>
        </mc:Choice>
        <mc:Fallback xmlns="">
          <p:sp>
            <p:nvSpPr>
              <p:cNvPr id="16" name="文本框 15">
                <a:extLst>
                  <a:ext uri="{FF2B5EF4-FFF2-40B4-BE49-F238E27FC236}">
                    <a16:creationId xmlns:a16="http://schemas.microsoft.com/office/drawing/2014/main" id="{87BC952E-5D30-0FA8-822D-96C9A8432B80}"/>
                  </a:ext>
                </a:extLst>
              </p:cNvPr>
              <p:cNvSpPr txBox="1">
                <a:spLocks noRot="1" noChangeAspect="1" noMove="1" noResize="1" noEditPoints="1" noAdjustHandles="1" noChangeArrowheads="1" noChangeShapeType="1" noTextEdit="1"/>
              </p:cNvSpPr>
              <p:nvPr/>
            </p:nvSpPr>
            <p:spPr>
              <a:xfrm>
                <a:off x="6095206" y="3136415"/>
                <a:ext cx="5758128" cy="2352888"/>
              </a:xfrm>
              <a:prstGeom prst="rect">
                <a:avLst/>
              </a:prstGeom>
              <a:blipFill>
                <a:blip r:embed="rId4"/>
                <a:stretch>
                  <a:fillRect l="-742" t="-155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2461721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721D65-92E7-246B-DCFA-93DED79066D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1A4C8A5-0304-F7E6-7BEE-DE8850AAA08C}"/>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57D91DD9-7A24-6AFD-92A9-66B2310571D8}"/>
              </a:ext>
            </a:extLst>
          </p:cNvPr>
          <p:cNvSpPr>
            <a:spLocks noGrp="1"/>
          </p:cNvSpPr>
          <p:nvPr>
            <p:ph idx="1"/>
          </p:nvPr>
        </p:nvSpPr>
        <p:spPr/>
        <p:txBody>
          <a:bodyPr/>
          <a:lstStyle/>
          <a:p>
            <a:pPr>
              <a:lnSpc>
                <a:spcPct val="200000"/>
              </a:lnSpc>
            </a:pPr>
            <a:r>
              <a:rPr lang="en-US" altLang="zh-CN" dirty="0"/>
              <a:t>Research Background &amp; Objectives</a:t>
            </a:r>
          </a:p>
          <a:p>
            <a:pPr>
              <a:lnSpc>
                <a:spcPct val="200000"/>
              </a:lnSpc>
            </a:pPr>
            <a:r>
              <a:rPr lang="en-US" altLang="zh-CN" dirty="0"/>
              <a:t>Literature Review</a:t>
            </a:r>
          </a:p>
          <a:p>
            <a:pPr>
              <a:lnSpc>
                <a:spcPct val="200000"/>
              </a:lnSpc>
            </a:pPr>
            <a:r>
              <a:rPr lang="en-US" altLang="zh-CN" dirty="0"/>
              <a:t>Data Processing and Resistance Extraction Progress</a:t>
            </a:r>
          </a:p>
          <a:p>
            <a:pPr>
              <a:lnSpc>
                <a:spcPct val="200000"/>
              </a:lnSpc>
            </a:pPr>
            <a:r>
              <a:rPr lang="en-US" altLang="zh-CN" b="1" dirty="0">
                <a:solidFill>
                  <a:schemeClr val="accent4"/>
                </a:solidFill>
              </a:rPr>
              <a:t>Preliminary Findings and Current Problems </a:t>
            </a:r>
          </a:p>
          <a:p>
            <a:pPr>
              <a:lnSpc>
                <a:spcPct val="200000"/>
              </a:lnSpc>
            </a:pPr>
            <a:r>
              <a:rPr lang="en-US" altLang="zh-CN" dirty="0"/>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A805CAA1-61F2-587C-CAAB-B4C1AFF70CB2}"/>
              </a:ext>
            </a:extLst>
          </p:cNvPr>
          <p:cNvSpPr>
            <a:spLocks noGrp="1"/>
          </p:cNvSpPr>
          <p:nvPr>
            <p:ph type="dt" sz="half" idx="10"/>
          </p:nvPr>
        </p:nvSpPr>
        <p:spPr/>
        <p:txBody>
          <a:bodyPr/>
          <a:lstStyle/>
          <a:p>
            <a:r>
              <a:rPr lang="de-DE" altLang="zh-CN" dirty="0"/>
              <a:t>09.07.2026</a:t>
            </a:r>
          </a:p>
          <a:p>
            <a:pPr algn="l"/>
            <a:endParaRPr lang="de-DE" dirty="0"/>
          </a:p>
        </p:txBody>
      </p:sp>
      <p:sp>
        <p:nvSpPr>
          <p:cNvPr id="5" name="页脚占位符 4">
            <a:extLst>
              <a:ext uri="{FF2B5EF4-FFF2-40B4-BE49-F238E27FC236}">
                <a16:creationId xmlns:a16="http://schemas.microsoft.com/office/drawing/2014/main" id="{1EA08A49-3B4A-27DE-7595-73AA327DD9C0}"/>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BD16F522-FC68-CBED-BD76-D9E0B319B329}"/>
              </a:ext>
            </a:extLst>
          </p:cNvPr>
          <p:cNvSpPr>
            <a:spLocks noGrp="1"/>
          </p:cNvSpPr>
          <p:nvPr>
            <p:ph type="sldNum" sz="quarter" idx="12"/>
          </p:nvPr>
        </p:nvSpPr>
        <p:spPr/>
        <p:txBody>
          <a:bodyPr/>
          <a:lstStyle/>
          <a:p>
            <a:fld id="{4D01E63C-D794-4429-8564-635E6253AC5C}" type="slidenum">
              <a:rPr lang="en-US" smtClean="0"/>
              <a:pPr/>
              <a:t>12</a:t>
            </a:fld>
            <a:endParaRPr lang="en-US" dirty="0"/>
          </a:p>
        </p:txBody>
      </p:sp>
    </p:spTree>
    <p:extLst>
      <p:ext uri="{BB962C8B-B14F-4D97-AF65-F5344CB8AC3E}">
        <p14:creationId xmlns:p14="http://schemas.microsoft.com/office/powerpoint/2010/main" val="6595489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46403-2601-B391-5516-F233E2AB1CC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E72BE12-ECB3-14C3-7504-0B5C01A05C3B}"/>
              </a:ext>
            </a:extLst>
          </p:cNvPr>
          <p:cNvSpPr>
            <a:spLocks noGrp="1"/>
          </p:cNvSpPr>
          <p:nvPr>
            <p:ph type="title"/>
          </p:nvPr>
        </p:nvSpPr>
        <p:spPr/>
        <p:txBody>
          <a:bodyPr/>
          <a:lstStyle/>
          <a:p>
            <a:r>
              <a:rPr lang="en-US" altLang="zh-CN" dirty="0"/>
              <a:t>Preliminary results</a:t>
            </a:r>
            <a:endParaRPr lang="zh-CN" altLang="zh-CN" dirty="0"/>
          </a:p>
        </p:txBody>
      </p:sp>
      <p:sp>
        <p:nvSpPr>
          <p:cNvPr id="4" name="Datumsplatzhalter 3">
            <a:extLst>
              <a:ext uri="{FF2B5EF4-FFF2-40B4-BE49-F238E27FC236}">
                <a16:creationId xmlns:a16="http://schemas.microsoft.com/office/drawing/2014/main" id="{1F9CDF5A-2A7B-D506-8279-F44DB6E6741A}"/>
              </a:ext>
            </a:extLst>
          </p:cNvPr>
          <p:cNvSpPr>
            <a:spLocks noGrp="1"/>
          </p:cNvSpPr>
          <p:nvPr>
            <p:ph type="dt" sz="half" idx="10"/>
          </p:nvPr>
        </p:nvSpPr>
        <p:spPr/>
        <p:txBody>
          <a:bodyPr/>
          <a:lstStyle/>
          <a:p>
            <a:pPr algn="l"/>
            <a:r>
              <a:rPr lang="de-DE"/>
              <a:t>09.07.2026</a:t>
            </a:r>
            <a:endParaRPr lang="de-DE" dirty="0"/>
          </a:p>
        </p:txBody>
      </p:sp>
      <p:sp>
        <p:nvSpPr>
          <p:cNvPr id="5" name="Fußzeilenplatzhalter 4">
            <a:extLst>
              <a:ext uri="{FF2B5EF4-FFF2-40B4-BE49-F238E27FC236}">
                <a16:creationId xmlns:a16="http://schemas.microsoft.com/office/drawing/2014/main" id="{C1CE6943-DBB5-6F87-9195-4023A201EE54}"/>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7FB8457C-433D-FF1C-526A-ADE819A5D502}"/>
              </a:ext>
            </a:extLst>
          </p:cNvPr>
          <p:cNvSpPr>
            <a:spLocks noGrp="1"/>
          </p:cNvSpPr>
          <p:nvPr>
            <p:ph type="sldNum" sz="quarter" idx="12"/>
          </p:nvPr>
        </p:nvSpPr>
        <p:spPr/>
        <p:txBody>
          <a:bodyPr/>
          <a:lstStyle/>
          <a:p>
            <a:fld id="{4D01E63C-D794-4429-8564-635E6253AC5C}" type="slidenum">
              <a:rPr lang="en-US" smtClean="0"/>
              <a:pPr/>
              <a:t>13</a:t>
            </a:fld>
            <a:endParaRPr lang="en-US" dirty="0"/>
          </a:p>
        </p:txBody>
      </p:sp>
      <p:sp>
        <p:nvSpPr>
          <p:cNvPr id="9" name="内容占位符 8">
            <a:extLst>
              <a:ext uri="{FF2B5EF4-FFF2-40B4-BE49-F238E27FC236}">
                <a16:creationId xmlns:a16="http://schemas.microsoft.com/office/drawing/2014/main" id="{3239DBBA-C6F6-4A61-2250-D874FCD9A483}"/>
              </a:ext>
            </a:extLst>
          </p:cNvPr>
          <p:cNvSpPr>
            <a:spLocks noGrp="1"/>
          </p:cNvSpPr>
          <p:nvPr>
            <p:ph idx="1"/>
          </p:nvPr>
        </p:nvSpPr>
        <p:spPr/>
        <p:txBody>
          <a:bodyPr/>
          <a:lstStyle/>
          <a:p>
            <a:r>
              <a:rPr lang="zh-CN" altLang="zh-CN" dirty="0"/>
              <a:t>R</a:t>
            </a:r>
            <a:r>
              <a:rPr lang="zh-CN" altLang="zh-CN" baseline="-25000" dirty="0"/>
              <a:t>0</a:t>
            </a:r>
            <a:r>
              <a:rPr lang="en-US" altLang="zh-CN" baseline="-25000" dirty="0"/>
              <a:t>  </a:t>
            </a:r>
            <a:r>
              <a:rPr lang="en-US" altLang="zh-CN" dirty="0"/>
              <a:t>results</a:t>
            </a:r>
            <a:endParaRPr lang="zh-CN" altLang="en-US" dirty="0"/>
          </a:p>
        </p:txBody>
      </p:sp>
      <p:pic>
        <p:nvPicPr>
          <p:cNvPr id="7" name="图片 6">
            <a:extLst>
              <a:ext uri="{FF2B5EF4-FFF2-40B4-BE49-F238E27FC236}">
                <a16:creationId xmlns:a16="http://schemas.microsoft.com/office/drawing/2014/main" id="{D4E5F27C-ED92-3CCE-DF6F-6C7B248EAB1C}"/>
              </a:ext>
            </a:extLst>
          </p:cNvPr>
          <p:cNvPicPr>
            <a:picLocks noChangeAspect="1"/>
          </p:cNvPicPr>
          <p:nvPr/>
        </p:nvPicPr>
        <p:blipFill>
          <a:blip r:embed="rId3"/>
          <a:stretch>
            <a:fillRect/>
          </a:stretch>
        </p:blipFill>
        <p:spPr>
          <a:xfrm>
            <a:off x="383950" y="1539551"/>
            <a:ext cx="10695482" cy="4278193"/>
          </a:xfrm>
          <a:prstGeom prst="rect">
            <a:avLst/>
          </a:prstGeom>
        </p:spPr>
      </p:pic>
    </p:spTree>
    <p:extLst>
      <p:ext uri="{BB962C8B-B14F-4D97-AF65-F5344CB8AC3E}">
        <p14:creationId xmlns:p14="http://schemas.microsoft.com/office/powerpoint/2010/main" val="3780723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824FB-0D69-5AD2-3F29-DC441EC9D5A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24D8EA3-F37A-B708-966E-9EC2EF43AC0C}"/>
              </a:ext>
            </a:extLst>
          </p:cNvPr>
          <p:cNvSpPr>
            <a:spLocks noGrp="1"/>
          </p:cNvSpPr>
          <p:nvPr>
            <p:ph type="title"/>
          </p:nvPr>
        </p:nvSpPr>
        <p:spPr/>
        <p:txBody>
          <a:bodyPr/>
          <a:lstStyle/>
          <a:p>
            <a:r>
              <a:rPr lang="en-US" altLang="zh-CN" dirty="0"/>
              <a:t>Preliminary results</a:t>
            </a:r>
            <a:endParaRPr lang="zh-CN" altLang="zh-CN" dirty="0"/>
          </a:p>
        </p:txBody>
      </p:sp>
      <p:sp>
        <p:nvSpPr>
          <p:cNvPr id="4" name="Datumsplatzhalter 3">
            <a:extLst>
              <a:ext uri="{FF2B5EF4-FFF2-40B4-BE49-F238E27FC236}">
                <a16:creationId xmlns:a16="http://schemas.microsoft.com/office/drawing/2014/main" id="{6D9207B1-8AB1-AEEF-24F8-F2629B7C54BE}"/>
              </a:ext>
            </a:extLst>
          </p:cNvPr>
          <p:cNvSpPr>
            <a:spLocks noGrp="1"/>
          </p:cNvSpPr>
          <p:nvPr>
            <p:ph type="dt" sz="half" idx="10"/>
          </p:nvPr>
        </p:nvSpPr>
        <p:spPr/>
        <p:txBody>
          <a:bodyPr/>
          <a:lstStyle/>
          <a:p>
            <a:pPr algn="l"/>
            <a:r>
              <a:rPr lang="de-DE" dirty="0"/>
              <a:t>09.07.2026</a:t>
            </a:r>
          </a:p>
        </p:txBody>
      </p:sp>
      <p:sp>
        <p:nvSpPr>
          <p:cNvPr id="5" name="Fußzeilenplatzhalter 4">
            <a:extLst>
              <a:ext uri="{FF2B5EF4-FFF2-40B4-BE49-F238E27FC236}">
                <a16:creationId xmlns:a16="http://schemas.microsoft.com/office/drawing/2014/main" id="{9D634260-B96B-8859-3D90-A0B518BFB379}"/>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1936283F-285B-8C0F-7CCD-534D3CEF56D8}"/>
              </a:ext>
            </a:extLst>
          </p:cNvPr>
          <p:cNvSpPr>
            <a:spLocks noGrp="1"/>
          </p:cNvSpPr>
          <p:nvPr>
            <p:ph type="sldNum" sz="quarter" idx="12"/>
          </p:nvPr>
        </p:nvSpPr>
        <p:spPr/>
        <p:txBody>
          <a:bodyPr/>
          <a:lstStyle/>
          <a:p>
            <a:fld id="{4D01E63C-D794-4429-8564-635E6253AC5C}" type="slidenum">
              <a:rPr lang="en-US" smtClean="0"/>
              <a:pPr/>
              <a:t>14</a:t>
            </a:fld>
            <a:endParaRPr lang="en-US" dirty="0"/>
          </a:p>
        </p:txBody>
      </p:sp>
      <p:sp>
        <p:nvSpPr>
          <p:cNvPr id="9" name="内容占位符 8">
            <a:extLst>
              <a:ext uri="{FF2B5EF4-FFF2-40B4-BE49-F238E27FC236}">
                <a16:creationId xmlns:a16="http://schemas.microsoft.com/office/drawing/2014/main" id="{32C6DEFE-A781-A7D8-D4CB-CFB0355A1313}"/>
              </a:ext>
            </a:extLst>
          </p:cNvPr>
          <p:cNvSpPr>
            <a:spLocks noGrp="1"/>
          </p:cNvSpPr>
          <p:nvPr>
            <p:ph idx="1"/>
          </p:nvPr>
        </p:nvSpPr>
        <p:spPr/>
        <p:txBody>
          <a:bodyPr/>
          <a:lstStyle/>
          <a:p>
            <a:r>
              <a:rPr lang="zh-CN" altLang="zh-CN" dirty="0"/>
              <a:t>R</a:t>
            </a:r>
            <a:r>
              <a:rPr lang="en-US" altLang="zh-CN" baseline="-25000" dirty="0"/>
              <a:t>1  </a:t>
            </a:r>
            <a:r>
              <a:rPr lang="en-US" altLang="zh-CN" dirty="0"/>
              <a:t>results</a:t>
            </a:r>
            <a:endParaRPr lang="zh-CN" altLang="en-US" dirty="0"/>
          </a:p>
        </p:txBody>
      </p:sp>
      <p:pic>
        <p:nvPicPr>
          <p:cNvPr id="7" name="图片 6">
            <a:extLst>
              <a:ext uri="{FF2B5EF4-FFF2-40B4-BE49-F238E27FC236}">
                <a16:creationId xmlns:a16="http://schemas.microsoft.com/office/drawing/2014/main" id="{278B68D3-F736-1828-74E6-EB8E472F4299}"/>
              </a:ext>
            </a:extLst>
          </p:cNvPr>
          <p:cNvPicPr>
            <a:picLocks noChangeAspect="1"/>
          </p:cNvPicPr>
          <p:nvPr/>
        </p:nvPicPr>
        <p:blipFill>
          <a:blip r:embed="rId3"/>
          <a:stretch>
            <a:fillRect/>
          </a:stretch>
        </p:blipFill>
        <p:spPr>
          <a:xfrm>
            <a:off x="378345" y="1551482"/>
            <a:ext cx="10646921" cy="4258768"/>
          </a:xfrm>
          <a:prstGeom prst="rect">
            <a:avLst/>
          </a:prstGeom>
        </p:spPr>
      </p:pic>
    </p:spTree>
    <p:extLst>
      <p:ext uri="{BB962C8B-B14F-4D97-AF65-F5344CB8AC3E}">
        <p14:creationId xmlns:p14="http://schemas.microsoft.com/office/powerpoint/2010/main" val="4267637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7683F-A457-C015-8EBE-7CA4BA60E21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0BAE48C-2AE8-1C5A-8B2A-97A3C120A316}"/>
              </a:ext>
            </a:extLst>
          </p:cNvPr>
          <p:cNvSpPr>
            <a:spLocks noGrp="1"/>
          </p:cNvSpPr>
          <p:nvPr>
            <p:ph type="title"/>
          </p:nvPr>
        </p:nvSpPr>
        <p:spPr/>
        <p:txBody>
          <a:bodyPr/>
          <a:lstStyle/>
          <a:p>
            <a:r>
              <a:rPr lang="en-US" altLang="zh-CN" dirty="0"/>
              <a:t>Preliminary results</a:t>
            </a:r>
            <a:endParaRPr lang="zh-CN" altLang="zh-CN" dirty="0"/>
          </a:p>
        </p:txBody>
      </p:sp>
      <p:sp>
        <p:nvSpPr>
          <p:cNvPr id="4" name="Datumsplatzhalter 3">
            <a:extLst>
              <a:ext uri="{FF2B5EF4-FFF2-40B4-BE49-F238E27FC236}">
                <a16:creationId xmlns:a16="http://schemas.microsoft.com/office/drawing/2014/main" id="{5C3953F6-7828-F548-F06B-BF4477C04BDC}"/>
              </a:ext>
            </a:extLst>
          </p:cNvPr>
          <p:cNvSpPr>
            <a:spLocks noGrp="1"/>
          </p:cNvSpPr>
          <p:nvPr>
            <p:ph type="dt" sz="half" idx="10"/>
          </p:nvPr>
        </p:nvSpPr>
        <p:spPr/>
        <p:txBody>
          <a:bodyPr/>
          <a:lstStyle/>
          <a:p>
            <a:pPr algn="l"/>
            <a:r>
              <a:rPr lang="de-DE" dirty="0"/>
              <a:t>09.07.2026</a:t>
            </a:r>
          </a:p>
        </p:txBody>
      </p:sp>
      <p:sp>
        <p:nvSpPr>
          <p:cNvPr id="5" name="Fußzeilenplatzhalter 4">
            <a:extLst>
              <a:ext uri="{FF2B5EF4-FFF2-40B4-BE49-F238E27FC236}">
                <a16:creationId xmlns:a16="http://schemas.microsoft.com/office/drawing/2014/main" id="{79C1A686-DF5E-B498-3F0F-41135B1545B4}"/>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23FD731C-87AA-6A0B-3253-9F3D38031737}"/>
              </a:ext>
            </a:extLst>
          </p:cNvPr>
          <p:cNvSpPr>
            <a:spLocks noGrp="1"/>
          </p:cNvSpPr>
          <p:nvPr>
            <p:ph type="sldNum" sz="quarter" idx="12"/>
          </p:nvPr>
        </p:nvSpPr>
        <p:spPr/>
        <p:txBody>
          <a:bodyPr/>
          <a:lstStyle/>
          <a:p>
            <a:fld id="{4D01E63C-D794-4429-8564-635E6253AC5C}" type="slidenum">
              <a:rPr lang="en-US" smtClean="0"/>
              <a:pPr/>
              <a:t>15</a:t>
            </a:fld>
            <a:endParaRPr lang="en-US" dirty="0"/>
          </a:p>
        </p:txBody>
      </p:sp>
      <p:sp>
        <p:nvSpPr>
          <p:cNvPr id="9" name="内容占位符 8">
            <a:extLst>
              <a:ext uri="{FF2B5EF4-FFF2-40B4-BE49-F238E27FC236}">
                <a16:creationId xmlns:a16="http://schemas.microsoft.com/office/drawing/2014/main" id="{AA5F01F5-9F21-30A9-75BA-1E243356BCAC}"/>
              </a:ext>
            </a:extLst>
          </p:cNvPr>
          <p:cNvSpPr>
            <a:spLocks noGrp="1"/>
          </p:cNvSpPr>
          <p:nvPr>
            <p:ph idx="1"/>
          </p:nvPr>
        </p:nvSpPr>
        <p:spPr/>
        <p:txBody>
          <a:bodyPr/>
          <a:lstStyle/>
          <a:p>
            <a:r>
              <a:rPr lang="zh-CN" altLang="zh-CN" dirty="0"/>
              <a:t>R</a:t>
            </a:r>
            <a:r>
              <a:rPr lang="en-US" altLang="zh-CN" baseline="-25000" dirty="0"/>
              <a:t>2  </a:t>
            </a:r>
            <a:r>
              <a:rPr lang="en-US" altLang="zh-CN" dirty="0"/>
              <a:t>results</a:t>
            </a:r>
            <a:endParaRPr lang="zh-CN" altLang="en-US" dirty="0"/>
          </a:p>
        </p:txBody>
      </p:sp>
      <p:pic>
        <p:nvPicPr>
          <p:cNvPr id="7" name="图片 6">
            <a:extLst>
              <a:ext uri="{FF2B5EF4-FFF2-40B4-BE49-F238E27FC236}">
                <a16:creationId xmlns:a16="http://schemas.microsoft.com/office/drawing/2014/main" id="{2A447DBB-6A6B-F9FA-5FB9-F67AC5AF2570}"/>
              </a:ext>
            </a:extLst>
          </p:cNvPr>
          <p:cNvPicPr>
            <a:picLocks noChangeAspect="1"/>
          </p:cNvPicPr>
          <p:nvPr/>
        </p:nvPicPr>
        <p:blipFill>
          <a:blip r:embed="rId3"/>
          <a:stretch>
            <a:fillRect/>
          </a:stretch>
        </p:blipFill>
        <p:spPr>
          <a:xfrm>
            <a:off x="383950" y="1542414"/>
            <a:ext cx="10708771" cy="4283508"/>
          </a:xfrm>
          <a:prstGeom prst="rect">
            <a:avLst/>
          </a:prstGeom>
        </p:spPr>
      </p:pic>
    </p:spTree>
    <p:extLst>
      <p:ext uri="{BB962C8B-B14F-4D97-AF65-F5344CB8AC3E}">
        <p14:creationId xmlns:p14="http://schemas.microsoft.com/office/powerpoint/2010/main" val="40518862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C455E-C60A-1AEB-F54B-263AE1A6096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7A383DD-2517-734F-BC88-B431AD392175}"/>
              </a:ext>
            </a:extLst>
          </p:cNvPr>
          <p:cNvSpPr>
            <a:spLocks noGrp="1"/>
          </p:cNvSpPr>
          <p:nvPr>
            <p:ph type="title"/>
          </p:nvPr>
        </p:nvSpPr>
        <p:spPr/>
        <p:txBody>
          <a:bodyPr/>
          <a:lstStyle/>
          <a:p>
            <a:r>
              <a:rPr lang="zh-CN" altLang="zh-CN" dirty="0"/>
              <a:t>Current Problems and Key Observations</a:t>
            </a:r>
          </a:p>
        </p:txBody>
      </p:sp>
      <p:sp>
        <p:nvSpPr>
          <p:cNvPr id="4" name="Datumsplatzhalter 3">
            <a:extLst>
              <a:ext uri="{FF2B5EF4-FFF2-40B4-BE49-F238E27FC236}">
                <a16:creationId xmlns:a16="http://schemas.microsoft.com/office/drawing/2014/main" id="{F2848477-571D-5840-90D8-4345774F9299}"/>
              </a:ext>
            </a:extLst>
          </p:cNvPr>
          <p:cNvSpPr>
            <a:spLocks noGrp="1"/>
          </p:cNvSpPr>
          <p:nvPr>
            <p:ph type="dt" sz="half" idx="10"/>
          </p:nvPr>
        </p:nvSpPr>
        <p:spPr/>
        <p:txBody>
          <a:bodyPr/>
          <a:lstStyle/>
          <a:p>
            <a:pPr algn="l"/>
            <a:r>
              <a:rPr lang="de-DE" dirty="0"/>
              <a:t>09.07.2026</a:t>
            </a:r>
          </a:p>
        </p:txBody>
      </p:sp>
      <p:sp>
        <p:nvSpPr>
          <p:cNvPr id="5" name="Fußzeilenplatzhalter 4">
            <a:extLst>
              <a:ext uri="{FF2B5EF4-FFF2-40B4-BE49-F238E27FC236}">
                <a16:creationId xmlns:a16="http://schemas.microsoft.com/office/drawing/2014/main" id="{7D83629F-DFD7-C366-4FDD-EFB867E3AD61}"/>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7B49E79B-D7AD-8B8E-5B38-81788A61B550}"/>
              </a:ext>
            </a:extLst>
          </p:cNvPr>
          <p:cNvSpPr>
            <a:spLocks noGrp="1"/>
          </p:cNvSpPr>
          <p:nvPr>
            <p:ph type="sldNum" sz="quarter" idx="12"/>
          </p:nvPr>
        </p:nvSpPr>
        <p:spPr/>
        <p:txBody>
          <a:bodyPr/>
          <a:lstStyle/>
          <a:p>
            <a:fld id="{4D01E63C-D794-4429-8564-635E6253AC5C}" type="slidenum">
              <a:rPr lang="en-US" smtClean="0"/>
              <a:pPr/>
              <a:t>16</a:t>
            </a:fld>
            <a:endParaRPr lang="en-US" dirty="0"/>
          </a:p>
        </p:txBody>
      </p:sp>
      <p:sp>
        <p:nvSpPr>
          <p:cNvPr id="9" name="内容占位符 8">
            <a:extLst>
              <a:ext uri="{FF2B5EF4-FFF2-40B4-BE49-F238E27FC236}">
                <a16:creationId xmlns:a16="http://schemas.microsoft.com/office/drawing/2014/main" id="{3F6A40B8-24F2-EEFB-FB90-058CFFCA3028}"/>
              </a:ext>
            </a:extLst>
          </p:cNvPr>
          <p:cNvSpPr>
            <a:spLocks noGrp="1"/>
          </p:cNvSpPr>
          <p:nvPr>
            <p:ph idx="1"/>
          </p:nvPr>
        </p:nvSpPr>
        <p:spPr/>
        <p:txBody>
          <a:bodyPr/>
          <a:lstStyle/>
          <a:p>
            <a:pPr>
              <a:lnSpc>
                <a:spcPct val="150000"/>
              </a:lnSpc>
            </a:pPr>
            <a:r>
              <a:rPr lang="en-US" altLang="zh-CN" dirty="0"/>
              <a:t>R</a:t>
            </a:r>
            <a:r>
              <a:rPr lang="en-US" altLang="zh-CN" baseline="-25000" dirty="0"/>
              <a:t>0</a:t>
            </a:r>
            <a:r>
              <a:rPr lang="en-US" altLang="zh-CN" dirty="0"/>
              <a:t> includes a portion of the polarization resistance.</a:t>
            </a:r>
          </a:p>
          <a:p>
            <a:pPr marL="0" indent="0">
              <a:lnSpc>
                <a:spcPct val="150000"/>
              </a:lnSpc>
              <a:buNone/>
            </a:pPr>
            <a:r>
              <a:rPr lang="zh-CN" altLang="zh-CN" dirty="0"/>
              <a:t>This may lead to an overestimation of the pure ohmic resistance.</a:t>
            </a:r>
            <a:endParaRPr lang="en-US" altLang="zh-CN" dirty="0"/>
          </a:p>
          <a:p>
            <a:pPr marL="0" indent="0">
              <a:buNone/>
            </a:pPr>
            <a:endParaRPr lang="en-US" altLang="zh-CN" dirty="0"/>
          </a:p>
          <a:p>
            <a:pPr>
              <a:lnSpc>
                <a:spcPct val="150000"/>
              </a:lnSpc>
            </a:pPr>
            <a:r>
              <a:rPr lang="en-US" altLang="zh-CN" dirty="0"/>
              <a:t>Different τ₂ bounds were set for different SOC levels; for example:</a:t>
            </a:r>
          </a:p>
          <a:p>
            <a:pPr marL="0" indent="0">
              <a:lnSpc>
                <a:spcPct val="150000"/>
              </a:lnSpc>
              <a:buNone/>
            </a:pPr>
            <a:r>
              <a:rPr lang="en-US" altLang="zh-CN" dirty="0"/>
              <a:t>10% SOC: The lower bound for τ₂ is approximately 80 s, with an upper bound reaching up to 600 s;</a:t>
            </a:r>
          </a:p>
          <a:p>
            <a:pPr marL="0" indent="0">
              <a:lnSpc>
                <a:spcPct val="150000"/>
              </a:lnSpc>
              <a:buNone/>
            </a:pPr>
            <a:r>
              <a:rPr lang="en-US" altLang="zh-CN" dirty="0"/>
              <a:t>50% SOC: The lower bound for τ₂ is approximately 60 s;</a:t>
            </a:r>
          </a:p>
          <a:p>
            <a:pPr marL="0" indent="0">
              <a:lnSpc>
                <a:spcPct val="150000"/>
              </a:lnSpc>
              <a:buNone/>
            </a:pPr>
            <a:r>
              <a:rPr lang="en-US" altLang="zh-CN" dirty="0"/>
              <a:t>90% SOC: The lower bound for τ₂ is approximately 40 s;</a:t>
            </a:r>
          </a:p>
          <a:p>
            <a:endParaRPr lang="en-US" altLang="zh-CN" dirty="0"/>
          </a:p>
          <a:p>
            <a:r>
              <a:rPr lang="en-US" altLang="zh-CN" dirty="0">
                <a:solidFill>
                  <a:srgbClr val="FF0000"/>
                </a:solidFill>
              </a:rPr>
              <a:t>During discharge (DCH) at 10% SOC, τ₂ frequently approaches the 600 s upper bound.</a:t>
            </a:r>
            <a:endParaRPr lang="zh-CN" altLang="en-US" dirty="0">
              <a:solidFill>
                <a:srgbClr val="FF0000"/>
              </a:solidFill>
            </a:endParaRPr>
          </a:p>
        </p:txBody>
      </p:sp>
    </p:spTree>
    <p:extLst>
      <p:ext uri="{BB962C8B-B14F-4D97-AF65-F5344CB8AC3E}">
        <p14:creationId xmlns:p14="http://schemas.microsoft.com/office/powerpoint/2010/main" val="20128635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82F0-23D4-8A22-1AD1-06329B330A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93FA121-7C71-1B44-38C2-9E56AA6C904A}"/>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03679C2E-AFD5-8614-2ECA-11CF551DD5B6}"/>
              </a:ext>
            </a:extLst>
          </p:cNvPr>
          <p:cNvSpPr>
            <a:spLocks noGrp="1"/>
          </p:cNvSpPr>
          <p:nvPr>
            <p:ph idx="1"/>
          </p:nvPr>
        </p:nvSpPr>
        <p:spPr/>
        <p:txBody>
          <a:bodyPr/>
          <a:lstStyle/>
          <a:p>
            <a:pPr>
              <a:lnSpc>
                <a:spcPct val="200000"/>
              </a:lnSpc>
            </a:pPr>
            <a:r>
              <a:rPr lang="en-US" altLang="zh-CN" dirty="0"/>
              <a:t>Research Background &amp; Objectives</a:t>
            </a:r>
          </a:p>
          <a:p>
            <a:pPr>
              <a:lnSpc>
                <a:spcPct val="200000"/>
              </a:lnSpc>
            </a:pPr>
            <a:r>
              <a:rPr lang="en-US" altLang="zh-CN" dirty="0"/>
              <a:t>Literature Review</a:t>
            </a:r>
          </a:p>
          <a:p>
            <a:pPr>
              <a:lnSpc>
                <a:spcPct val="200000"/>
              </a:lnSpc>
            </a:pPr>
            <a:r>
              <a:rPr lang="en-US" altLang="zh-CN" dirty="0"/>
              <a:t>Data Processing and Resistance Extraction Progress</a:t>
            </a:r>
          </a:p>
          <a:p>
            <a:pPr>
              <a:lnSpc>
                <a:spcPct val="200000"/>
              </a:lnSpc>
            </a:pPr>
            <a:r>
              <a:rPr lang="en-US" altLang="zh-CN" dirty="0"/>
              <a:t>Preliminary Findings and Current Problems </a:t>
            </a:r>
          </a:p>
          <a:p>
            <a:pPr>
              <a:lnSpc>
                <a:spcPct val="200000"/>
              </a:lnSpc>
            </a:pPr>
            <a:r>
              <a:rPr lang="en-US" altLang="zh-CN" b="1" dirty="0">
                <a:solidFill>
                  <a:schemeClr val="accent4"/>
                </a:solidFill>
              </a:rPr>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168BA71B-8546-E50A-12FB-7D647CEB45C2}"/>
              </a:ext>
            </a:extLst>
          </p:cNvPr>
          <p:cNvSpPr>
            <a:spLocks noGrp="1"/>
          </p:cNvSpPr>
          <p:nvPr>
            <p:ph type="dt" sz="half" idx="10"/>
          </p:nvPr>
        </p:nvSpPr>
        <p:spPr/>
        <p:txBody>
          <a:bodyPr/>
          <a:lstStyle/>
          <a:p>
            <a:r>
              <a:rPr lang="de-DE" altLang="zh-CN" dirty="0"/>
              <a:t>09.07.2026</a:t>
            </a:r>
          </a:p>
          <a:p>
            <a:pPr algn="l"/>
            <a:endParaRPr lang="de-DE" dirty="0"/>
          </a:p>
        </p:txBody>
      </p:sp>
      <p:sp>
        <p:nvSpPr>
          <p:cNvPr id="5" name="页脚占位符 4">
            <a:extLst>
              <a:ext uri="{FF2B5EF4-FFF2-40B4-BE49-F238E27FC236}">
                <a16:creationId xmlns:a16="http://schemas.microsoft.com/office/drawing/2014/main" id="{2B204A25-9EA3-995B-E15F-679F25B5919C}"/>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E67A6942-365A-0577-CFCF-E87D545B18E5}"/>
              </a:ext>
            </a:extLst>
          </p:cNvPr>
          <p:cNvSpPr>
            <a:spLocks noGrp="1"/>
          </p:cNvSpPr>
          <p:nvPr>
            <p:ph type="sldNum" sz="quarter" idx="12"/>
          </p:nvPr>
        </p:nvSpPr>
        <p:spPr/>
        <p:txBody>
          <a:bodyPr/>
          <a:lstStyle/>
          <a:p>
            <a:fld id="{4D01E63C-D794-4429-8564-635E6253AC5C}" type="slidenum">
              <a:rPr lang="en-US" smtClean="0"/>
              <a:pPr/>
              <a:t>17</a:t>
            </a:fld>
            <a:endParaRPr lang="en-US" dirty="0"/>
          </a:p>
        </p:txBody>
      </p:sp>
    </p:spTree>
    <p:extLst>
      <p:ext uri="{BB962C8B-B14F-4D97-AF65-F5344CB8AC3E}">
        <p14:creationId xmlns:p14="http://schemas.microsoft.com/office/powerpoint/2010/main" val="39292867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40073-13A5-E636-67D8-AE1E4A62F0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B59A045-0D74-9165-3F8F-872A101F9343}"/>
              </a:ext>
            </a:extLst>
          </p:cNvPr>
          <p:cNvSpPr>
            <a:spLocks noGrp="1"/>
          </p:cNvSpPr>
          <p:nvPr>
            <p:ph type="title"/>
          </p:nvPr>
        </p:nvSpPr>
        <p:spPr/>
        <p:txBody>
          <a:bodyPr/>
          <a:lstStyle/>
          <a:p>
            <a:r>
              <a:rPr lang="zh-CN" altLang="zh-CN" dirty="0"/>
              <a:t>Multi-task Learning for Battery Health Prediction</a:t>
            </a:r>
          </a:p>
        </p:txBody>
      </p:sp>
      <p:sp>
        <p:nvSpPr>
          <p:cNvPr id="4" name="Datumsplatzhalter 3">
            <a:extLst>
              <a:ext uri="{FF2B5EF4-FFF2-40B4-BE49-F238E27FC236}">
                <a16:creationId xmlns:a16="http://schemas.microsoft.com/office/drawing/2014/main" id="{7A4126F8-F689-D357-2765-C9C5358E1DA1}"/>
              </a:ext>
            </a:extLst>
          </p:cNvPr>
          <p:cNvSpPr>
            <a:spLocks noGrp="1"/>
          </p:cNvSpPr>
          <p:nvPr>
            <p:ph type="dt" sz="half" idx="10"/>
          </p:nvPr>
        </p:nvSpPr>
        <p:spPr/>
        <p:txBody>
          <a:bodyPr/>
          <a:lstStyle/>
          <a:p>
            <a:pPr algn="l"/>
            <a:r>
              <a:rPr lang="de-DE" dirty="0"/>
              <a:t>09.07.2026</a:t>
            </a:r>
          </a:p>
        </p:txBody>
      </p:sp>
      <p:sp>
        <p:nvSpPr>
          <p:cNvPr id="5" name="Fußzeilenplatzhalter 4">
            <a:extLst>
              <a:ext uri="{FF2B5EF4-FFF2-40B4-BE49-F238E27FC236}">
                <a16:creationId xmlns:a16="http://schemas.microsoft.com/office/drawing/2014/main" id="{009A0481-1D27-2D80-AC94-0E33261C44C1}"/>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32323787-0025-E527-B450-CDF3498B73E2}"/>
              </a:ext>
            </a:extLst>
          </p:cNvPr>
          <p:cNvSpPr>
            <a:spLocks noGrp="1"/>
          </p:cNvSpPr>
          <p:nvPr>
            <p:ph type="sldNum" sz="quarter" idx="12"/>
          </p:nvPr>
        </p:nvSpPr>
        <p:spPr/>
        <p:txBody>
          <a:bodyPr/>
          <a:lstStyle/>
          <a:p>
            <a:fld id="{4D01E63C-D794-4429-8564-635E6253AC5C}" type="slidenum">
              <a:rPr lang="en-US" smtClean="0"/>
              <a:pPr/>
              <a:t>18</a:t>
            </a:fld>
            <a:endParaRPr lang="en-US" dirty="0"/>
          </a:p>
        </p:txBody>
      </p:sp>
      <p:sp>
        <p:nvSpPr>
          <p:cNvPr id="7" name="文本框 6">
            <a:extLst>
              <a:ext uri="{FF2B5EF4-FFF2-40B4-BE49-F238E27FC236}">
                <a16:creationId xmlns:a16="http://schemas.microsoft.com/office/drawing/2014/main" id="{A1651FCC-760E-7A79-5A6E-9747E1649B38}"/>
              </a:ext>
            </a:extLst>
          </p:cNvPr>
          <p:cNvSpPr txBox="1"/>
          <p:nvPr/>
        </p:nvSpPr>
        <p:spPr>
          <a:xfrm>
            <a:off x="383950" y="1075306"/>
            <a:ext cx="8075951" cy="1703030"/>
          </a:xfrm>
          <a:prstGeom prst="rect">
            <a:avLst/>
          </a:prstGeom>
          <a:noFill/>
        </p:spPr>
        <p:txBody>
          <a:bodyPr wrap="square">
            <a:spAutoFit/>
          </a:bodyPr>
          <a:lstStyle/>
          <a:p>
            <a:pPr marL="285750" indent="-285750">
              <a:lnSpc>
                <a:spcPct val="150000"/>
              </a:lnSpc>
              <a:buClr>
                <a:srgbClr val="00549F"/>
              </a:buClr>
              <a:buFont typeface="Wingdings" panose="05000000000000000000" pitchFamily="2" charset="2"/>
              <a:buChar char="n"/>
            </a:pPr>
            <a:r>
              <a:rPr lang="zh-CN" altLang="zh-CN" dirty="0"/>
              <a:t>Capacity, R₀, R₁, and R₂ are physically related through battery aging.</a:t>
            </a:r>
          </a:p>
          <a:p>
            <a:pPr marL="285750" indent="-285750">
              <a:lnSpc>
                <a:spcPct val="150000"/>
              </a:lnSpc>
              <a:buClr>
                <a:srgbClr val="00549F"/>
              </a:buClr>
              <a:buFont typeface="Wingdings" panose="05000000000000000000" pitchFamily="2" charset="2"/>
              <a:buChar char="n"/>
            </a:pPr>
            <a:r>
              <a:rPr lang="zh-CN" altLang="zh-CN" dirty="0"/>
              <a:t>Independent models may ignore shared degradation information.</a:t>
            </a:r>
          </a:p>
          <a:p>
            <a:pPr marL="285750" indent="-285750">
              <a:lnSpc>
                <a:spcPct val="150000"/>
              </a:lnSpc>
              <a:buClr>
                <a:srgbClr val="00549F"/>
              </a:buClr>
              <a:buFont typeface="Wingdings" panose="05000000000000000000" pitchFamily="2" charset="2"/>
              <a:buChar char="n"/>
            </a:pPr>
            <a:r>
              <a:rPr lang="zh-CN" altLang="zh-CN" dirty="0"/>
              <a:t>MTL learns a shared aging-sensitive representation.</a:t>
            </a:r>
          </a:p>
          <a:p>
            <a:pPr marL="285750" indent="-285750">
              <a:lnSpc>
                <a:spcPct val="150000"/>
              </a:lnSpc>
              <a:buClr>
                <a:srgbClr val="00549F"/>
              </a:buClr>
              <a:buFont typeface="Wingdings" panose="05000000000000000000" pitchFamily="2" charset="2"/>
              <a:buChar char="n"/>
            </a:pPr>
            <a:r>
              <a:rPr lang="zh-CN" altLang="zh-CN" dirty="0"/>
              <a:t>Task-specific heads predict capacity/SOH, R₀, R₁, and R₂.</a:t>
            </a:r>
          </a:p>
        </p:txBody>
      </p:sp>
    </p:spTree>
    <p:extLst>
      <p:ext uri="{BB962C8B-B14F-4D97-AF65-F5344CB8AC3E}">
        <p14:creationId xmlns:p14="http://schemas.microsoft.com/office/powerpoint/2010/main" val="6854951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CC516-3DDB-1CC0-A971-D024686829B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EB0485-44F5-01CF-657A-B3D56D766EF3}"/>
              </a:ext>
            </a:extLst>
          </p:cNvPr>
          <p:cNvSpPr>
            <a:spLocks noGrp="1"/>
          </p:cNvSpPr>
          <p:nvPr>
            <p:ph type="title"/>
          </p:nvPr>
        </p:nvSpPr>
        <p:spPr/>
        <p:txBody>
          <a:bodyPr/>
          <a:lstStyle/>
          <a:p>
            <a:r>
              <a:rPr lang="zh-CN" altLang="zh-CN" dirty="0"/>
              <a:t>Next-stage Research Plan</a:t>
            </a:r>
          </a:p>
        </p:txBody>
      </p:sp>
      <p:sp>
        <p:nvSpPr>
          <p:cNvPr id="4" name="Datumsplatzhalter 3">
            <a:extLst>
              <a:ext uri="{FF2B5EF4-FFF2-40B4-BE49-F238E27FC236}">
                <a16:creationId xmlns:a16="http://schemas.microsoft.com/office/drawing/2014/main" id="{48D38B8B-34CC-EA52-4E41-A67D4F409C70}"/>
              </a:ext>
            </a:extLst>
          </p:cNvPr>
          <p:cNvSpPr>
            <a:spLocks noGrp="1"/>
          </p:cNvSpPr>
          <p:nvPr>
            <p:ph type="dt" sz="half" idx="10"/>
          </p:nvPr>
        </p:nvSpPr>
        <p:spPr/>
        <p:txBody>
          <a:bodyPr/>
          <a:lstStyle/>
          <a:p>
            <a:pPr algn="l"/>
            <a:r>
              <a:rPr lang="de-DE" dirty="0"/>
              <a:t>09.07.2026</a:t>
            </a:r>
          </a:p>
        </p:txBody>
      </p:sp>
      <p:sp>
        <p:nvSpPr>
          <p:cNvPr id="5" name="Fußzeilenplatzhalter 4">
            <a:extLst>
              <a:ext uri="{FF2B5EF4-FFF2-40B4-BE49-F238E27FC236}">
                <a16:creationId xmlns:a16="http://schemas.microsoft.com/office/drawing/2014/main" id="{F0FE6549-61F4-EBCD-39B2-35356DCCABF0}"/>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2A7DF4AA-034E-4924-CEEB-8F729AA7D1C8}"/>
              </a:ext>
            </a:extLst>
          </p:cNvPr>
          <p:cNvSpPr>
            <a:spLocks noGrp="1"/>
          </p:cNvSpPr>
          <p:nvPr>
            <p:ph type="sldNum" sz="quarter" idx="12"/>
          </p:nvPr>
        </p:nvSpPr>
        <p:spPr/>
        <p:txBody>
          <a:bodyPr/>
          <a:lstStyle/>
          <a:p>
            <a:fld id="{4D01E63C-D794-4429-8564-635E6253AC5C}" type="slidenum">
              <a:rPr lang="en-US" smtClean="0"/>
              <a:pPr/>
              <a:t>19</a:t>
            </a:fld>
            <a:endParaRPr lang="en-US" dirty="0"/>
          </a:p>
        </p:txBody>
      </p:sp>
      <p:sp>
        <p:nvSpPr>
          <p:cNvPr id="7" name="文本框 6">
            <a:extLst>
              <a:ext uri="{FF2B5EF4-FFF2-40B4-BE49-F238E27FC236}">
                <a16:creationId xmlns:a16="http://schemas.microsoft.com/office/drawing/2014/main" id="{550F0326-97EC-07AD-6869-A00A87CAF062}"/>
              </a:ext>
            </a:extLst>
          </p:cNvPr>
          <p:cNvSpPr txBox="1"/>
          <p:nvPr/>
        </p:nvSpPr>
        <p:spPr>
          <a:xfrm>
            <a:off x="383950" y="998730"/>
            <a:ext cx="8759712" cy="1703030"/>
          </a:xfrm>
          <a:prstGeom prst="rect">
            <a:avLst/>
          </a:prstGeom>
          <a:noFill/>
        </p:spPr>
        <p:txBody>
          <a:bodyPr wrap="square">
            <a:spAutoFit/>
          </a:bodyPr>
          <a:lstStyle/>
          <a:p>
            <a:pPr marL="285750" indent="-285750">
              <a:lnSpc>
                <a:spcPct val="150000"/>
              </a:lnSpc>
              <a:buClr>
                <a:srgbClr val="00549F"/>
              </a:buClr>
              <a:buFont typeface="Wingdings" panose="05000000000000000000" pitchFamily="2" charset="2"/>
              <a:buChar char="n"/>
            </a:pPr>
            <a:r>
              <a:rPr lang="zh-CN" altLang="zh-CN" dirty="0"/>
              <a:t>Build MTL dataset from extracted pulse-pause features and labels.</a:t>
            </a:r>
          </a:p>
          <a:p>
            <a:pPr marL="285750" indent="-285750">
              <a:lnSpc>
                <a:spcPct val="150000"/>
              </a:lnSpc>
              <a:buClr>
                <a:srgbClr val="00549F"/>
              </a:buClr>
              <a:buFont typeface="Wingdings" panose="05000000000000000000" pitchFamily="2" charset="2"/>
              <a:buChar char="n"/>
            </a:pPr>
            <a:r>
              <a:rPr lang="zh-CN" altLang="zh-CN" dirty="0"/>
              <a:t>Train and compare single-task vs multi-task models.</a:t>
            </a:r>
          </a:p>
          <a:p>
            <a:pPr marL="285750" indent="-285750">
              <a:lnSpc>
                <a:spcPct val="150000"/>
              </a:lnSpc>
              <a:buClr>
                <a:srgbClr val="00549F"/>
              </a:buClr>
              <a:buFont typeface="Wingdings" panose="05000000000000000000" pitchFamily="2" charset="2"/>
              <a:buChar char="n"/>
            </a:pPr>
            <a:r>
              <a:rPr lang="zh-CN" altLang="zh-CN" dirty="0"/>
              <a:t>Evaluate generalization across SOC, current, and pulse direction.</a:t>
            </a:r>
          </a:p>
          <a:p>
            <a:pPr marL="285750" indent="-285750">
              <a:lnSpc>
                <a:spcPct val="150000"/>
              </a:lnSpc>
              <a:buClr>
                <a:srgbClr val="00549F"/>
              </a:buClr>
              <a:buFont typeface="Wingdings" panose="05000000000000000000" pitchFamily="2" charset="2"/>
              <a:buChar char="n"/>
            </a:pPr>
            <a:r>
              <a:rPr lang="zh-CN" altLang="zh-CN" dirty="0"/>
              <a:t>Investigate how to handle uncertain R₂ labels caused by boundary-active τ₂.</a:t>
            </a:r>
          </a:p>
        </p:txBody>
      </p:sp>
    </p:spTree>
    <p:extLst>
      <p:ext uri="{BB962C8B-B14F-4D97-AF65-F5344CB8AC3E}">
        <p14:creationId xmlns:p14="http://schemas.microsoft.com/office/powerpoint/2010/main" val="25600893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22">
            <a:extLst>
              <a:ext uri="{FF2B5EF4-FFF2-40B4-BE49-F238E27FC236}">
                <a16:creationId xmlns:a16="http://schemas.microsoft.com/office/drawing/2014/main" id="{716F4179-C0C3-2BF8-CA46-674EB02C6FBF}"/>
              </a:ext>
            </a:extLst>
          </p:cNvPr>
          <p:cNvSpPr/>
          <p:nvPr/>
        </p:nvSpPr>
        <p:spPr>
          <a:xfrm>
            <a:off x="316523" y="2028092"/>
            <a:ext cx="11641015" cy="40092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err="1">
              <a:solidFill>
                <a:schemeClr val="tx1"/>
              </a:solidFill>
            </a:endParaRPr>
          </a:p>
        </p:txBody>
      </p:sp>
    </p:spTree>
    <p:extLst>
      <p:ext uri="{BB962C8B-B14F-4D97-AF65-F5344CB8AC3E}">
        <p14:creationId xmlns:p14="http://schemas.microsoft.com/office/powerpoint/2010/main" val="30140840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F6108-19B1-F5EC-0E50-13F1FD635840}"/>
            </a:ext>
          </a:extLst>
        </p:cNvPr>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F7F3CB9F-E0B3-AA49-1ADB-1B49FEF8E53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47" imgH="348" progId="TCLayout.ActiveDocument.1">
                  <p:embed/>
                </p:oleObj>
              </mc:Choice>
              <mc:Fallback>
                <p:oleObj name="think-cell Folie" r:id="rId4" imgW="347" imgH="348" progId="TCLayout.ActiveDocument.1">
                  <p:embed/>
                  <p:pic>
                    <p:nvPicPr>
                      <p:cNvPr id="7" name="Objekt 6" hidden="1">
                        <a:extLst>
                          <a:ext uri="{FF2B5EF4-FFF2-40B4-BE49-F238E27FC236}">
                            <a16:creationId xmlns:a16="http://schemas.microsoft.com/office/drawing/2014/main" id="{124D5214-AF52-D402-D540-81F3159D4F91}"/>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el 1">
            <a:extLst>
              <a:ext uri="{FF2B5EF4-FFF2-40B4-BE49-F238E27FC236}">
                <a16:creationId xmlns:a16="http://schemas.microsoft.com/office/drawing/2014/main" id="{7739EBE2-7C42-FAF2-F2D8-391AF44F57FB}"/>
              </a:ext>
            </a:extLst>
          </p:cNvPr>
          <p:cNvSpPr>
            <a:spLocks noGrp="1"/>
          </p:cNvSpPr>
          <p:nvPr>
            <p:ph type="ctrTitle"/>
          </p:nvPr>
        </p:nvSpPr>
        <p:spPr>
          <a:xfrm>
            <a:off x="383950" y="2725724"/>
            <a:ext cx="11563408" cy="1274776"/>
          </a:xfrm>
        </p:spPr>
        <p:txBody>
          <a:bodyPr/>
          <a:lstStyle/>
          <a:p>
            <a:r>
              <a:rPr lang="de-DE" sz="2800" dirty="0"/>
              <a:t>M</a:t>
            </a:r>
            <a:r>
              <a:rPr lang="en-US" altLang="zh-CN" sz="2800" dirty="0"/>
              <a:t>id-term presentation</a:t>
            </a:r>
            <a:r>
              <a:rPr lang="de-DE" sz="2800" dirty="0"/>
              <a:t>: </a:t>
            </a:r>
            <a:r>
              <a:rPr lang="en-US" altLang="zh-CN" sz="2800" dirty="0"/>
              <a:t>From Time-Series Parameter Extraction to Multi-Task Learning</a:t>
            </a:r>
            <a:endParaRPr lang="de-DE" sz="2800" dirty="0"/>
          </a:p>
        </p:txBody>
      </p:sp>
      <p:sp>
        <p:nvSpPr>
          <p:cNvPr id="3" name="Untertitel 2">
            <a:extLst>
              <a:ext uri="{FF2B5EF4-FFF2-40B4-BE49-F238E27FC236}">
                <a16:creationId xmlns:a16="http://schemas.microsoft.com/office/drawing/2014/main" id="{86DCE39B-BDA8-8B43-A9B5-C396C2B5F505}"/>
              </a:ext>
            </a:extLst>
          </p:cNvPr>
          <p:cNvSpPr>
            <a:spLocks noGrp="1"/>
          </p:cNvSpPr>
          <p:nvPr>
            <p:ph type="subTitle" idx="1"/>
          </p:nvPr>
        </p:nvSpPr>
        <p:spPr/>
        <p:txBody>
          <a:bodyPr/>
          <a:lstStyle/>
          <a:p>
            <a:r>
              <a:rPr lang="en-US" altLang="zh-CN" dirty="0"/>
              <a:t>State-of-Charge-Resolved Multi-Parameter Degradation Analysis on Li-Ion Batteries</a:t>
            </a:r>
            <a:endParaRPr lang="de-DE" dirty="0"/>
          </a:p>
        </p:txBody>
      </p:sp>
      <p:sp>
        <p:nvSpPr>
          <p:cNvPr id="5" name="Datumsplatzhalter 4">
            <a:extLst>
              <a:ext uri="{FF2B5EF4-FFF2-40B4-BE49-F238E27FC236}">
                <a16:creationId xmlns:a16="http://schemas.microsoft.com/office/drawing/2014/main" id="{13B2C68D-D288-D25B-DE27-C7B02C385C93}"/>
              </a:ext>
            </a:extLst>
          </p:cNvPr>
          <p:cNvSpPr>
            <a:spLocks noGrp="1"/>
          </p:cNvSpPr>
          <p:nvPr>
            <p:ph type="dt" sz="half" idx="12"/>
          </p:nvPr>
        </p:nvSpPr>
        <p:spPr/>
        <p:txBody>
          <a:bodyPr/>
          <a:lstStyle/>
          <a:p>
            <a:r>
              <a:rPr lang="de-DE" dirty="0"/>
              <a:t>09.07.2026</a:t>
            </a:r>
          </a:p>
        </p:txBody>
      </p:sp>
      <p:sp>
        <p:nvSpPr>
          <p:cNvPr id="6" name="Fußzeilenplatzhalter 3">
            <a:extLst>
              <a:ext uri="{FF2B5EF4-FFF2-40B4-BE49-F238E27FC236}">
                <a16:creationId xmlns:a16="http://schemas.microsoft.com/office/drawing/2014/main" id="{DBD3C5BB-37BD-F48A-CE51-E28948F4047D}"/>
              </a:ext>
            </a:extLst>
          </p:cNvPr>
          <p:cNvSpPr>
            <a:spLocks noGrp="1"/>
          </p:cNvSpPr>
          <p:nvPr>
            <p:ph type="ftr" sz="quarter" idx="11"/>
          </p:nvPr>
        </p:nvSpPr>
        <p:spPr>
          <a:xfrm>
            <a:off x="384175" y="5218113"/>
            <a:ext cx="11425238" cy="525462"/>
          </a:xfrm>
        </p:spPr>
        <p:txBody>
          <a:bodyPr/>
          <a:lstStyle/>
          <a:p>
            <a:r>
              <a:rPr lang="de-DE" altLang="zh-CN" b="1" dirty="0"/>
              <a:t>Author:</a:t>
            </a:r>
            <a:r>
              <a:rPr lang="de-DE" altLang="zh-CN" dirty="0"/>
              <a:t> </a:t>
            </a:r>
            <a:r>
              <a:rPr lang="en-US" dirty="0"/>
              <a:t>Yida Cheng</a:t>
            </a:r>
          </a:p>
          <a:p>
            <a:r>
              <a:rPr lang="de-DE" altLang="zh-CN" b="1" dirty="0"/>
              <a:t>Supervisor:</a:t>
            </a:r>
            <a:r>
              <a:rPr lang="de-DE" altLang="zh-CN" dirty="0"/>
              <a:t> </a:t>
            </a:r>
            <a:r>
              <a:rPr lang="de-DE" altLang="zh-CN" dirty="0" err="1"/>
              <a:t>Zijuan</a:t>
            </a:r>
            <a:r>
              <a:rPr lang="de-DE" altLang="zh-CN" dirty="0"/>
              <a:t> Hong, </a:t>
            </a:r>
            <a:r>
              <a:rPr lang="de-DE" altLang="zh-CN" dirty="0" err="1"/>
              <a:t>M.Sc</a:t>
            </a:r>
            <a:r>
              <a:rPr lang="de-DE" altLang="zh-CN" dirty="0"/>
              <a:t>.</a:t>
            </a:r>
            <a:endParaRPr lang="en-US" dirty="0"/>
          </a:p>
        </p:txBody>
      </p:sp>
    </p:spTree>
    <p:extLst>
      <p:ext uri="{BB962C8B-B14F-4D97-AF65-F5344CB8AC3E}">
        <p14:creationId xmlns:p14="http://schemas.microsoft.com/office/powerpoint/2010/main" val="346445411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CARL 16zu9">
  <a:themeElements>
    <a:clrScheme name="Benutzerdefiniert 4">
      <a:dk1>
        <a:sysClr val="windowText" lastClr="000000"/>
      </a:dk1>
      <a:lt1>
        <a:sysClr val="window" lastClr="FFFFFF"/>
      </a:lt1>
      <a:dk2>
        <a:srgbClr val="00549F"/>
      </a:dk2>
      <a:lt2>
        <a:srgbClr val="8EBAE5"/>
      </a:lt2>
      <a:accent1>
        <a:srgbClr val="00549F"/>
      </a:accent1>
      <a:accent2>
        <a:srgbClr val="0098A1"/>
      </a:accent2>
      <a:accent3>
        <a:srgbClr val="57AB27"/>
      </a:accent3>
      <a:accent4>
        <a:srgbClr val="F6A800"/>
      </a:accent4>
      <a:accent5>
        <a:srgbClr val="CC071E"/>
      </a:accent5>
      <a:accent6>
        <a:srgbClr val="612158"/>
      </a:accent6>
      <a:hlink>
        <a:srgbClr val="00549F"/>
      </a:hlink>
      <a:folHlink>
        <a:srgbClr val="8EBAE5"/>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solidFill>
            <a:schemeClr val="tx2"/>
          </a:solid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CARL_PowerPoint-Vorlage_2.pptx" id="{BA423DF6-6F0A-4C7E-B2E7-6BE2B6176750}" vid="{3F50A1A7-06E2-4B6B-A0E2-B50FB05A0614}"/>
    </a:ext>
  </a:extLst>
</a:theme>
</file>

<file path=ppt/theme/theme2.xml><?xml version="1.0" encoding="utf-8"?>
<a:theme xmlns:a="http://schemas.openxmlformats.org/drawingml/2006/main" name="CARL English">
  <a:themeElements>
    <a:clrScheme name="Benutzerdefiniert 1">
      <a:dk1>
        <a:sysClr val="windowText" lastClr="000000"/>
      </a:dk1>
      <a:lt1>
        <a:sysClr val="window" lastClr="FFFFFF"/>
      </a:lt1>
      <a:dk2>
        <a:srgbClr val="00549F"/>
      </a:dk2>
      <a:lt2>
        <a:srgbClr val="8EBAE5"/>
      </a:lt2>
      <a:accent1>
        <a:srgbClr val="00549F"/>
      </a:accent1>
      <a:accent2>
        <a:srgbClr val="0098A1"/>
      </a:accent2>
      <a:accent3>
        <a:srgbClr val="57AB27"/>
      </a:accent3>
      <a:accent4>
        <a:srgbClr val="F6A800"/>
      </a:accent4>
      <a:accent5>
        <a:srgbClr val="CC071E"/>
      </a:accent5>
      <a:accent6>
        <a:srgbClr val="612158"/>
      </a:accent6>
      <a:hlink>
        <a:srgbClr val="00549F"/>
      </a:hlink>
      <a:folHlink>
        <a:srgbClr val="8EBAE5"/>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solidFill>
            <a:schemeClr val="tx2"/>
          </a:solidFill>
        </a:ln>
      </a:spPr>
      <a:bodyPr rtlCol="0" anchor="ctr"/>
      <a:lstStyle>
        <a:defPPr algn="ctr">
          <a:defRPr>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tailEnd type="arrow"/>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CARL_PowerPoint-Vorlage_2.pptx" id="{BA423DF6-6F0A-4C7E-B2E7-6BE2B6176750}" vid="{A32FB5A4-9454-4FD2-8226-C36188667BB5}"/>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CARL</Template>
  <TotalTime>7784</TotalTime>
  <Words>2255</Words>
  <Application>Microsoft Office PowerPoint</Application>
  <PresentationFormat>自定义</PresentationFormat>
  <Paragraphs>241</Paragraphs>
  <Slides>21</Slides>
  <Notes>20</Notes>
  <HiddenSlides>0</HiddenSlides>
  <MMClips>0</MMClips>
  <ScaleCrop>false</ScaleCrop>
  <HeadingPairs>
    <vt:vector size="8" baseType="variant">
      <vt:variant>
        <vt:lpstr>已用的字体</vt:lpstr>
      </vt:variant>
      <vt:variant>
        <vt:i4>5</vt:i4>
      </vt:variant>
      <vt:variant>
        <vt:lpstr>主题</vt:lpstr>
      </vt:variant>
      <vt:variant>
        <vt:i4>2</vt:i4>
      </vt:variant>
      <vt:variant>
        <vt:lpstr>嵌入 OLE 服务器</vt:lpstr>
      </vt:variant>
      <vt:variant>
        <vt:i4>1</vt:i4>
      </vt:variant>
      <vt:variant>
        <vt:lpstr>幻灯片标题</vt:lpstr>
      </vt:variant>
      <vt:variant>
        <vt:i4>21</vt:i4>
      </vt:variant>
    </vt:vector>
  </HeadingPairs>
  <TitlesOfParts>
    <vt:vector size="29" baseType="lpstr">
      <vt:lpstr>Arial</vt:lpstr>
      <vt:lpstr>Calibri</vt:lpstr>
      <vt:lpstr>Cambria Math</vt:lpstr>
      <vt:lpstr>Symbol</vt:lpstr>
      <vt:lpstr>Wingdings</vt:lpstr>
      <vt:lpstr>CARL 16zu9</vt:lpstr>
      <vt:lpstr>CARL English</vt:lpstr>
      <vt:lpstr>think-cell Folie</vt:lpstr>
      <vt:lpstr>Mid-term presentation: From Time-Series Parameter Extraction to Multi-Task Learning</vt:lpstr>
      <vt:lpstr>Table of contents</vt:lpstr>
      <vt:lpstr>Thesis topic and motivation</vt:lpstr>
      <vt:lpstr>Objectives</vt:lpstr>
      <vt:lpstr>Gantt Bilder</vt:lpstr>
      <vt:lpstr>Table of contents</vt:lpstr>
      <vt:lpstr>Literature Review: From Battery Aging Mechanisms to 2RC Parameter Extraction</vt:lpstr>
      <vt:lpstr>Table of contents</vt:lpstr>
      <vt:lpstr>Data processing：From Raw Time Series to Pulse-Pause Pairs</vt:lpstr>
      <vt:lpstr>R0 Calculation: Instantaneous Ohmic Resistance</vt:lpstr>
      <vt:lpstr>Second-order RC model for resistance extraction</vt:lpstr>
      <vt:lpstr>Table of contents</vt:lpstr>
      <vt:lpstr>Preliminary results</vt:lpstr>
      <vt:lpstr>Preliminary results</vt:lpstr>
      <vt:lpstr>Preliminary results</vt:lpstr>
      <vt:lpstr>Current Problems and Key Observations</vt:lpstr>
      <vt:lpstr>Table of contents</vt:lpstr>
      <vt:lpstr>Multi-task Learning for Battery Health Prediction</vt:lpstr>
      <vt:lpstr>Next-stage Research Plan</vt:lpstr>
      <vt:lpstr>PowerPoint 演示文稿</vt:lpstr>
      <vt:lpstr>Mid-term presentation: From Time-Series Parameter Extraction to Multi-Task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Verwendung der PowerPoint-Vorlage</dc:title>
  <dc:creator>Zijuan Hong</dc:creator>
  <cp:lastModifiedBy>Yida Cheng</cp:lastModifiedBy>
  <cp:revision>113</cp:revision>
  <cp:lastPrinted>2016-04-11T06:30:09Z</cp:lastPrinted>
  <dcterms:created xsi:type="dcterms:W3CDTF">2026-04-21T09:31:11Z</dcterms:created>
  <dcterms:modified xsi:type="dcterms:W3CDTF">2026-07-01T14:26:52Z</dcterms:modified>
</cp:coreProperties>
</file>